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indent="0" marL="0">
              <a:buNone/>
            </a:pPr>
            <a:r>
              <a:rPr lang="en-US" sz="1000" b="1" spc="200" kern="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indent="0" marL="0">
              <a:buNone/>
            </a:pPr>
            <a:r>
              <a:rPr lang="en-US" sz="1600" b="1" spc="400" kern="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algn="r" indent="0" marL="0">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indent="0" marL="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indent="0" marL="0">
              <a:buNone/>
            </a:pPr>
            <a:r>
              <a:rPr lang="en-US" sz="1600" dirty="0">
                <a:solidFill>
                  <a:srgbClr val="C6D3DD"/>
                </a:solidFill>
                <a:latin typeface="Calibri" pitchFamily="34" charset="0"/>
                <a:ea typeface="Calibri" pitchFamily="34" charset="-122"/>
                <a:cs typeface="Calibri" pitchFamily="34" charset="-120"/>
              </a:rPr>
              <a:t>CooLinens Cooling Pillowcase goes live on Amazon today with its PPC launch. 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indent="0" marL="0">
              <a:buNone/>
            </a:pPr>
            <a:r>
              <a:rPr lang="en-US" sz="3600" b="1" dirty="0">
                <a:solidFill>
                  <a:srgbClr val="7FC4E8"/>
                </a:solidFill>
                <a:latin typeface="Cambria" pitchFamily="34" charset="0"/>
                <a:ea typeface="Cambria" pitchFamily="34" charset="-122"/>
                <a:cs typeface="Cambria" pitchFamily="34" charset="-120"/>
              </a:rPr>
              <a:t>5</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758184" y="4261104"/>
            <a:ext cx="1783080" cy="548640"/>
          </a:xfrm>
          <a:prstGeom prst="rect">
            <a:avLst/>
          </a:prstGeom>
          <a:noFill/>
          <a:ln/>
        </p:spPr>
        <p:txBody>
          <a:bodyPr wrap="square" lIns="0" tIns="0" rIns="0" bIns="0" rtlCol="0" anchor="ctr"/>
          <a:lstStyle/>
          <a:p>
            <a:pPr indent="0" marL="0">
              <a:buNone/>
            </a:pPr>
            <a:r>
              <a:rPr lang="en-US" sz="3600" b="1" dirty="0">
                <a:solidFill>
                  <a:srgbClr val="6FD39F"/>
                </a:solidFill>
                <a:latin typeface="Cambria" pitchFamily="34" charset="0"/>
                <a:ea typeface="Cambria" pitchFamily="34" charset="-122"/>
                <a:cs typeface="Cambria" pitchFamily="34" charset="-120"/>
              </a:rPr>
              <a:t>3</a:t>
            </a:r>
            <a:endParaRPr lang="en-US" sz="3600" dirty="0"/>
          </a:p>
        </p:txBody>
      </p:sp>
      <p:sp>
        <p:nvSpPr>
          <p:cNvPr id="12" name="Text 10"/>
          <p:cNvSpPr txBox="1"/>
          <p:nvPr/>
        </p:nvSpPr>
        <p:spPr>
          <a:xfrm>
            <a:off x="3758184"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3483864" y="4370832"/>
            <a:ext cx="9144" cy="694944"/>
          </a:xfrm>
          <a:prstGeom prst="rect">
            <a:avLst/>
          </a:prstGeom>
          <a:solidFill>
            <a:srgbClr val="2C5A78"/>
          </a:solidFill>
          <a:ln/>
        </p:spPr>
      </p:sp>
      <p:sp>
        <p:nvSpPr>
          <p:cNvPr id="14" name="Text 12"/>
          <p:cNvSpPr txBox="1"/>
          <p:nvPr/>
        </p:nvSpPr>
        <p:spPr>
          <a:xfrm>
            <a:off x="6373368" y="4261104"/>
            <a:ext cx="1783080" cy="548640"/>
          </a:xfrm>
          <a:prstGeom prst="rect">
            <a:avLst/>
          </a:prstGeom>
          <a:noFill/>
          <a:ln/>
        </p:spPr>
        <p:txBody>
          <a:bodyPr wrap="square" lIns="0" tIns="0" rIns="0" bIns="0" rtlCol="0" anchor="ctr"/>
          <a:lstStyle/>
          <a:p>
            <a:pPr indent="0" marL="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6373368"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6099048" y="4370832"/>
            <a:ext cx="9144" cy="694944"/>
          </a:xfrm>
          <a:prstGeom prst="rect">
            <a:avLst/>
          </a:prstGeom>
          <a:solidFill>
            <a:srgbClr val="2C5A78"/>
          </a:solidFill>
          <a:ln/>
        </p:spPr>
      </p:sp>
      <p:sp>
        <p:nvSpPr>
          <p:cNvPr id="17" name="Text 15"/>
          <p:cNvSpPr txBox="1"/>
          <p:nvPr/>
        </p:nvSpPr>
        <p:spPr>
          <a:xfrm>
            <a:off x="8988552" y="4261104"/>
            <a:ext cx="1783080" cy="548640"/>
          </a:xfrm>
          <a:prstGeom prst="rect">
            <a:avLst/>
          </a:prstGeom>
          <a:noFill/>
          <a:ln/>
        </p:spPr>
        <p:txBody>
          <a:bodyPr wrap="square" lIns="0" tIns="0" rIns="0" bIns="0" rtlCol="0" anchor="ctr"/>
          <a:lstStyle/>
          <a:p>
            <a:pPr indent="0" marL="0">
              <a:buNone/>
            </a:pPr>
            <a:r>
              <a:rPr lang="en-US" sz="3600" b="1" dirty="0">
                <a:solidFill>
                  <a:srgbClr val="F0907F"/>
                </a:solidFill>
                <a:latin typeface="Cambria" pitchFamily="34" charset="0"/>
                <a:ea typeface="Cambria" pitchFamily="34" charset="-122"/>
                <a:cs typeface="Cambria" pitchFamily="34" charset="-120"/>
              </a:rPr>
              <a:t>0</a:t>
            </a:r>
            <a:endParaRPr lang="en-US" sz="3600" dirty="0"/>
          </a:p>
        </p:txBody>
      </p:sp>
      <p:sp>
        <p:nvSpPr>
          <p:cNvPr id="18" name="Text 16"/>
          <p:cNvSpPr txBox="1"/>
          <p:nvPr/>
        </p:nvSpPr>
        <p:spPr>
          <a:xfrm>
            <a:off x="8988552"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8714232" y="4370832"/>
            <a:ext cx="9144" cy="694944"/>
          </a:xfrm>
          <a:prstGeom prst="rect">
            <a:avLst/>
          </a:prstGeom>
          <a:solidFill>
            <a:srgbClr val="2C5A78"/>
          </a:solidFill>
          <a:ln/>
        </p:spPr>
      </p:sp>
      <p:sp>
        <p:nvSpPr>
          <p:cNvPr id="20" name="Shape 18"/>
          <p:cNvSpPr/>
          <p:nvPr/>
        </p:nvSpPr>
        <p:spPr>
          <a:xfrm>
            <a:off x="868680" y="5577840"/>
            <a:ext cx="10469880" cy="859536"/>
          </a:xfrm>
          <a:prstGeom prst="roundRect">
            <a:avLst>
              <a:gd name="adj" fmla="val 5319"/>
            </a:avLst>
          </a:prstGeom>
          <a:solidFill>
            <a:srgbClr val="FFFFFF"/>
          </a:solidFill>
          <a:ln/>
        </p:spPr>
      </p:sp>
      <p:pic>
        <p:nvPicPr>
          <p:cNvPr id="21" name="Image 0" descr="preencoded.png">    </p:cNvPr>
          <p:cNvPicPr>
            <a:picLocks noChangeAspect="1"/>
          </p:cNvPicPr>
          <p:nvPr/>
        </p:nvPicPr>
        <p:blipFill>
          <a:blip r:embed="rId1"/>
          <a:stretch>
            <a:fillRect/>
          </a:stretch>
        </p:blipFill>
        <p:spPr>
          <a:xfrm>
            <a:off x="1133856" y="5824728"/>
            <a:ext cx="1572768" cy="374904"/>
          </a:xfrm>
          <a:prstGeom prst="rect">
            <a:avLst/>
          </a:prstGeom>
        </p:spPr>
      </p:pic>
      <p:pic>
        <p:nvPicPr>
          <p:cNvPr id="22" name="Image 1" descr="preencoded.png">    </p:cNvPr>
          <p:cNvPicPr>
            <a:picLocks noChangeAspect="1"/>
          </p:cNvPicPr>
          <p:nvPr/>
        </p:nvPicPr>
        <p:blipFill>
          <a:blip r:embed="rId2"/>
          <a:stretch>
            <a:fillRect/>
          </a:stretch>
        </p:blipFill>
        <p:spPr>
          <a:xfrm>
            <a:off x="3145536" y="5824728"/>
            <a:ext cx="1719072" cy="374904"/>
          </a:xfrm>
          <a:prstGeom prst="rect">
            <a:avLst/>
          </a:prstGeom>
        </p:spPr>
      </p:pic>
      <p:pic>
        <p:nvPicPr>
          <p:cNvPr id="23" name="Image 2" descr="preencoded.png">    </p:cNvPr>
          <p:cNvPicPr>
            <a:picLocks noChangeAspect="1"/>
          </p:cNvPicPr>
          <p:nvPr/>
        </p:nvPicPr>
        <p:blipFill>
          <a:blip r:embed="rId3"/>
          <a:stretch>
            <a:fillRect/>
          </a:stretch>
        </p:blipFill>
        <p:spPr>
          <a:xfrm>
            <a:off x="5294376" y="5879592"/>
            <a:ext cx="1609344" cy="256032"/>
          </a:xfrm>
          <a:prstGeom prst="rect">
            <a:avLst/>
          </a:prstGeom>
        </p:spPr>
      </p:pic>
      <p:pic>
        <p:nvPicPr>
          <p:cNvPr id="24" name="Image 3" descr="preencoded.png">    </p:cNvPr>
          <p:cNvPicPr>
            <a:picLocks noChangeAspect="1"/>
          </p:cNvPicPr>
          <p:nvPr/>
        </p:nvPicPr>
        <p:blipFill>
          <a:blip r:embed="rId4"/>
          <a:stretch>
            <a:fillRect/>
          </a:stretch>
        </p:blipFill>
        <p:spPr>
          <a:xfrm>
            <a:off x="7827264" y="5696712"/>
            <a:ext cx="731520" cy="612648"/>
          </a:xfrm>
          <a:prstGeom prst="rect">
            <a:avLst/>
          </a:prstGeom>
        </p:spPr>
      </p:pic>
      <p:pic>
        <p:nvPicPr>
          <p:cNvPr id="25" name="Image 4" descr="preencoded.png">    </p:cNvPr>
          <p:cNvPicPr>
            <a:picLocks noChangeAspect="1"/>
          </p:cNvPicPr>
          <p:nvPr/>
        </p:nvPicPr>
        <p:blipFill>
          <a:blip r:embed="rId5"/>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743200"/>
                <a:gridCol w="3017520"/>
                <a:gridCol w="3995928"/>
                <a:gridCol w="128016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Nine-product audit cycle</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All three · weekly cycle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Feedback posted on six: B4, B6, S4, S6, Satin Fitted, SS-S4. The remaining three, Cooling Sheets 4-PC, Bamboo Fitted and Cooling Fitted, are being completed today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6E4A0F"/>
                          </a:solidFill>
                          <a:latin typeface="Calibri" pitchFamily="34" charset="0"/>
                          <a:ea typeface="Calibri" pitchFamily="34" charset="-122"/>
                          <a:cs typeface="Calibri" pitchFamily="34" charset="-120"/>
                        </a:rPr>
                        <a:t>6 of 9 · 3 today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Engine corrections &amp; feedback</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Joseph with PPC review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today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176B41"/>
                          </a:solidFill>
                          <a:latin typeface="Calibri" pitchFamily="34" charset="0"/>
                          <a:ea typeface="Calibri" pitchFamily="34" charset="-122"/>
                          <a:cs typeface="Calibri" pitchFamily="34" charset="-120"/>
                        </a:rPr>
                        <a:t>Done</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Bamboo ranking push (B4, B6)</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Shayan T with Joseph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176B41"/>
                          </a:solidFill>
                          <a:latin typeface="Calibri" pitchFamily="34" charset="0"/>
                          <a:ea typeface="Calibri" pitchFamily="34" charset="-122"/>
                          <a:cs typeface="Calibri" pitchFamily="34" charset="-120"/>
                        </a:rPr>
                        <a:t>Plans final</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Process deliverables</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Shayan T · one-off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Campaign-type list Wednesday, ad-type framework Friday, stabilisation proposal by end of week. Re-set on the 30 Sep call: ranking plan first, the rest by end of week</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6E4A0F"/>
                          </a:solidFill>
                          <a:latin typeface="Calibri" pitchFamily="34" charset="0"/>
                          <a:ea typeface="Calibri" pitchFamily="34" charset="-122"/>
                          <a:cs typeface="Calibri" pitchFamily="34" charset="-120"/>
                        </a:rPr>
                        <a:t>Due end of week</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50" b="1" dirty="0">
                          <a:solidFill>
                            <a:srgbClr val="111C24"/>
                          </a:solidFill>
                          <a:latin typeface="Calibri" pitchFamily="34" charset="0"/>
                          <a:ea typeface="Calibri" pitchFamily="34" charset="-122"/>
                          <a:cs typeface="Calibri" pitchFamily="34" charset="-120"/>
                        </a:rPr>
                        <a:t>CooLinens Pillowcase launch</a:t>
                      </a:r>
                      <a:endParaRPr lang="en-US" sz="1250" dirty="0">
                        <a:latin typeface="Calibri" charset="0"/>
                        <a:ea typeface="Calibri" charset="0"/>
                        <a:cs typeface="Calibri" charset="0"/>
                      </a:endParaRPr>
                    </a:p>
                    <a:p>
                      <a:pPr indent="0" marL="0">
                        <a:buNone/>
                      </a:pPr>
                      <a:r>
                        <a:rPr lang="en-US" sz="1150" dirty="0">
                          <a:solidFill>
                            <a:srgbClr val="4E5A64"/>
                          </a:solidFill>
                          <a:latin typeface="Calibri" pitchFamily="34" charset="0"/>
                          <a:ea typeface="Calibri" pitchFamily="34" charset="-122"/>
                          <a:cs typeface="Calibri" pitchFamily="34" charset="-120"/>
                        </a:rPr>
                        <a:t>Shayan T · one-off · P0</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PPC launch strategy delivered Monday 28 Sep, campaigns live with the listing</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dirty="0">
                          <a:solidFill>
                            <a:srgbClr val="111C24"/>
                          </a:solidFill>
                          <a:latin typeface="Calibri" pitchFamily="34" charset="0"/>
                          <a:ea typeface="Calibri" pitchFamily="34" charset="-122"/>
                          <a:cs typeface="Calibri" pitchFamily="34" charset="-120"/>
                        </a:rPr>
                        <a:t>Launch workbook shared 28 Sep, revised with a strategy doc on Erik's feedback 29 Sep. Listing goes live on Amazon today, 2 Oct, and PPC launches with it</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50" b="1" dirty="0">
                          <a:solidFill>
                            <a:srgbClr val="176B41"/>
                          </a:solidFill>
                          <a:latin typeface="Calibri" pitchFamily="34" charset="0"/>
                          <a:ea typeface="Calibri" pitchFamily="34" charset="-122"/>
                          <a:cs typeface="Calibri" pitchFamily="34" charset="-120"/>
                        </a:rPr>
                        <a:t>Launching today</a:t>
                      </a:r>
                      <a:endParaRPr lang="en-US" sz="12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BAMBOO   ·   B4 AND B6 RANKING PLANS</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Bamboo ranking push: done and next</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sp>
        <p:nvSpPr>
          <p:cNvPr id="6" name="Shape 4"/>
          <p:cNvSpPr/>
          <p:nvPr/>
        </p:nvSpPr>
        <p:spPr>
          <a:xfrm>
            <a:off x="640080" y="1481328"/>
            <a:ext cx="5321808" cy="3017520"/>
          </a:xfrm>
          <a:prstGeom prst="roundRect">
            <a:avLst>
              <a:gd name="adj" fmla="val 1818"/>
            </a:avLst>
          </a:prstGeom>
          <a:solidFill>
            <a:srgbClr val="FFFFFF"/>
          </a:solidFill>
          <a:ln w="9525">
            <a:solidFill>
              <a:srgbClr val="BFCAD3"/>
            </a:solidFill>
            <a:prstDash val="solid"/>
          </a:ln>
        </p:spPr>
      </p:sp>
      <p:sp>
        <p:nvSpPr>
          <p:cNvPr id="7" name="Text 5"/>
          <p:cNvSpPr txBox="1"/>
          <p:nvPr/>
        </p:nvSpPr>
        <p:spPr>
          <a:xfrm>
            <a:off x="868680"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B4  </a:t>
            </a:r>
            <a:pPr indent="0" marL="0">
              <a:buNone/>
            </a:pPr>
            <a:r>
              <a:rPr lang="en-US" sz="1400" dirty="0">
                <a:solidFill>
                  <a:srgbClr val="3D4852"/>
                </a:solidFill>
                <a:latin typeface="Calibri" pitchFamily="34" charset="0"/>
                <a:ea typeface="Calibri" pitchFamily="34" charset="-122"/>
                <a:cs typeface="Calibri" pitchFamily="34" charset="-120"/>
              </a:rPr>
              <a:t>Bamboo Sheets, 4 Piece</a:t>
            </a:r>
            <a:endParaRPr lang="en-US" sz="1400" dirty="0"/>
          </a:p>
        </p:txBody>
      </p:sp>
      <p:sp>
        <p:nvSpPr>
          <p:cNvPr id="8" name="Text 6"/>
          <p:cNvSpPr txBox="1"/>
          <p:nvPr/>
        </p:nvSpPr>
        <p:spPr>
          <a:xfrm>
            <a:off x="868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29</a:t>
            </a:r>
            <a:endParaRPr lang="en-US" sz="2200" dirty="0"/>
          </a:p>
        </p:txBody>
      </p:sp>
      <p:sp>
        <p:nvSpPr>
          <p:cNvPr id="9" name="Text 7"/>
          <p:cNvSpPr txBox="1"/>
          <p:nvPr/>
        </p:nvSpPr>
        <p:spPr>
          <a:xfrm>
            <a:off x="868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10" name="Text 8"/>
          <p:cNvSpPr txBox="1"/>
          <p:nvPr/>
        </p:nvSpPr>
        <p:spPr>
          <a:xfrm>
            <a:off x="2130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$1,200</a:t>
            </a:r>
            <a:endParaRPr lang="en-US" sz="2200" dirty="0"/>
          </a:p>
        </p:txBody>
      </p:sp>
      <p:sp>
        <p:nvSpPr>
          <p:cNvPr id="11" name="Text 9"/>
          <p:cNvSpPr txBox="1"/>
          <p:nvPr/>
        </p:nvSpPr>
        <p:spPr>
          <a:xfrm>
            <a:off x="2130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12" name="Text 10"/>
          <p:cNvSpPr txBox="1"/>
          <p:nvPr/>
        </p:nvSpPr>
        <p:spPr>
          <a:xfrm>
            <a:off x="3392424"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$59.8K</a:t>
            </a:r>
            <a:endParaRPr lang="en-US" sz="2200" dirty="0"/>
          </a:p>
        </p:txBody>
      </p:sp>
      <p:sp>
        <p:nvSpPr>
          <p:cNvPr id="13" name="Text 11"/>
          <p:cNvSpPr txBox="1"/>
          <p:nvPr/>
        </p:nvSpPr>
        <p:spPr>
          <a:xfrm>
            <a:off x="3392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14" name="Text 12"/>
          <p:cNvSpPr txBox="1"/>
          <p:nvPr/>
        </p:nvSpPr>
        <p:spPr>
          <a:xfrm>
            <a:off x="4654296" y="1993392"/>
            <a:ext cx="1225296" cy="457200"/>
          </a:xfrm>
          <a:prstGeom prst="rect">
            <a:avLst/>
          </a:prstGeom>
          <a:noFill/>
          <a:ln/>
        </p:spPr>
        <p:txBody>
          <a:bodyPr wrap="square" lIns="0" tIns="0" rIns="0" bIns="0" rtlCol="0" anchor="ctr"/>
          <a:lstStyle/>
          <a:p>
            <a:pPr indent="0" marL="0">
              <a:buNone/>
            </a:pPr>
            <a:r>
              <a:rPr lang="en-US" sz="2200" b="1" dirty="0">
                <a:solidFill>
                  <a:srgbClr val="9C3D31"/>
                </a:solidFill>
                <a:latin typeface="Cambria" pitchFamily="34" charset="0"/>
                <a:ea typeface="Cambria" pitchFamily="34" charset="-122"/>
                <a:cs typeface="Cambria" pitchFamily="34" charset="-120"/>
              </a:rPr>
              <a:t>−$1,975</a:t>
            </a:r>
            <a:endParaRPr lang="en-US" sz="2200" dirty="0"/>
          </a:p>
        </p:txBody>
      </p:sp>
      <p:sp>
        <p:nvSpPr>
          <p:cNvPr id="15" name="Text 13"/>
          <p:cNvSpPr txBox="1"/>
          <p:nvPr/>
        </p:nvSpPr>
        <p:spPr>
          <a:xfrm>
            <a:off x="4654296"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16" name="Text 14"/>
          <p:cNvSpPr txBox="1"/>
          <p:nvPr/>
        </p:nvSpPr>
        <p:spPr>
          <a:xfrm>
            <a:off x="868680"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Starts by size as in the plan of attack: Queen and general 2 Oct, Full about 9 Oct, King about 13 Oct; head terms from the 16 Oct deal (Queen head 27 Oct)</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16–25% of sales; about $440 a day of organic profit at goal repays the ad loss in about 4 days</a:t>
            </a:r>
            <a:endParaRPr lang="en-US" sz="1250" dirty="0"/>
          </a:p>
        </p:txBody>
      </p:sp>
      <p:sp>
        <p:nvSpPr>
          <p:cNvPr id="17" name="Shape 15"/>
          <p:cNvSpPr/>
          <p:nvPr/>
        </p:nvSpPr>
        <p:spPr>
          <a:xfrm>
            <a:off x="6236208" y="1481328"/>
            <a:ext cx="5321808" cy="3017520"/>
          </a:xfrm>
          <a:prstGeom prst="roundRect">
            <a:avLst>
              <a:gd name="adj" fmla="val 1818"/>
            </a:avLst>
          </a:prstGeom>
          <a:solidFill>
            <a:srgbClr val="FFFFFF"/>
          </a:solidFill>
          <a:ln w="9525">
            <a:solidFill>
              <a:srgbClr val="BFCAD3"/>
            </a:solidFill>
            <a:prstDash val="solid"/>
          </a:ln>
        </p:spPr>
      </p:sp>
      <p:sp>
        <p:nvSpPr>
          <p:cNvPr id="18" name="Text 16"/>
          <p:cNvSpPr txBox="1"/>
          <p:nvPr/>
        </p:nvSpPr>
        <p:spPr>
          <a:xfrm>
            <a:off x="6464808"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B6  </a:t>
            </a:r>
            <a:pPr indent="0" marL="0">
              <a:buNone/>
            </a:pPr>
            <a:r>
              <a:rPr lang="en-US" sz="1400" dirty="0">
                <a:solidFill>
                  <a:srgbClr val="3D4852"/>
                </a:solidFill>
                <a:latin typeface="Calibri" pitchFamily="34" charset="0"/>
                <a:ea typeface="Calibri" pitchFamily="34" charset="-122"/>
                <a:cs typeface="Calibri" pitchFamily="34" charset="-120"/>
              </a:rPr>
              <a:t>Bamboo Sheets, 6 Piece</a:t>
            </a:r>
            <a:endParaRPr lang="en-US" sz="1400" dirty="0"/>
          </a:p>
        </p:txBody>
      </p:sp>
      <p:sp>
        <p:nvSpPr>
          <p:cNvPr id="19" name="Text 17"/>
          <p:cNvSpPr txBox="1"/>
          <p:nvPr/>
        </p:nvSpPr>
        <p:spPr>
          <a:xfrm>
            <a:off x="6464808"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23</a:t>
            </a:r>
            <a:endParaRPr lang="en-US" sz="2200" dirty="0"/>
          </a:p>
        </p:txBody>
      </p:sp>
      <p:sp>
        <p:nvSpPr>
          <p:cNvPr id="20" name="Text 18"/>
          <p:cNvSpPr txBox="1"/>
          <p:nvPr/>
        </p:nvSpPr>
        <p:spPr>
          <a:xfrm>
            <a:off x="6464808"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21" name="Text 19"/>
          <p:cNvSpPr txBox="1"/>
          <p:nvPr/>
        </p:nvSpPr>
        <p:spPr>
          <a:xfrm>
            <a:off x="7726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$830</a:t>
            </a:r>
            <a:endParaRPr lang="en-US" sz="2200" dirty="0"/>
          </a:p>
        </p:txBody>
      </p:sp>
      <p:sp>
        <p:nvSpPr>
          <p:cNvPr id="22" name="Text 20"/>
          <p:cNvSpPr txBox="1"/>
          <p:nvPr/>
        </p:nvSpPr>
        <p:spPr>
          <a:xfrm>
            <a:off x="7726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23" name="Text 21"/>
          <p:cNvSpPr txBox="1"/>
          <p:nvPr/>
        </p:nvSpPr>
        <p:spPr>
          <a:xfrm>
            <a:off x="8988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$50.3K</a:t>
            </a:r>
            <a:endParaRPr lang="en-US" sz="2200" dirty="0"/>
          </a:p>
        </p:txBody>
      </p:sp>
      <p:sp>
        <p:nvSpPr>
          <p:cNvPr id="24" name="Text 22"/>
          <p:cNvSpPr txBox="1"/>
          <p:nvPr/>
        </p:nvSpPr>
        <p:spPr>
          <a:xfrm>
            <a:off x="8988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25" name="Text 23"/>
          <p:cNvSpPr txBox="1"/>
          <p:nvPr/>
        </p:nvSpPr>
        <p:spPr>
          <a:xfrm>
            <a:off x="10250424" y="1993392"/>
            <a:ext cx="1225296" cy="457200"/>
          </a:xfrm>
          <a:prstGeom prst="rect">
            <a:avLst/>
          </a:prstGeom>
          <a:noFill/>
          <a:ln/>
        </p:spPr>
        <p:txBody>
          <a:bodyPr wrap="square" lIns="0" tIns="0" rIns="0" bIns="0" rtlCol="0" anchor="ctr"/>
          <a:lstStyle/>
          <a:p>
            <a:pPr indent="0" marL="0">
              <a:buNone/>
            </a:pPr>
            <a:r>
              <a:rPr lang="en-US" sz="2200" b="1" dirty="0">
                <a:solidFill>
                  <a:srgbClr val="176B41"/>
                </a:solidFill>
                <a:latin typeface="Cambria" pitchFamily="34" charset="0"/>
                <a:ea typeface="Cambria" pitchFamily="34" charset="-122"/>
                <a:cs typeface="Cambria" pitchFamily="34" charset="-120"/>
              </a:rPr>
              <a:t>+$3,011</a:t>
            </a:r>
            <a:endParaRPr lang="en-US" sz="2200" dirty="0"/>
          </a:p>
        </p:txBody>
      </p:sp>
      <p:sp>
        <p:nvSpPr>
          <p:cNvPr id="26" name="Text 24"/>
          <p:cNvSpPr txBox="1"/>
          <p:nvPr/>
        </p:nvSpPr>
        <p:spPr>
          <a:xfrm>
            <a:off x="10250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27" name="Text 25"/>
          <p:cNvSpPr txBox="1"/>
          <p:nvPr/>
        </p:nvSpPr>
        <p:spPr>
          <a:xfrm>
            <a:off x="6464808"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Batch 1 (King and Queen compounds) 1 Oct; Batch 2 18 Oct if Batch 1 holds; Queen head when Queen White is receiving (30 Oct cautious, 9 Oct if early)</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12–17% of sales, under B6's 25% ceiling; replaces the 30 Sep B6 plan</a:t>
            </a:r>
            <a:endParaRPr lang="en-US" sz="1250" dirty="0"/>
          </a:p>
        </p:txBody>
      </p:sp>
      <p:sp>
        <p:nvSpPr>
          <p:cNvPr id="28" name="Text 26"/>
          <p:cNvSpPr txBox="1"/>
          <p:nvPr/>
        </p:nvSpPr>
        <p:spPr>
          <a:xfrm>
            <a:off x="640080" y="4681728"/>
            <a:ext cx="3657600" cy="256032"/>
          </a:xfrm>
          <a:prstGeom prst="rect">
            <a:avLst/>
          </a:prstGeom>
          <a:noFill/>
          <a:ln/>
        </p:spPr>
        <p:txBody>
          <a:bodyPr wrap="square" lIns="0" tIns="0" rIns="0" bIns="0" rtlCol="0" anchor="ctr"/>
          <a:lstStyle/>
          <a:p>
            <a:pPr indent="0" marL="0">
              <a:buNone/>
            </a:pPr>
            <a:r>
              <a:rPr lang="en-US" sz="950" b="1" spc="200" kern="0" dirty="0">
                <a:solidFill>
                  <a:srgbClr val="3D4852"/>
                </a:solidFill>
                <a:latin typeface="Calibri" pitchFamily="34" charset="0"/>
                <a:ea typeface="Calibri" pitchFamily="34" charset="-122"/>
                <a:cs typeface="Calibri" pitchFamily="34" charset="-120"/>
              </a:rPr>
              <a:t>KEY DATES</a:t>
            </a:r>
            <a:endParaRPr lang="en-US" sz="950" dirty="0"/>
          </a:p>
        </p:txBody>
      </p:sp>
      <p:sp>
        <p:nvSpPr>
          <p:cNvPr id="29" name="Shape 27"/>
          <p:cNvSpPr/>
          <p:nvPr/>
        </p:nvSpPr>
        <p:spPr>
          <a:xfrm>
            <a:off x="640080" y="5029200"/>
            <a:ext cx="146304" cy="146304"/>
          </a:xfrm>
          <a:prstGeom prst="ellipse">
            <a:avLst/>
          </a:prstGeom>
          <a:solidFill>
            <a:srgbClr val="176B41"/>
          </a:solidFill>
          <a:ln/>
        </p:spPr>
      </p:sp>
      <p:sp>
        <p:nvSpPr>
          <p:cNvPr id="30" name="Shape 28"/>
          <p:cNvSpPr/>
          <p:nvPr/>
        </p:nvSpPr>
        <p:spPr>
          <a:xfrm>
            <a:off x="822960" y="5102352"/>
            <a:ext cx="2002536" cy="0"/>
          </a:xfrm>
          <a:prstGeom prst="line">
            <a:avLst/>
          </a:prstGeom>
          <a:noFill/>
          <a:ln w="12700">
            <a:solidFill>
              <a:srgbClr val="BFCAD3"/>
            </a:solidFill>
            <a:prstDash val="solid"/>
          </a:ln>
        </p:spPr>
      </p:sp>
      <p:sp>
        <p:nvSpPr>
          <p:cNvPr id="31" name="Text 29"/>
          <p:cNvSpPr txBox="1"/>
          <p:nvPr/>
        </p:nvSpPr>
        <p:spPr>
          <a:xfrm>
            <a:off x="640080"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6–7 Oct</a:t>
            </a:r>
            <a:endParaRPr lang="en-US" sz="1200" dirty="0"/>
          </a:p>
        </p:txBody>
      </p:sp>
      <p:sp>
        <p:nvSpPr>
          <p:cNvPr id="32" name="Text 30"/>
          <p:cNvSpPr txBox="1"/>
          <p:nvPr/>
        </p:nvSpPr>
        <p:spPr>
          <a:xfrm>
            <a:off x="640080"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Prime Big Deal Days: budgets 1.5×, bids hold, not read</a:t>
            </a:r>
            <a:endParaRPr lang="en-US" sz="1000" dirty="0"/>
          </a:p>
        </p:txBody>
      </p:sp>
      <p:sp>
        <p:nvSpPr>
          <p:cNvPr id="33" name="Shape 31"/>
          <p:cNvSpPr/>
          <p:nvPr/>
        </p:nvSpPr>
        <p:spPr>
          <a:xfrm>
            <a:off x="2862072" y="5029200"/>
            <a:ext cx="146304" cy="146304"/>
          </a:xfrm>
          <a:prstGeom prst="ellipse">
            <a:avLst/>
          </a:prstGeom>
          <a:solidFill>
            <a:srgbClr val="176B41"/>
          </a:solidFill>
          <a:ln/>
        </p:spPr>
      </p:sp>
      <p:sp>
        <p:nvSpPr>
          <p:cNvPr id="34" name="Shape 32"/>
          <p:cNvSpPr/>
          <p:nvPr/>
        </p:nvSpPr>
        <p:spPr>
          <a:xfrm>
            <a:off x="3044952" y="5102352"/>
            <a:ext cx="2002536" cy="0"/>
          </a:xfrm>
          <a:prstGeom prst="line">
            <a:avLst/>
          </a:prstGeom>
          <a:noFill/>
          <a:ln w="12700">
            <a:solidFill>
              <a:srgbClr val="BFCAD3"/>
            </a:solidFill>
            <a:prstDash val="solid"/>
          </a:ln>
        </p:spPr>
      </p:sp>
      <p:sp>
        <p:nvSpPr>
          <p:cNvPr id="35" name="Text 33"/>
          <p:cNvSpPr txBox="1"/>
          <p:nvPr/>
        </p:nvSpPr>
        <p:spPr>
          <a:xfrm>
            <a:off x="2862072"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10 · 11 Oct</a:t>
            </a:r>
            <a:endParaRPr lang="en-US" sz="1200" dirty="0"/>
          </a:p>
        </p:txBody>
      </p:sp>
      <p:sp>
        <p:nvSpPr>
          <p:cNvPr id="36" name="Text 34"/>
          <p:cNvSpPr txBox="1"/>
          <p:nvPr/>
        </p:nvSpPr>
        <p:spPr>
          <a:xfrm>
            <a:off x="2862072"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Day-7 reads: B6, then B4</a:t>
            </a:r>
            <a:endParaRPr lang="en-US" sz="1000" dirty="0"/>
          </a:p>
        </p:txBody>
      </p:sp>
      <p:sp>
        <p:nvSpPr>
          <p:cNvPr id="37" name="Shape 35"/>
          <p:cNvSpPr/>
          <p:nvPr/>
        </p:nvSpPr>
        <p:spPr>
          <a:xfrm>
            <a:off x="5084064" y="5029200"/>
            <a:ext cx="146304" cy="146304"/>
          </a:xfrm>
          <a:prstGeom prst="ellipse">
            <a:avLst/>
          </a:prstGeom>
          <a:solidFill>
            <a:srgbClr val="176B41"/>
          </a:solidFill>
          <a:ln/>
        </p:spPr>
      </p:sp>
      <p:sp>
        <p:nvSpPr>
          <p:cNvPr id="38" name="Shape 36"/>
          <p:cNvSpPr/>
          <p:nvPr/>
        </p:nvSpPr>
        <p:spPr>
          <a:xfrm>
            <a:off x="5266944" y="5102352"/>
            <a:ext cx="2002536" cy="0"/>
          </a:xfrm>
          <a:prstGeom prst="line">
            <a:avLst/>
          </a:prstGeom>
          <a:noFill/>
          <a:ln w="12700">
            <a:solidFill>
              <a:srgbClr val="BFCAD3"/>
            </a:solidFill>
            <a:prstDash val="solid"/>
          </a:ln>
        </p:spPr>
      </p:sp>
      <p:sp>
        <p:nvSpPr>
          <p:cNvPr id="39" name="Text 37"/>
          <p:cNvSpPr txBox="1"/>
          <p:nvPr/>
        </p:nvSpPr>
        <p:spPr>
          <a:xfrm>
            <a:off x="5084064"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14 Oct</a:t>
            </a:r>
            <a:endParaRPr lang="en-US" sz="1200" dirty="0"/>
          </a:p>
        </p:txBody>
      </p:sp>
      <p:sp>
        <p:nvSpPr>
          <p:cNvPr id="40" name="Text 38"/>
          <p:cNvSpPr txBox="1"/>
          <p:nvPr/>
        </p:nvSpPr>
        <p:spPr>
          <a:xfrm>
            <a:off x="5084064"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First 60-click trial reads</a:t>
            </a:r>
            <a:endParaRPr lang="en-US" sz="1000" dirty="0"/>
          </a:p>
        </p:txBody>
      </p:sp>
      <p:sp>
        <p:nvSpPr>
          <p:cNvPr id="41" name="Shape 39"/>
          <p:cNvSpPr/>
          <p:nvPr/>
        </p:nvSpPr>
        <p:spPr>
          <a:xfrm>
            <a:off x="7306056" y="5029200"/>
            <a:ext cx="146304" cy="146304"/>
          </a:xfrm>
          <a:prstGeom prst="ellipse">
            <a:avLst/>
          </a:prstGeom>
          <a:solidFill>
            <a:srgbClr val="176B41"/>
          </a:solidFill>
          <a:ln/>
        </p:spPr>
      </p:sp>
      <p:sp>
        <p:nvSpPr>
          <p:cNvPr id="42" name="Shape 40"/>
          <p:cNvSpPr/>
          <p:nvPr/>
        </p:nvSpPr>
        <p:spPr>
          <a:xfrm>
            <a:off x="7488936" y="5102352"/>
            <a:ext cx="2002536" cy="0"/>
          </a:xfrm>
          <a:prstGeom prst="line">
            <a:avLst/>
          </a:prstGeom>
          <a:noFill/>
          <a:ln w="12700">
            <a:solidFill>
              <a:srgbClr val="BFCAD3"/>
            </a:solidFill>
            <a:prstDash val="solid"/>
          </a:ln>
        </p:spPr>
      </p:sp>
      <p:sp>
        <p:nvSpPr>
          <p:cNvPr id="43" name="Text 41"/>
          <p:cNvSpPr txBox="1"/>
          <p:nvPr/>
        </p:nvSpPr>
        <p:spPr>
          <a:xfrm>
            <a:off x="7306056"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18 Oct</a:t>
            </a:r>
            <a:endParaRPr lang="en-US" sz="1200" dirty="0"/>
          </a:p>
        </p:txBody>
      </p:sp>
      <p:sp>
        <p:nvSpPr>
          <p:cNvPr id="44" name="Text 42"/>
          <p:cNvSpPr txBox="1"/>
          <p:nvPr/>
        </p:nvSpPr>
        <p:spPr>
          <a:xfrm>
            <a:off x="7306056"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B6 Batch 2 starts if Batch 1 holds</a:t>
            </a:r>
            <a:endParaRPr lang="en-US" sz="1000" dirty="0"/>
          </a:p>
        </p:txBody>
      </p:sp>
      <p:sp>
        <p:nvSpPr>
          <p:cNvPr id="45" name="Shape 43"/>
          <p:cNvSpPr/>
          <p:nvPr/>
        </p:nvSpPr>
        <p:spPr>
          <a:xfrm>
            <a:off x="9528048" y="5029200"/>
            <a:ext cx="146304" cy="146304"/>
          </a:xfrm>
          <a:prstGeom prst="ellipse">
            <a:avLst/>
          </a:prstGeom>
          <a:solidFill>
            <a:srgbClr val="176B41"/>
          </a:solidFill>
          <a:ln/>
        </p:spPr>
      </p:sp>
      <p:sp>
        <p:nvSpPr>
          <p:cNvPr id="46" name="Text 44"/>
          <p:cNvSpPr txBox="1"/>
          <p:nvPr/>
        </p:nvSpPr>
        <p:spPr>
          <a:xfrm>
            <a:off x="9528048"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19 Nov</a:t>
            </a:r>
            <a:endParaRPr lang="en-US" sz="1200" dirty="0"/>
          </a:p>
        </p:txBody>
      </p:sp>
      <p:sp>
        <p:nvSpPr>
          <p:cNvPr id="47" name="Text 45"/>
          <p:cNvSpPr txBox="1"/>
          <p:nvPr/>
        </p:nvSpPr>
        <p:spPr>
          <a:xfrm>
            <a:off x="9528048"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Black Friday week: budgets 2×</a:t>
            </a:r>
            <a:endParaRPr lang="en-US" sz="1000" dirty="0"/>
          </a:p>
        </p:txBody>
      </p:sp>
      <p:sp>
        <p:nvSpPr>
          <p:cNvPr id="48" name="Text 46"/>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Rank with exact keywords only; reads count clean days, so deal days never flatter a keyword. Plans: Bamboo_Ranking_Plan_B4.docx and _B6.docx, with the Docs and explainer pages.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Blockers and help needed</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651760"/>
                <a:gridCol w="2743200"/>
                <a:gridCol w="1417320"/>
                <a:gridCol w="3081528"/>
                <a:gridCol w="114300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No deal-day budget or bid stance; the S4 deal shows 10 issues.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 the deal-day budget today and clear the S4 deal issues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Amazon set its own budget rules on about 20% of campaigns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Bids rise 50% over the event on campaigns we did not pick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All line owners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Sweep every Dynamic Up-and-Down campaign and strip the rules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push needs sign-offs before its first reads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B4 runs at 22–25% of sales 30 Oct–19 Nov if heads stay on; reads run against goals the system does not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Joseph, Operations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spend above 20%, heads between deals, cooling timing. Joseph: goals in Target Setting. Ops: Queen and Full White dates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ownership is unresolved between Rana and Taquie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The member plan names Rana; Joseph asked for Taquie on 28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Settle it Monday and reissue the member plan against it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Engine sign-offs and Q1 to Q8 are still open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Section 7 rules and the new thresholds cannot be applied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Joseph, Erik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Walk the register in one sitting and sign off each item</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Shape 4"/>
          <p:cNvSpPr/>
          <p:nvPr/>
        </p:nvSpPr>
        <p:spPr>
          <a:xfrm>
            <a:off x="640080" y="4681728"/>
            <a:ext cx="11036808" cy="1078992"/>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4754880"/>
            <a:ext cx="7315200" cy="237744"/>
          </a:xfrm>
          <a:prstGeom prst="rect">
            <a:avLst/>
          </a:prstGeom>
          <a:noFill/>
          <a:ln/>
        </p:spPr>
        <p:txBody>
          <a:bodyPr wrap="square" lIns="0" tIns="0" rIns="0" bIns="0" rtlCol="0" anchor="ctr"/>
          <a:lstStyle/>
          <a:p>
            <a:pPr indent="0" marL="0">
              <a:buNone/>
            </a:pPr>
            <a:r>
              <a:rPr lang="en-US" sz="1050" b="1" spc="200" kern="0" dirty="0">
                <a:solidFill>
                  <a:srgbClr val="6E4A0F"/>
                </a:solidFill>
                <a:latin typeface="Calibri" pitchFamily="34" charset="0"/>
                <a:ea typeface="Calibri" pitchFamily="34" charset="-122"/>
                <a:cs typeface="Calibri" pitchFamily="34" charset="-120"/>
              </a:rPr>
              <a:t>THE 15 OPEN ITEMS CARRIED INTO NEXT WEEK</a:t>
            </a:r>
            <a:endParaRPr lang="en-US" sz="1050" dirty="0"/>
          </a:p>
        </p:txBody>
      </p:sp>
      <p:sp>
        <p:nvSpPr>
          <p:cNvPr id="9" name="Text 6"/>
          <p:cNvSpPr txBox="1"/>
          <p:nvPr/>
        </p:nvSpPr>
        <p:spPr>
          <a:xfrm>
            <a:off x="86868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Campaign-type list + screenshot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Ad-type framework document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Stabilisation proposal</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Creative for 14 held campaigns</a:t>
            </a:r>
            <a:endParaRPr lang="en-US" sz="900" dirty="0"/>
          </a:p>
        </p:txBody>
      </p:sp>
      <p:sp>
        <p:nvSpPr>
          <p:cNvPr id="10" name="Text 7"/>
          <p:cNvSpPr txBox="1"/>
          <p:nvPr/>
        </p:nvSpPr>
        <p:spPr>
          <a:xfrm>
            <a:off x="356616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Conquest PAT test staging</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20 negative-keyword changes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BAMBOO-KING-WHITE dark campaign</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Q1 to Q8 engine decisions</a:t>
            </a:r>
            <a:endParaRPr lang="en-US" sz="900" dirty="0"/>
          </a:p>
        </p:txBody>
      </p:sp>
      <p:sp>
        <p:nvSpPr>
          <p:cNvPr id="11" name="Text 8"/>
          <p:cNvSpPr txBox="1"/>
          <p:nvPr/>
        </p:nvSpPr>
        <p:spPr>
          <a:xfrm>
            <a:off x="626364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Section 7 rules sign-off</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Prime Day deal-day budget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S4 deal issues (10)</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Amazon budget-rule sweep</a:t>
            </a:r>
            <a:endParaRPr lang="en-US" sz="900" dirty="0"/>
          </a:p>
        </p:txBody>
      </p:sp>
      <p:sp>
        <p:nvSpPr>
          <p:cNvPr id="12" name="Text 9"/>
          <p:cNvSpPr txBox="1"/>
          <p:nvPr/>
        </p:nvSpPr>
        <p:spPr>
          <a:xfrm>
            <a:off x="896112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Canada Bamboo audits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push sign-offs (Erik)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rank goals in Target Setting</a:t>
            </a:r>
            <a:endParaRPr lang="en-US" sz="900" dirty="0"/>
          </a:p>
        </p:txBody>
      </p:sp>
      <p:sp>
        <p:nvSpPr>
          <p:cNvPr id="13" name="Text 10"/>
          <p:cNvSpPr txBox="1"/>
          <p:nvPr/>
        </p:nvSpPr>
        <p:spPr>
          <a:xfrm>
            <a:off x="640080" y="585216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First cross-functional blocker this week: the held SB, SBV and SD campaigns need creative from Design before they can go live. Shipment Tracker rows USA237, 238, 241 and 251 sit with IP — Forecasting.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04</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600200"/>
                <a:gridCol w="777240"/>
                <a:gridCol w="129844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Prime Big Deal Days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Oct 6–7 event: deal-day budgets live, Amazon's own budget rules stripped, S4 deal issues cleared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Get the sign-offs, write the rank goals to Target Setting and go live; day-7 reads 10 Oct (B6) and 11 Oct (B4), first 60-click trial reads 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 · reads 10–14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First live week: daily spend, search-term and conversion checks, PAT additions from Shayan R, launch read at the Friday close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 read Fri, Oct 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next cycle on all nine, Bamboo Monday and the rest Tuesday. This cycle closes today with the last three feedbacks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 cycle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register</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Zarlish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Move the register to changed-findings-only and get Section 7, Q1 and Q3 signed off</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Other campaign types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 · launch TBC Mon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30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Stabilisation proposal</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Cadence</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05</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371600"/>
                <a:gridCol w="1097280"/>
                <a:gridCol w="120700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RHYTHM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RUNS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LOGGED IN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Every owner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check on the top 20% of each owner's campaigns, manual changes logged with expected results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Line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rank and stock check on every pushed keyword; reads on clean days only, deal days not read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Short check-in across the three members on what changed and what is blocked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Huddle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Audits through the app, full review by all three, Bamboo feedback shared and executed the same 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Managers channel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Tuesday–Wednesday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Consolidated feedback on the remaining products, executed by Joseph on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Tue–Wed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 + register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Tuning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Tuning run on Monday's changes, reviewed by all three, executed by Joseph. Bamboo margin reset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Close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Read of where each product stands, manual adjustments, this deck, oversight feedback to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This deck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Run in full for the first time this week.</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Owner directions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06</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463040"/>
                <a:gridCol w="1097280"/>
                <a:gridCol w="111556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DIRECTION FOR THIS CYCLE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CADENCE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REPORTS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ESCALATES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Taquie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Dept lead · Cooling · 2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Own the cycle and Joseph coordination, the campaign-type list, the ad-type framework, the proposal, Prime Day and the B4/B6 ranking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Mon + 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 &amp;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Rana</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 3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Bamboo daily work and the Canada deals, app-side feedback Friday. Bamboo ownership is under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Satin · 4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Satin daily work, the consolidated engine register and the Friday read. Register goes changed-only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Audit engine · outside PPC</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nine audits, execute agreed changes through the app, sign off Section 7, Q1 and Q3, and write the Bamboo rank goals to Target Setting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Whole department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Standard for every audit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 review every audit in full. Nothing executes that a reviewer has not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Line counts are the daily-manual-work owners in the PPC Weekly Plan v5 of 28 Sep.   ·   Bamboo ownership is open with Joseph and Erik.</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Zarlish</cp:lastModifiedBy>
  <cp:revision>1</cp:revision>
  <dcterms:created xsi:type="dcterms:W3CDTF">2026-10-02T13:36:29Z</dcterms:created>
  <dcterms:modified xsi:type="dcterms:W3CDTF">2026-10-02T13:36:29Z</dcterms:modified>
</cp:coreProperties>
</file>