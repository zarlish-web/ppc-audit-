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640080" y="6382512"/>
            <a:ext cx="3657600" cy="274320"/>
          </a:xfrm>
          <a:prstGeom prst="rect">
            <a:avLst/>
          </a:prstGeom>
          <a:noFill/>
          <a:ln/>
        </p:spPr>
        <p:txBody>
          <a:bodyPr wrap="square" lIns="0" tIns="0" rIns="0" bIns="0" rtlCol="0" anchor="ctr"/>
          <a:lstStyle/>
          <a:p>
            <a:pPr indent="0" marL="0">
              <a:buNone/>
            </a:pPr>
            <a:r>
              <a:rPr lang="en-US" sz="1000" b="1" spc="200" kern="0" dirty="0">
                <a:solidFill>
                  <a:srgbClr val="3D4852"/>
                </a:solidFill>
                <a:latin typeface="Calibri" pitchFamily="34" charset="0"/>
                <a:ea typeface="Calibri" pitchFamily="34" charset="-122"/>
                <a:cs typeface="Calibri" pitchFamily="34" charset="-120"/>
              </a:rPr>
              <a:t>ECOTERO BRANDS</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E44"/>
        </a:solidFill>
      </p:bgPr>
    </p:bg>
    <p:spTree>
      <p:nvGrpSpPr>
        <p:cNvPr id="1" name=""/>
        <p:cNvGrpSpPr/>
        <p:nvPr/>
      </p:nvGrpSpPr>
      <p:grpSpPr>
        <a:xfrm>
          <a:off x="0" y="0"/>
          <a:ext cx="0" cy="0"/>
          <a:chOff x="0" y="0"/>
          <a:chExt cx="0" cy="0"/>
        </a:xfrm>
      </p:grpSpPr>
      <p:sp>
        <p:nvSpPr>
          <p:cNvPr id="2" name="Text 0"/>
          <p:cNvSpPr txBox="1"/>
          <p:nvPr/>
        </p:nvSpPr>
        <p:spPr>
          <a:xfrm>
            <a:off x="868680" y="603504"/>
            <a:ext cx="8229600" cy="329184"/>
          </a:xfrm>
          <a:prstGeom prst="rect">
            <a:avLst/>
          </a:prstGeom>
          <a:noFill/>
          <a:ln/>
        </p:spPr>
        <p:txBody>
          <a:bodyPr wrap="square" lIns="0" tIns="0" rIns="0" bIns="0" rtlCol="0" anchor="ctr"/>
          <a:lstStyle/>
          <a:p>
            <a:pPr indent="0" marL="0">
              <a:buNone/>
            </a:pPr>
            <a:r>
              <a:rPr lang="en-US" sz="1600" b="1" spc="400" kern="0" dirty="0">
                <a:solidFill>
                  <a:srgbClr val="D3B184"/>
                </a:solidFill>
                <a:latin typeface="Calibri" pitchFamily="34" charset="0"/>
                <a:ea typeface="Calibri" pitchFamily="34" charset="-122"/>
                <a:cs typeface="Calibri" pitchFamily="34" charset="-120"/>
              </a:rPr>
              <a:t>AMAZON OPERATIONS   ·   WEEKLY REVIEW</a:t>
            </a:r>
            <a:endParaRPr lang="en-US" sz="1600" dirty="0"/>
          </a:p>
        </p:txBody>
      </p:sp>
      <p:sp>
        <p:nvSpPr>
          <p:cNvPr id="3" name="Text 1"/>
          <p:cNvSpPr txBox="1"/>
          <p:nvPr/>
        </p:nvSpPr>
        <p:spPr>
          <a:xfrm>
            <a:off x="7863840" y="566928"/>
            <a:ext cx="3474720" cy="274320"/>
          </a:xfrm>
          <a:prstGeom prst="rect">
            <a:avLst/>
          </a:prstGeom>
          <a:noFill/>
          <a:ln/>
        </p:spPr>
        <p:txBody>
          <a:bodyPr wrap="square" lIns="0" tIns="0" rIns="0" bIns="0" rtlCol="0" anchor="ctr"/>
          <a:lstStyle/>
          <a:p>
            <a:pPr algn="r" indent="0" marL="0">
              <a:buNone/>
            </a:pPr>
            <a:r>
              <a:rPr lang="en-US" sz="1400" dirty="0">
                <a:solidFill>
                  <a:srgbClr val="FFFFFF"/>
                </a:solidFill>
                <a:latin typeface="Calibri" pitchFamily="34" charset="0"/>
                <a:ea typeface="Calibri" pitchFamily="34" charset="-122"/>
                <a:cs typeface="Calibri" pitchFamily="34" charset="-120"/>
              </a:rPr>
              <a:t>Presented by Zarlish</a:t>
            </a:r>
            <a:endParaRPr lang="en-US" sz="1400" dirty="0"/>
          </a:p>
        </p:txBody>
      </p:sp>
      <p:sp>
        <p:nvSpPr>
          <p:cNvPr id="4" name="Text 2"/>
          <p:cNvSpPr txBox="1"/>
          <p:nvPr/>
        </p:nvSpPr>
        <p:spPr>
          <a:xfrm>
            <a:off x="7863840" y="859536"/>
            <a:ext cx="3474720" cy="274320"/>
          </a:xfrm>
          <a:prstGeom prst="rect">
            <a:avLst/>
          </a:prstGeom>
          <a:noFill/>
          <a:ln/>
        </p:spPr>
        <p:txBody>
          <a:bodyPr wrap="square" lIns="0" tIns="0" rIns="0" bIns="0" rtlCol="0" anchor="ctr"/>
          <a:lstStyle/>
          <a:p>
            <a:pPr algn="r" indent="0" marL="0">
              <a:buNone/>
            </a:pPr>
            <a:r>
              <a:rPr lang="en-US" sz="1200" dirty="0">
                <a:solidFill>
                  <a:srgbClr val="C6D3DD"/>
                </a:solidFill>
                <a:latin typeface="Calibri" pitchFamily="34" charset="0"/>
                <a:ea typeface="Calibri" pitchFamily="34" charset="-122"/>
                <a:cs typeface="Calibri" pitchFamily="34" charset="-120"/>
              </a:rPr>
              <a:t>Cadence week 1 · Friday review</a:t>
            </a:r>
            <a:endParaRPr lang="en-US" sz="1200" dirty="0"/>
          </a:p>
        </p:txBody>
      </p:sp>
      <p:sp>
        <p:nvSpPr>
          <p:cNvPr id="5" name="Text 3"/>
          <p:cNvSpPr txBox="1"/>
          <p:nvPr/>
        </p:nvSpPr>
        <p:spPr>
          <a:xfrm>
            <a:off x="868680" y="969264"/>
            <a:ext cx="9601200" cy="1143000"/>
          </a:xfrm>
          <a:prstGeom prst="rect">
            <a:avLst/>
          </a:prstGeom>
          <a:noFill/>
          <a:ln/>
        </p:spPr>
        <p:txBody>
          <a:bodyPr wrap="square" lIns="0" tIns="0" rIns="0" bIns="0" rtlCol="0" anchor="ctr"/>
          <a:lstStyle/>
          <a:p>
            <a:pPr indent="0" marL="0">
              <a:buNone/>
            </a:pPr>
            <a:r>
              <a:rPr lang="en-US" sz="6400" b="1" dirty="0">
                <a:solidFill>
                  <a:srgbClr val="FFFFFF"/>
                </a:solidFill>
                <a:latin typeface="Cambria" pitchFamily="34" charset="0"/>
                <a:ea typeface="Cambria" pitchFamily="34" charset="-122"/>
                <a:cs typeface="Cambria" pitchFamily="34" charset="-120"/>
              </a:rPr>
              <a:t>PPC</a:t>
            </a:r>
            <a:endParaRPr lang="en-US" sz="6400" dirty="0"/>
          </a:p>
        </p:txBody>
      </p:sp>
      <p:sp>
        <p:nvSpPr>
          <p:cNvPr id="6" name="Text 4"/>
          <p:cNvSpPr txBox="1"/>
          <p:nvPr/>
        </p:nvSpPr>
        <p:spPr>
          <a:xfrm>
            <a:off x="868680" y="2157984"/>
            <a:ext cx="9601200" cy="457200"/>
          </a:xfrm>
          <a:prstGeom prst="rect">
            <a:avLst/>
          </a:prstGeom>
          <a:noFill/>
          <a:ln/>
        </p:spPr>
        <p:txBody>
          <a:bodyPr wrap="square" lIns="0" tIns="0" rIns="0" bIns="0" rtlCol="0" anchor="ctr"/>
          <a:lstStyle/>
          <a:p>
            <a:pPr indent="0" marL="0">
              <a:buNone/>
            </a:pPr>
            <a:r>
              <a:rPr lang="en-US" sz="2600" dirty="0">
                <a:solidFill>
                  <a:srgbClr val="D3B184"/>
                </a:solidFill>
                <a:latin typeface="Calibri" pitchFamily="34" charset="0"/>
                <a:ea typeface="Calibri" pitchFamily="34" charset="-122"/>
                <a:cs typeface="Calibri" pitchFamily="34" charset="-120"/>
              </a:rPr>
              <a:t>Week of September 28 to October 2</a:t>
            </a:r>
            <a:endParaRPr lang="en-US" sz="2600" dirty="0"/>
          </a:p>
        </p:txBody>
      </p:sp>
      <p:sp>
        <p:nvSpPr>
          <p:cNvPr id="7" name="Text 5"/>
          <p:cNvSpPr txBox="1"/>
          <p:nvPr/>
        </p:nvSpPr>
        <p:spPr>
          <a:xfrm>
            <a:off x="868680" y="2926080"/>
            <a:ext cx="9692640" cy="731520"/>
          </a:xfrm>
          <a:prstGeom prst="rect">
            <a:avLst/>
          </a:prstGeom>
          <a:noFill/>
          <a:ln/>
        </p:spPr>
        <p:txBody>
          <a:bodyPr wrap="square" lIns="0" tIns="0" rIns="0" bIns="0" rtlCol="0" anchor="t"/>
          <a:lstStyle/>
          <a:p>
            <a:pPr indent="0" marL="0">
              <a:buNone/>
            </a:pPr>
            <a:r>
              <a:rPr lang="en-US" sz="1600" dirty="0">
                <a:solidFill>
                  <a:srgbClr val="C6D3DD"/>
                </a:solidFill>
                <a:latin typeface="Calibri" pitchFamily="34" charset="0"/>
                <a:ea typeface="Calibri" pitchFamily="34" charset="-122"/>
                <a:cs typeface="Calibri" pitchFamily="34" charset="-120"/>
              </a:rPr>
              <a:t>CooLinens Cooling Pillowcase goes live on Amazon today with its PPC launch. Bamboo ranking plans for B4 and B6 are final and wait on three sign-offs. Prime Big Deal Days on 6–7 Oct is the first test of the week ahead.</a:t>
            </a:r>
            <a:endParaRPr lang="en-US" sz="1600" dirty="0"/>
          </a:p>
        </p:txBody>
      </p:sp>
      <p:sp>
        <p:nvSpPr>
          <p:cNvPr id="8" name="Shape 6"/>
          <p:cNvSpPr/>
          <p:nvPr/>
        </p:nvSpPr>
        <p:spPr>
          <a:xfrm>
            <a:off x="868680" y="4114800"/>
            <a:ext cx="10469880" cy="1207008"/>
          </a:xfrm>
          <a:prstGeom prst="rect">
            <a:avLst/>
          </a:prstGeom>
          <a:solidFill>
            <a:srgbClr val="1B3E57"/>
          </a:solidFill>
          <a:ln/>
        </p:spPr>
      </p:sp>
      <p:sp>
        <p:nvSpPr>
          <p:cNvPr id="9" name="Text 7"/>
          <p:cNvSpPr txBox="1"/>
          <p:nvPr/>
        </p:nvSpPr>
        <p:spPr>
          <a:xfrm>
            <a:off x="1143000" y="4261104"/>
            <a:ext cx="1783080" cy="548640"/>
          </a:xfrm>
          <a:prstGeom prst="rect">
            <a:avLst/>
          </a:prstGeom>
          <a:noFill/>
          <a:ln/>
        </p:spPr>
        <p:txBody>
          <a:bodyPr wrap="square" lIns="0" tIns="0" rIns="0" bIns="0" rtlCol="0" anchor="ctr"/>
          <a:lstStyle/>
          <a:p>
            <a:pPr indent="0" marL="0">
              <a:buNone/>
            </a:pPr>
            <a:r>
              <a:rPr lang="en-US" sz="3600" b="1" dirty="0">
                <a:solidFill>
                  <a:srgbClr val="7FC4E8"/>
                </a:solidFill>
                <a:latin typeface="Cambria" pitchFamily="34" charset="0"/>
                <a:ea typeface="Cambria" pitchFamily="34" charset="-122"/>
                <a:cs typeface="Cambria" pitchFamily="34" charset="-120"/>
              </a:rPr>
              <a:t>6</a:t>
            </a:r>
            <a:endParaRPr lang="en-US" sz="3600" dirty="0"/>
          </a:p>
        </p:txBody>
      </p:sp>
      <p:sp>
        <p:nvSpPr>
          <p:cNvPr id="10" name="Text 8"/>
          <p:cNvSpPr txBox="1"/>
          <p:nvPr/>
        </p:nvSpPr>
        <p:spPr>
          <a:xfrm>
            <a:off x="1143000" y="4846320"/>
            <a:ext cx="1783080" cy="292608"/>
          </a:xfrm>
          <a:prstGeom prst="rect">
            <a:avLst/>
          </a:prstGeom>
          <a:noFill/>
          <a:ln/>
        </p:spPr>
        <p:txBody>
          <a:bodyPr wrap="square" lIns="0" tIns="0" rIns="0" bIns="0" rtlCol="0" anchor="ctr"/>
          <a:lstStyle/>
          <a:p>
            <a:pPr indent="0" marL="0">
              <a:buNone/>
            </a:pPr>
            <a:r>
              <a:rPr lang="en-US" sz="1300" b="1" dirty="0">
                <a:solidFill>
                  <a:srgbClr val="C6D3DD"/>
                </a:solidFill>
                <a:latin typeface="Calibri" pitchFamily="34" charset="0"/>
                <a:ea typeface="Calibri" pitchFamily="34" charset="-122"/>
                <a:cs typeface="Calibri" pitchFamily="34" charset="-120"/>
              </a:rPr>
              <a:t>Workstreams</a:t>
            </a:r>
            <a:endParaRPr lang="en-US" sz="1300" dirty="0"/>
          </a:p>
        </p:txBody>
      </p:sp>
      <p:sp>
        <p:nvSpPr>
          <p:cNvPr id="11" name="Text 9"/>
          <p:cNvSpPr txBox="1"/>
          <p:nvPr/>
        </p:nvSpPr>
        <p:spPr>
          <a:xfrm>
            <a:off x="3236976" y="4261104"/>
            <a:ext cx="1783080" cy="548640"/>
          </a:xfrm>
          <a:prstGeom prst="rect">
            <a:avLst/>
          </a:prstGeom>
          <a:noFill/>
          <a:ln/>
        </p:spPr>
        <p:txBody>
          <a:bodyPr wrap="square" lIns="0" tIns="0" rIns="0" bIns="0" rtlCol="0" anchor="ctr"/>
          <a:lstStyle/>
          <a:p>
            <a:pPr indent="0" marL="0">
              <a:buNone/>
            </a:pPr>
            <a:r>
              <a:rPr lang="en-US" sz="3600" b="1" dirty="0">
                <a:solidFill>
                  <a:srgbClr val="6FD39F"/>
                </a:solidFill>
                <a:latin typeface="Cambria" pitchFamily="34" charset="0"/>
                <a:ea typeface="Cambria" pitchFamily="34" charset="-122"/>
                <a:cs typeface="Cambria" pitchFamily="34" charset="-120"/>
              </a:rPr>
              <a:t>3</a:t>
            </a:r>
            <a:endParaRPr lang="en-US" sz="3600" dirty="0"/>
          </a:p>
        </p:txBody>
      </p:sp>
      <p:sp>
        <p:nvSpPr>
          <p:cNvPr id="12" name="Text 10"/>
          <p:cNvSpPr txBox="1"/>
          <p:nvPr/>
        </p:nvSpPr>
        <p:spPr>
          <a:xfrm>
            <a:off x="3236976" y="4846320"/>
            <a:ext cx="1783080" cy="292608"/>
          </a:xfrm>
          <a:prstGeom prst="rect">
            <a:avLst/>
          </a:prstGeom>
          <a:noFill/>
          <a:ln/>
        </p:spPr>
        <p:txBody>
          <a:bodyPr wrap="square" lIns="0" tIns="0" rIns="0" bIns="0" rtlCol="0" anchor="ctr"/>
          <a:lstStyle/>
          <a:p>
            <a:pPr indent="0" marL="0">
              <a:buNone/>
            </a:pPr>
            <a:r>
              <a:rPr lang="en-US" sz="1300" b="1" dirty="0">
                <a:solidFill>
                  <a:srgbClr val="C6D3DD"/>
                </a:solidFill>
                <a:latin typeface="Calibri" pitchFamily="34" charset="0"/>
                <a:ea typeface="Calibri" pitchFamily="34" charset="-122"/>
                <a:cs typeface="Calibri" pitchFamily="34" charset="-120"/>
              </a:rPr>
              <a:t>Delivered</a:t>
            </a:r>
            <a:endParaRPr lang="en-US" sz="1300" dirty="0"/>
          </a:p>
        </p:txBody>
      </p:sp>
      <p:sp>
        <p:nvSpPr>
          <p:cNvPr id="13" name="Shape 11"/>
          <p:cNvSpPr/>
          <p:nvPr/>
        </p:nvSpPr>
        <p:spPr>
          <a:xfrm>
            <a:off x="2962656" y="4370832"/>
            <a:ext cx="9144" cy="694944"/>
          </a:xfrm>
          <a:prstGeom prst="rect">
            <a:avLst/>
          </a:prstGeom>
          <a:solidFill>
            <a:srgbClr val="2C5A78"/>
          </a:solidFill>
          <a:ln/>
        </p:spPr>
      </p:sp>
      <p:sp>
        <p:nvSpPr>
          <p:cNvPr id="14" name="Text 12"/>
          <p:cNvSpPr txBox="1"/>
          <p:nvPr/>
        </p:nvSpPr>
        <p:spPr>
          <a:xfrm>
            <a:off x="5330952" y="4261104"/>
            <a:ext cx="1783080" cy="548640"/>
          </a:xfrm>
          <a:prstGeom prst="rect">
            <a:avLst/>
          </a:prstGeom>
          <a:noFill/>
          <a:ln/>
        </p:spPr>
        <p:txBody>
          <a:bodyPr wrap="square" lIns="0" tIns="0" rIns="0" bIns="0" rtlCol="0" anchor="ctr"/>
          <a:lstStyle/>
          <a:p>
            <a:pPr indent="0" marL="0">
              <a:buNone/>
            </a:pPr>
            <a:r>
              <a:rPr lang="en-US" sz="3600" b="1" dirty="0">
                <a:solidFill>
                  <a:srgbClr val="F2C078"/>
                </a:solidFill>
                <a:latin typeface="Cambria" pitchFamily="34" charset="0"/>
                <a:ea typeface="Cambria" pitchFamily="34" charset="-122"/>
                <a:cs typeface="Cambria" pitchFamily="34" charset="-120"/>
              </a:rPr>
              <a:t>2</a:t>
            </a:r>
            <a:endParaRPr lang="en-US" sz="3600" dirty="0"/>
          </a:p>
        </p:txBody>
      </p:sp>
      <p:sp>
        <p:nvSpPr>
          <p:cNvPr id="15" name="Text 13"/>
          <p:cNvSpPr txBox="1"/>
          <p:nvPr/>
        </p:nvSpPr>
        <p:spPr>
          <a:xfrm>
            <a:off x="5330952" y="4846320"/>
            <a:ext cx="1783080" cy="292608"/>
          </a:xfrm>
          <a:prstGeom prst="rect">
            <a:avLst/>
          </a:prstGeom>
          <a:noFill/>
          <a:ln/>
        </p:spPr>
        <p:txBody>
          <a:bodyPr wrap="square" lIns="0" tIns="0" rIns="0" bIns="0" rtlCol="0" anchor="ctr"/>
          <a:lstStyle/>
          <a:p>
            <a:pPr indent="0" marL="0">
              <a:buNone/>
            </a:pPr>
            <a:r>
              <a:rPr lang="en-US" sz="1300" b="1" dirty="0">
                <a:solidFill>
                  <a:srgbClr val="C6D3DD"/>
                </a:solidFill>
                <a:latin typeface="Calibri" pitchFamily="34" charset="0"/>
                <a:ea typeface="Calibri" pitchFamily="34" charset="-122"/>
                <a:cs typeface="Calibri" pitchFamily="34" charset="-120"/>
              </a:rPr>
              <a:t>In progress</a:t>
            </a:r>
            <a:endParaRPr lang="en-US" sz="1300" dirty="0"/>
          </a:p>
        </p:txBody>
      </p:sp>
      <p:sp>
        <p:nvSpPr>
          <p:cNvPr id="16" name="Shape 14"/>
          <p:cNvSpPr/>
          <p:nvPr/>
        </p:nvSpPr>
        <p:spPr>
          <a:xfrm>
            <a:off x="5056632" y="4370832"/>
            <a:ext cx="9144" cy="694944"/>
          </a:xfrm>
          <a:prstGeom prst="rect">
            <a:avLst/>
          </a:prstGeom>
          <a:solidFill>
            <a:srgbClr val="2C5A78"/>
          </a:solidFill>
          <a:ln/>
        </p:spPr>
      </p:sp>
      <p:sp>
        <p:nvSpPr>
          <p:cNvPr id="17" name="Text 15"/>
          <p:cNvSpPr txBox="1"/>
          <p:nvPr/>
        </p:nvSpPr>
        <p:spPr>
          <a:xfrm>
            <a:off x="7424928" y="4261104"/>
            <a:ext cx="1783080" cy="548640"/>
          </a:xfrm>
          <a:prstGeom prst="rect">
            <a:avLst/>
          </a:prstGeom>
          <a:noFill/>
          <a:ln/>
        </p:spPr>
        <p:txBody>
          <a:bodyPr wrap="square" lIns="0" tIns="0" rIns="0" bIns="0" rtlCol="0" anchor="ctr"/>
          <a:lstStyle/>
          <a:p>
            <a:pPr indent="0" marL="0">
              <a:buNone/>
            </a:pPr>
            <a:r>
              <a:rPr lang="en-US" sz="3600" b="1" dirty="0">
                <a:solidFill>
                  <a:srgbClr val="F0907F"/>
                </a:solidFill>
                <a:latin typeface="Cambria" pitchFamily="34" charset="0"/>
                <a:ea typeface="Cambria" pitchFamily="34" charset="-122"/>
                <a:cs typeface="Cambria" pitchFamily="34" charset="-120"/>
              </a:rPr>
              <a:t>1</a:t>
            </a:r>
            <a:endParaRPr lang="en-US" sz="3600" dirty="0"/>
          </a:p>
        </p:txBody>
      </p:sp>
      <p:sp>
        <p:nvSpPr>
          <p:cNvPr id="18" name="Text 16"/>
          <p:cNvSpPr txBox="1"/>
          <p:nvPr/>
        </p:nvSpPr>
        <p:spPr>
          <a:xfrm>
            <a:off x="7424928" y="4846320"/>
            <a:ext cx="1783080" cy="292608"/>
          </a:xfrm>
          <a:prstGeom prst="rect">
            <a:avLst/>
          </a:prstGeom>
          <a:noFill/>
          <a:ln/>
        </p:spPr>
        <p:txBody>
          <a:bodyPr wrap="square" lIns="0" tIns="0" rIns="0" bIns="0" rtlCol="0" anchor="ctr"/>
          <a:lstStyle/>
          <a:p>
            <a:pPr indent="0" marL="0">
              <a:buNone/>
            </a:pPr>
            <a:r>
              <a:rPr lang="en-US" sz="1300" b="1" dirty="0">
                <a:solidFill>
                  <a:srgbClr val="C6D3DD"/>
                </a:solidFill>
                <a:latin typeface="Calibri" pitchFamily="34" charset="0"/>
                <a:ea typeface="Calibri" pitchFamily="34" charset="-122"/>
                <a:cs typeface="Calibri" pitchFamily="34" charset="-120"/>
              </a:rPr>
              <a:t>At risk</a:t>
            </a:r>
            <a:endParaRPr lang="en-US" sz="1300" dirty="0"/>
          </a:p>
        </p:txBody>
      </p:sp>
      <p:sp>
        <p:nvSpPr>
          <p:cNvPr id="19" name="Shape 17"/>
          <p:cNvSpPr/>
          <p:nvPr/>
        </p:nvSpPr>
        <p:spPr>
          <a:xfrm>
            <a:off x="7150608" y="4370832"/>
            <a:ext cx="9144" cy="694944"/>
          </a:xfrm>
          <a:prstGeom prst="rect">
            <a:avLst/>
          </a:prstGeom>
          <a:solidFill>
            <a:srgbClr val="2C5A78"/>
          </a:solidFill>
          <a:ln/>
        </p:spPr>
      </p:sp>
      <p:sp>
        <p:nvSpPr>
          <p:cNvPr id="20" name="Text 18"/>
          <p:cNvSpPr txBox="1"/>
          <p:nvPr/>
        </p:nvSpPr>
        <p:spPr>
          <a:xfrm>
            <a:off x="9518904" y="4261104"/>
            <a:ext cx="1783080" cy="548640"/>
          </a:xfrm>
          <a:prstGeom prst="rect">
            <a:avLst/>
          </a:prstGeom>
          <a:noFill/>
          <a:ln/>
        </p:spPr>
        <p:txBody>
          <a:bodyPr wrap="square" lIns="0" tIns="0" rIns="0" bIns="0" rtlCol="0" anchor="ctr"/>
          <a:lstStyle/>
          <a:p>
            <a:pPr indent="0" marL="0">
              <a:buNone/>
            </a:pPr>
            <a:r>
              <a:rPr lang="en-US" sz="3600" b="1" dirty="0">
                <a:solidFill>
                  <a:srgbClr val="C9AEE0"/>
                </a:solidFill>
                <a:latin typeface="Cambria" pitchFamily="34" charset="0"/>
                <a:ea typeface="Cambria" pitchFamily="34" charset="-122"/>
                <a:cs typeface="Cambria" pitchFamily="34" charset="-120"/>
              </a:rPr>
              <a:t>0 of 4</a:t>
            </a:r>
            <a:endParaRPr lang="en-US" sz="3600" dirty="0"/>
          </a:p>
        </p:txBody>
      </p:sp>
      <p:sp>
        <p:nvSpPr>
          <p:cNvPr id="21" name="Text 19"/>
          <p:cNvSpPr txBox="1"/>
          <p:nvPr/>
        </p:nvSpPr>
        <p:spPr>
          <a:xfrm>
            <a:off x="9518904" y="4846320"/>
            <a:ext cx="1783080" cy="292608"/>
          </a:xfrm>
          <a:prstGeom prst="rect">
            <a:avLst/>
          </a:prstGeom>
          <a:noFill/>
          <a:ln/>
        </p:spPr>
        <p:txBody>
          <a:bodyPr wrap="square" lIns="0" tIns="0" rIns="0" bIns="0" rtlCol="0" anchor="ctr"/>
          <a:lstStyle/>
          <a:p>
            <a:pPr indent="0" marL="0">
              <a:buNone/>
            </a:pPr>
            <a:r>
              <a:rPr lang="en-US" sz="1300" b="1" dirty="0">
                <a:solidFill>
                  <a:srgbClr val="C6D3DD"/>
                </a:solidFill>
                <a:latin typeface="Calibri" pitchFamily="34" charset="0"/>
                <a:ea typeface="Calibri" pitchFamily="34" charset="-122"/>
                <a:cs typeface="Calibri" pitchFamily="34" charset="-120"/>
              </a:rPr>
              <a:t>Cadence logged</a:t>
            </a:r>
            <a:endParaRPr lang="en-US" sz="1300" dirty="0"/>
          </a:p>
        </p:txBody>
      </p:sp>
      <p:sp>
        <p:nvSpPr>
          <p:cNvPr id="22" name="Shape 20"/>
          <p:cNvSpPr/>
          <p:nvPr/>
        </p:nvSpPr>
        <p:spPr>
          <a:xfrm>
            <a:off x="9244584" y="4370832"/>
            <a:ext cx="9144" cy="694944"/>
          </a:xfrm>
          <a:prstGeom prst="rect">
            <a:avLst/>
          </a:prstGeom>
          <a:solidFill>
            <a:srgbClr val="2C5A78"/>
          </a:solidFill>
          <a:ln/>
        </p:spPr>
      </p:sp>
      <p:sp>
        <p:nvSpPr>
          <p:cNvPr id="23" name="Shape 21"/>
          <p:cNvSpPr/>
          <p:nvPr/>
        </p:nvSpPr>
        <p:spPr>
          <a:xfrm>
            <a:off x="868680" y="5577840"/>
            <a:ext cx="10469880" cy="859536"/>
          </a:xfrm>
          <a:prstGeom prst="roundRect">
            <a:avLst>
              <a:gd name="adj" fmla="val 5319"/>
            </a:avLst>
          </a:prstGeom>
          <a:solidFill>
            <a:srgbClr val="FFFFFF"/>
          </a:solidFill>
          <a:ln/>
        </p:spPr>
      </p:sp>
      <p:pic>
        <p:nvPicPr>
          <p:cNvPr id="24" name="Image 0" descr="preencoded.png">    </p:cNvPr>
          <p:cNvPicPr>
            <a:picLocks noChangeAspect="1"/>
          </p:cNvPicPr>
          <p:nvPr/>
        </p:nvPicPr>
        <p:blipFill>
          <a:blip r:embed="rId1"/>
          <a:stretch>
            <a:fillRect/>
          </a:stretch>
        </p:blipFill>
        <p:spPr>
          <a:xfrm>
            <a:off x="1133856" y="5824728"/>
            <a:ext cx="1572768" cy="374904"/>
          </a:xfrm>
          <a:prstGeom prst="rect">
            <a:avLst/>
          </a:prstGeom>
        </p:spPr>
      </p:pic>
      <p:pic>
        <p:nvPicPr>
          <p:cNvPr id="25" name="Image 1" descr="preencoded.png">    </p:cNvPr>
          <p:cNvPicPr>
            <a:picLocks noChangeAspect="1"/>
          </p:cNvPicPr>
          <p:nvPr/>
        </p:nvPicPr>
        <p:blipFill>
          <a:blip r:embed="rId2"/>
          <a:stretch>
            <a:fillRect/>
          </a:stretch>
        </p:blipFill>
        <p:spPr>
          <a:xfrm>
            <a:off x="3145536" y="5824728"/>
            <a:ext cx="1719072" cy="374904"/>
          </a:xfrm>
          <a:prstGeom prst="rect">
            <a:avLst/>
          </a:prstGeom>
        </p:spPr>
      </p:pic>
      <p:pic>
        <p:nvPicPr>
          <p:cNvPr id="26" name="Image 2" descr="preencoded.png">    </p:cNvPr>
          <p:cNvPicPr>
            <a:picLocks noChangeAspect="1"/>
          </p:cNvPicPr>
          <p:nvPr/>
        </p:nvPicPr>
        <p:blipFill>
          <a:blip r:embed="rId3"/>
          <a:stretch>
            <a:fillRect/>
          </a:stretch>
        </p:blipFill>
        <p:spPr>
          <a:xfrm>
            <a:off x="5294376" y="5879592"/>
            <a:ext cx="1609344" cy="256032"/>
          </a:xfrm>
          <a:prstGeom prst="rect">
            <a:avLst/>
          </a:prstGeom>
        </p:spPr>
      </p:pic>
      <p:pic>
        <p:nvPicPr>
          <p:cNvPr id="27" name="Image 3" descr="preencoded.png">    </p:cNvPr>
          <p:cNvPicPr>
            <a:picLocks noChangeAspect="1"/>
          </p:cNvPicPr>
          <p:nvPr/>
        </p:nvPicPr>
        <p:blipFill>
          <a:blip r:embed="rId4"/>
          <a:stretch>
            <a:fillRect/>
          </a:stretch>
        </p:blipFill>
        <p:spPr>
          <a:xfrm>
            <a:off x="7827264" y="5696712"/>
            <a:ext cx="731520" cy="612648"/>
          </a:xfrm>
          <a:prstGeom prst="rect">
            <a:avLst/>
          </a:prstGeom>
        </p:spPr>
      </p:pic>
      <p:pic>
        <p:nvPicPr>
          <p:cNvPr id="28" name="Image 4" descr="preencoded.png">    </p:cNvPr>
          <p:cNvPicPr>
            <a:picLocks noChangeAspect="1"/>
          </p:cNvPicPr>
          <p:nvPr/>
        </p:nvPicPr>
        <p:blipFill>
          <a:blip r:embed="rId5"/>
          <a:stretch>
            <a:fillRect/>
          </a:stretch>
        </p:blipFill>
        <p:spPr>
          <a:xfrm>
            <a:off x="10003536" y="5696712"/>
            <a:ext cx="576072" cy="62179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402336"/>
            <a:ext cx="9326880" cy="292608"/>
          </a:xfrm>
          <a:prstGeom prst="rect">
            <a:avLst/>
          </a:prstGeom>
          <a:noFill/>
          <a:ln/>
        </p:spPr>
        <p:txBody>
          <a:bodyPr wrap="square" lIns="0" tIns="0" rIns="0" bIns="0" rtlCol="0" anchor="ctr"/>
          <a:lstStyle/>
          <a:p>
            <a:pPr indent="0" marL="0">
              <a:buNone/>
            </a:pPr>
            <a:r>
              <a:rPr lang="en-US" sz="1100" b="1" spc="300" kern="0" dirty="0">
                <a:solidFill>
                  <a:srgbClr val="3D4852"/>
                </a:solidFill>
                <a:latin typeface="Calibri" pitchFamily="34" charset="0"/>
                <a:ea typeface="Calibri" pitchFamily="34" charset="-122"/>
                <a:cs typeface="Calibri" pitchFamily="34" charset="-120"/>
              </a:rPr>
              <a:t>PPC   ·   ALL BRANDS   ·   WEEK OF SEPTEMBER 28 TO OCTOBER 2</a:t>
            </a:r>
            <a:endParaRPr lang="en-US" sz="1100" dirty="0"/>
          </a:p>
        </p:txBody>
      </p:sp>
      <p:sp>
        <p:nvSpPr>
          <p:cNvPr id="3" name="Text 1"/>
          <p:cNvSpPr txBox="1"/>
          <p:nvPr/>
        </p:nvSpPr>
        <p:spPr>
          <a:xfrm>
            <a:off x="640080" y="676656"/>
            <a:ext cx="9326880" cy="658368"/>
          </a:xfrm>
          <a:prstGeom prst="rect">
            <a:avLst/>
          </a:prstGeom>
          <a:noFill/>
          <a:ln/>
        </p:spPr>
        <p:txBody>
          <a:bodyPr wrap="square" lIns="0" tIns="0" rIns="0" bIns="0" rtlCol="0" anchor="ctr"/>
          <a:lstStyle/>
          <a:p>
            <a:pPr indent="0" marL="0">
              <a:buNone/>
            </a:pPr>
            <a:r>
              <a:rPr lang="en-US" sz="3000" b="1" dirty="0">
                <a:solidFill>
                  <a:srgbClr val="111C24"/>
                </a:solidFill>
                <a:latin typeface="Cambria" pitchFamily="34" charset="0"/>
                <a:ea typeface="Cambria" pitchFamily="34" charset="-122"/>
                <a:cs typeface="Cambria" pitchFamily="34" charset="-120"/>
              </a:rPr>
              <a:t>Progress versus plan</a:t>
            </a:r>
            <a:endParaRPr lang="en-US" sz="3000" dirty="0"/>
          </a:p>
        </p:txBody>
      </p:sp>
      <p:sp>
        <p:nvSpPr>
          <p:cNvPr id="4" name="Text 2"/>
          <p:cNvSpPr txBox="1"/>
          <p:nvPr/>
        </p:nvSpPr>
        <p:spPr>
          <a:xfrm>
            <a:off x="10241280" y="274320"/>
            <a:ext cx="1435608" cy="914400"/>
          </a:xfrm>
          <a:prstGeom prst="rect">
            <a:avLst/>
          </a:prstGeom>
          <a:noFill/>
          <a:ln/>
        </p:spPr>
        <p:txBody>
          <a:bodyPr wrap="square" lIns="0" tIns="0" rIns="0" bIns="0" rtlCol="0" anchor="ctr"/>
          <a:lstStyle/>
          <a:p>
            <a:pPr algn="r" indent="0" marL="0">
              <a:buNone/>
            </a:pPr>
            <a:r>
              <a:rPr lang="en-US" sz="5400" b="1" dirty="0">
                <a:solidFill>
                  <a:srgbClr val="DCE4EA"/>
                </a:solidFill>
                <a:latin typeface="Cambria" pitchFamily="34" charset="0"/>
                <a:ea typeface="Cambria" pitchFamily="34" charset="-122"/>
                <a:cs typeface="Cambria" pitchFamily="34" charset="-120"/>
              </a:rPr>
              <a:t>01</a:t>
            </a:r>
            <a:endParaRPr lang="en-US" sz="5400" dirty="0"/>
          </a:p>
        </p:txBody>
      </p:sp>
      <p:sp>
        <p:nvSpPr>
          <p:cNvPr id="5" name="Text 3"/>
          <p:cNvSpPr txBox="1"/>
          <p:nvPr/>
        </p:nvSpPr>
        <p:spPr>
          <a:xfrm>
            <a:off x="7315200" y="6382512"/>
            <a:ext cx="4361688" cy="274320"/>
          </a:xfrm>
          <a:prstGeom prst="rect">
            <a:avLst/>
          </a:prstGeom>
          <a:noFill/>
          <a:ln/>
        </p:spPr>
        <p:txBody>
          <a:bodyPr wrap="square" lIns="0" tIns="0" rIns="0" bIns="0" rtlCol="0" anchor="ctr"/>
          <a:lstStyle/>
          <a:p>
            <a:pPr algn="r" indent="0" marL="0">
              <a:buNone/>
            </a:pPr>
            <a:r>
              <a:rPr lang="en-US" sz="1000" dirty="0">
                <a:solidFill>
                  <a:srgbClr val="4E5A64"/>
                </a:solidFill>
                <a:latin typeface="Calibri" pitchFamily="34" charset="0"/>
                <a:ea typeface="Calibri" pitchFamily="34" charset="-122"/>
                <a:cs typeface="Calibri" pitchFamily="34" charset="-120"/>
              </a:rPr>
              <a:t>PPC · Sep 28–Oct 2</a:t>
            </a:r>
            <a:endParaRPr lang="en-US" sz="1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1036808" cy="914400"/>
        </p:xfrm>
        <a:graphic>
          <a:graphicData uri="http://schemas.openxmlformats.org/drawingml/2006/table">
            <a:tbl>
              <a:tblPr/>
              <a:tblGrid>
                <a:gridCol w="2743200"/>
                <a:gridCol w="3017520"/>
                <a:gridCol w="3995928"/>
                <a:gridCol w="1280160"/>
              </a:tblGrid>
              <a:tr h="0">
                <a:tc>
                  <a:txBody>
                    <a:bodyPr/>
                    <a:lstStyle/>
                    <a:p>
                      <a:pPr indent="0" marL="0">
                        <a:buNone/>
                      </a:pPr>
                      <a:r>
                        <a:rPr lang="en-US" sz="950" b="1" spc="150" kern="0" dirty="0">
                          <a:solidFill>
                            <a:srgbClr val="3D4852"/>
                          </a:solidFill>
                          <a:latin typeface="Calibri" pitchFamily="34" charset="0"/>
                          <a:ea typeface="Calibri" pitchFamily="34" charset="-122"/>
                          <a:cs typeface="Calibri" pitchFamily="34" charset="-120"/>
                        </a:rPr>
                        <a:t>WORKSTREAM</a:t>
                      </a:r>
                      <a:endParaRPr lang="en-US" sz="950" dirty="0">
                        <a:latin typeface="Calibri" charset="0"/>
                        <a:ea typeface="Calibri" charset="0"/>
                        <a:cs typeface="Calibri" charset="0"/>
                      </a:endParaRPr>
                    </a:p>
                  </a:txBody>
                  <a:tcPr marL="54864" marR="54864" marT="18288" marB="64008" anchor="b">
                    <a:lnL w="0" cap="flat" cmpd="sng" algn="ctr">
                      <a:noFill/>
                    </a:lnL>
                    <a:lnR w="0" cap="flat" cmpd="sng" algn="ctr">
                      <a:noFill/>
                    </a:lnR>
                    <a:lnT w="0" cap="flat" cmpd="sng" algn="ctr">
                      <a:noFill/>
                    </a:lnT>
                    <a:lnB w="15875" cap="flat" cmpd="sng" algn="ctr">
                      <a:solidFill>
                        <a:srgbClr val="111C24"/>
                      </a:solidFill>
                      <a:prstDash val="solid"/>
                      <a:round/>
                      <a:headEnd type="none" w="med" len="med"/>
                      <a:tailEnd type="none" w="med" len="med"/>
                    </a:lnB>
                  </a:tcPr>
                </a:tc>
                <a:tc>
                  <a:txBody>
                    <a:bodyPr/>
                    <a:lstStyle/>
                    <a:p>
                      <a:pPr indent="0" marL="0">
                        <a:buNone/>
                      </a:pPr>
                      <a:r>
                        <a:rPr lang="en-US" sz="950" b="1" spc="150" kern="0" dirty="0">
                          <a:solidFill>
                            <a:srgbClr val="3D4852"/>
                          </a:solidFill>
                          <a:latin typeface="Calibri" pitchFamily="34" charset="0"/>
                          <a:ea typeface="Calibri" pitchFamily="34" charset="-122"/>
                          <a:cs typeface="Calibri" pitchFamily="34" charset="-120"/>
                        </a:rPr>
                        <a:t>WHAT WAS PLANNED</a:t>
                      </a:r>
                      <a:endParaRPr lang="en-US" sz="950" dirty="0">
                        <a:latin typeface="Calibri" charset="0"/>
                        <a:ea typeface="Calibri" charset="0"/>
                        <a:cs typeface="Calibri" charset="0"/>
                      </a:endParaRPr>
                    </a:p>
                  </a:txBody>
                  <a:tcPr marL="54864" marR="54864" marT="18288" marB="64008" anchor="b">
                    <a:lnL w="0" cap="flat" cmpd="sng" algn="ctr">
                      <a:noFill/>
                    </a:lnL>
                    <a:lnR w="0" cap="flat" cmpd="sng" algn="ctr">
                      <a:noFill/>
                    </a:lnR>
                    <a:lnT w="0" cap="flat" cmpd="sng" algn="ctr">
                      <a:noFill/>
                    </a:lnT>
                    <a:lnB w="15875" cap="flat" cmpd="sng" algn="ctr">
                      <a:solidFill>
                        <a:srgbClr val="111C24"/>
                      </a:solidFill>
                      <a:prstDash val="solid"/>
                      <a:round/>
                      <a:headEnd type="none" w="med" len="med"/>
                      <a:tailEnd type="none" w="med" len="med"/>
                    </a:lnB>
                  </a:tcPr>
                </a:tc>
                <a:tc>
                  <a:txBody>
                    <a:bodyPr/>
                    <a:lstStyle/>
                    <a:p>
                      <a:pPr indent="0" marL="0">
                        <a:buNone/>
                      </a:pPr>
                      <a:r>
                        <a:rPr lang="en-US" sz="950" b="1" spc="150" kern="0" dirty="0">
                          <a:solidFill>
                            <a:srgbClr val="3D4852"/>
                          </a:solidFill>
                          <a:latin typeface="Calibri" pitchFamily="34" charset="0"/>
                          <a:ea typeface="Calibri" pitchFamily="34" charset="-122"/>
                          <a:cs typeface="Calibri" pitchFamily="34" charset="-120"/>
                        </a:rPr>
                        <a:t>WHAT ACTUALLY HAPPENED</a:t>
                      </a:r>
                      <a:endParaRPr lang="en-US" sz="950" dirty="0">
                        <a:latin typeface="Calibri" charset="0"/>
                        <a:ea typeface="Calibri" charset="0"/>
                        <a:cs typeface="Calibri" charset="0"/>
                      </a:endParaRPr>
                    </a:p>
                  </a:txBody>
                  <a:tcPr marL="54864" marR="54864" marT="18288" marB="64008" anchor="b">
                    <a:lnL w="0" cap="flat" cmpd="sng" algn="ctr">
                      <a:noFill/>
                    </a:lnL>
                    <a:lnR w="0" cap="flat" cmpd="sng" algn="ctr">
                      <a:noFill/>
                    </a:lnR>
                    <a:lnT w="0" cap="flat" cmpd="sng" algn="ctr">
                      <a:noFill/>
                    </a:lnT>
                    <a:lnB w="15875" cap="flat" cmpd="sng" algn="ctr">
                      <a:solidFill>
                        <a:srgbClr val="111C24"/>
                      </a:solidFill>
                      <a:prstDash val="solid"/>
                      <a:round/>
                      <a:headEnd type="none" w="med" len="med"/>
                      <a:tailEnd type="none" w="med" len="med"/>
                    </a:lnB>
                  </a:tcPr>
                </a:tc>
                <a:tc>
                  <a:txBody>
                    <a:bodyPr/>
                    <a:lstStyle/>
                    <a:p>
                      <a:pPr indent="0" marL="0">
                        <a:buNone/>
                      </a:pPr>
                      <a:r>
                        <a:rPr lang="en-US" sz="950" b="1" spc="150" kern="0" dirty="0">
                          <a:solidFill>
                            <a:srgbClr val="3D4852"/>
                          </a:solidFill>
                          <a:latin typeface="Calibri" pitchFamily="34" charset="0"/>
                          <a:ea typeface="Calibri" pitchFamily="34" charset="-122"/>
                          <a:cs typeface="Calibri" pitchFamily="34" charset="-120"/>
                        </a:rPr>
                        <a:t>STATUS</a:t>
                      </a:r>
                      <a:endParaRPr lang="en-US" sz="950" dirty="0">
                        <a:latin typeface="Calibri" charset="0"/>
                        <a:ea typeface="Calibri" charset="0"/>
                        <a:cs typeface="Calibri" charset="0"/>
                      </a:endParaRPr>
                    </a:p>
                  </a:txBody>
                  <a:tcPr marL="54864" marR="54864" marT="18288" marB="64008" anchor="b">
                    <a:lnL w="0" cap="flat" cmpd="sng" algn="ctr">
                      <a:noFill/>
                    </a:lnL>
                    <a:lnR w="0" cap="flat" cmpd="sng" algn="ctr">
                      <a:noFill/>
                    </a:lnR>
                    <a:lnT w="0" cap="flat" cmpd="sng" algn="ctr">
                      <a:noFill/>
                    </a:lnT>
                    <a:lnB w="15875" cap="flat" cmpd="sng" algn="ctr">
                      <a:solidFill>
                        <a:srgbClr val="111C24"/>
                      </a:solidFill>
                      <a:prstDash val="solid"/>
                      <a:round/>
                      <a:headEnd type="none" w="med" len="med"/>
                      <a:tailEnd type="none" w="med" len="med"/>
                    </a:lnB>
                  </a:tcPr>
                </a:tc>
              </a:tr>
              <a:tr h="0">
                <a:tc>
                  <a:txBody>
                    <a:bodyPr/>
                    <a:lstStyle/>
                    <a:p>
                      <a:pPr indent="0" marL="0">
                        <a:buNone/>
                      </a:pPr>
                      <a:r>
                        <a:rPr lang="en-US" sz="1150" b="1" dirty="0">
                          <a:solidFill>
                            <a:srgbClr val="111C24"/>
                          </a:solidFill>
                          <a:latin typeface="Calibri" pitchFamily="34" charset="0"/>
                          <a:ea typeface="Calibri" pitchFamily="34" charset="-122"/>
                          <a:cs typeface="Calibri" pitchFamily="34" charset="-120"/>
                        </a:rPr>
                        <a:t>Nine-product audit cycle</a:t>
                      </a:r>
                      <a:endParaRPr lang="en-US" sz="1150" dirty="0">
                        <a:latin typeface="Calibri" charset="0"/>
                        <a:ea typeface="Calibri" charset="0"/>
                        <a:cs typeface="Calibri" charset="0"/>
                      </a:endParaRPr>
                    </a:p>
                    <a:p>
                      <a:pPr indent="0" marL="0">
                        <a:buNone/>
                      </a:pPr>
                      <a:r>
                        <a:rPr lang="en-US" sz="1050" dirty="0">
                          <a:solidFill>
                            <a:srgbClr val="4E5A64"/>
                          </a:solidFill>
                          <a:latin typeface="Calibri" pitchFamily="34" charset="0"/>
                          <a:ea typeface="Calibri" pitchFamily="34" charset="-122"/>
                          <a:cs typeface="Calibri" pitchFamily="34" charset="-120"/>
                        </a:rPr>
                        <a:t>All three · weekly cycle · P0</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All nine audited, reviewed by all three and executed through the app. Bamboo Monday, the rest Tuesday</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Feedback posted on six: B4, B6, S4, S6, Satin Fitted, SS-S4. The remaining three, Cooling Sheets 4-PC, Bamboo Fitted and Cooling Fitted, are being completed today</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b="1" dirty="0">
                          <a:solidFill>
                            <a:srgbClr val="6E4A0F"/>
                          </a:solidFill>
                          <a:latin typeface="Calibri" pitchFamily="34" charset="0"/>
                          <a:ea typeface="Calibri" pitchFamily="34" charset="-122"/>
                          <a:cs typeface="Calibri" pitchFamily="34" charset="-120"/>
                        </a:rPr>
                        <a:t>6 of 9 · 3 today</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solidFill>
                      <a:srgbClr val="FBF0DC"/>
                    </a:solidFill>
                  </a:tcPr>
                </a:tc>
              </a:tr>
              <a:tr h="0">
                <a:tc>
                  <a:txBody>
                    <a:bodyPr/>
                    <a:lstStyle/>
                    <a:p>
                      <a:pPr indent="0" marL="0">
                        <a:buNone/>
                      </a:pPr>
                      <a:r>
                        <a:rPr lang="en-US" sz="1150" b="1" dirty="0">
                          <a:solidFill>
                            <a:srgbClr val="111C24"/>
                          </a:solidFill>
                          <a:latin typeface="Calibri" pitchFamily="34" charset="0"/>
                          <a:ea typeface="Calibri" pitchFamily="34" charset="-122"/>
                          <a:cs typeface="Calibri" pitchFamily="34" charset="-120"/>
                        </a:rPr>
                        <a:t>Engine corrections &amp; feedback</a:t>
                      </a:r>
                      <a:endParaRPr lang="en-US" sz="1150" dirty="0">
                        <a:latin typeface="Calibri" charset="0"/>
                        <a:ea typeface="Calibri" charset="0"/>
                        <a:cs typeface="Calibri" charset="0"/>
                      </a:endParaRPr>
                    </a:p>
                    <a:p>
                      <a:pPr indent="0" marL="0">
                        <a:buNone/>
                      </a:pPr>
                      <a:r>
                        <a:rPr lang="en-US" sz="1050" dirty="0">
                          <a:solidFill>
                            <a:srgbClr val="4E5A64"/>
                          </a:solidFill>
                          <a:latin typeface="Calibri" pitchFamily="34" charset="0"/>
                          <a:ea typeface="Calibri" pitchFamily="34" charset="-122"/>
                          <a:cs typeface="Calibri" pitchFamily="34" charset="-120"/>
                        </a:rPr>
                        <a:t>Joseph with PPC review · P0</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One consolidated note per product to Joseph, engine fixed and the audits re-run on the corrections</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B4 and B6 corrections applied and re-audited 29 Sep, the first clean 218/218 pass. Engine feedback doc and issue register delivered today</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b="1" dirty="0">
                          <a:solidFill>
                            <a:srgbClr val="176B41"/>
                          </a:solidFill>
                          <a:latin typeface="Calibri" pitchFamily="34" charset="0"/>
                          <a:ea typeface="Calibri" pitchFamily="34" charset="-122"/>
                          <a:cs typeface="Calibri" pitchFamily="34" charset="-120"/>
                        </a:rPr>
                        <a:t>Done</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solidFill>
                      <a:srgbClr val="E6F4EC"/>
                    </a:solidFill>
                  </a:tcPr>
                </a:tc>
              </a:tr>
              <a:tr h="0">
                <a:tc>
                  <a:txBody>
                    <a:bodyPr/>
                    <a:lstStyle/>
                    <a:p>
                      <a:pPr indent="0" marL="0">
                        <a:buNone/>
                      </a:pPr>
                      <a:r>
                        <a:rPr lang="en-US" sz="1150" b="1" dirty="0">
                          <a:solidFill>
                            <a:srgbClr val="111C24"/>
                          </a:solidFill>
                          <a:latin typeface="Calibri" pitchFamily="34" charset="0"/>
                          <a:ea typeface="Calibri" pitchFamily="34" charset="-122"/>
                          <a:cs typeface="Calibri" pitchFamily="34" charset="-120"/>
                        </a:rPr>
                        <a:t>Bamboo ranking push (B4, B6)</a:t>
                      </a:r>
                      <a:endParaRPr lang="en-US" sz="1150" dirty="0">
                        <a:latin typeface="Calibri" charset="0"/>
                        <a:ea typeface="Calibri" charset="0"/>
                        <a:cs typeface="Calibri" charset="0"/>
                      </a:endParaRPr>
                    </a:p>
                    <a:p>
                      <a:pPr indent="0" marL="0">
                        <a:buNone/>
                      </a:pPr>
                      <a:r>
                        <a:rPr lang="en-US" sz="1050" dirty="0">
                          <a:solidFill>
                            <a:srgbClr val="4E5A64"/>
                          </a:solidFill>
                          <a:latin typeface="Calibri" pitchFamily="34" charset="0"/>
                          <a:ea typeface="Calibri" pitchFamily="34" charset="-122"/>
                          <a:cs typeface="Calibri" pitchFamily="34" charset="-120"/>
                        </a:rPr>
                        <a:t>Shayan T with Joseph · P0</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One ranking plan per listing, matched to Joseph's keyword story and plan of attack, before the pushes start</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Plan of attack shared 1 Oct. B4 and B6 plans finalised 2 Oct: B4 follows its start dates and colours by size; B6 replaces the 30 Sep plan. Erik's 2 Oct points built in</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b="1" dirty="0">
                          <a:solidFill>
                            <a:srgbClr val="176B41"/>
                          </a:solidFill>
                          <a:latin typeface="Calibri" pitchFamily="34" charset="0"/>
                          <a:ea typeface="Calibri" pitchFamily="34" charset="-122"/>
                          <a:cs typeface="Calibri" pitchFamily="34" charset="-120"/>
                        </a:rPr>
                        <a:t>Plans final</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solidFill>
                      <a:srgbClr val="E6F4EC"/>
                    </a:solidFill>
                  </a:tcPr>
                </a:tc>
              </a:tr>
              <a:tr h="0">
                <a:tc>
                  <a:txBody>
                    <a:bodyPr/>
                    <a:lstStyle/>
                    <a:p>
                      <a:pPr indent="0" marL="0">
                        <a:buNone/>
                      </a:pPr>
                      <a:r>
                        <a:rPr lang="en-US" sz="1150" b="1" dirty="0">
                          <a:solidFill>
                            <a:srgbClr val="111C24"/>
                          </a:solidFill>
                          <a:latin typeface="Calibri" pitchFamily="34" charset="0"/>
                          <a:ea typeface="Calibri" pitchFamily="34" charset="-122"/>
                          <a:cs typeface="Calibri" pitchFamily="34" charset="-120"/>
                        </a:rPr>
                        <a:t>Process deliverables</a:t>
                      </a:r>
                      <a:endParaRPr lang="en-US" sz="1150" dirty="0">
                        <a:latin typeface="Calibri" charset="0"/>
                        <a:ea typeface="Calibri" charset="0"/>
                        <a:cs typeface="Calibri" charset="0"/>
                      </a:endParaRPr>
                    </a:p>
                    <a:p>
                      <a:pPr indent="0" marL="0">
                        <a:buNone/>
                      </a:pPr>
                      <a:r>
                        <a:rPr lang="en-US" sz="1050" dirty="0">
                          <a:solidFill>
                            <a:srgbClr val="4E5A64"/>
                          </a:solidFill>
                          <a:latin typeface="Calibri" pitchFamily="34" charset="0"/>
                          <a:ea typeface="Calibri" pitchFamily="34" charset="-122"/>
                          <a:cs typeface="Calibri" pitchFamily="34" charset="-120"/>
                        </a:rPr>
                        <a:t>Shayan T · one-off · P0</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Campaign-type list Wednesday, ad-type framework Friday, stabilisation proposal by end of week. Re-set on the 30 Sep call: ranking plan first, the rest by end of week</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Ranking plan sent 1 Oct as agreed. Campaign-type list, ad-type plan (Bamboo first), frameworks and stabilisation proposal due end of week, 3–4 Oct. SB, SBV and SD held for creative, so the 1 Oct API launch did not happen</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b="1" dirty="0">
                          <a:solidFill>
                            <a:srgbClr val="6E4A0F"/>
                          </a:solidFill>
                          <a:latin typeface="Calibri" pitchFamily="34" charset="0"/>
                          <a:ea typeface="Calibri" pitchFamily="34" charset="-122"/>
                          <a:cs typeface="Calibri" pitchFamily="34" charset="-120"/>
                        </a:rPr>
                        <a:t>Due end of week</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solidFill>
                      <a:srgbClr val="FBF0DC"/>
                    </a:solidFill>
                  </a:tcPr>
                </a:tc>
              </a:tr>
              <a:tr h="0">
                <a:tc>
                  <a:txBody>
                    <a:bodyPr/>
                    <a:lstStyle/>
                    <a:p>
                      <a:pPr indent="0" marL="0">
                        <a:buNone/>
                      </a:pPr>
                      <a:r>
                        <a:rPr lang="en-US" sz="1150" b="1" dirty="0">
                          <a:solidFill>
                            <a:srgbClr val="111C24"/>
                          </a:solidFill>
                          <a:latin typeface="Calibri" pitchFamily="34" charset="0"/>
                          <a:ea typeface="Calibri" pitchFamily="34" charset="-122"/>
                          <a:cs typeface="Calibri" pitchFamily="34" charset="-120"/>
                        </a:rPr>
                        <a:t>CooLinens Pillowcase launch</a:t>
                      </a:r>
                      <a:endParaRPr lang="en-US" sz="1150" dirty="0">
                        <a:latin typeface="Calibri" charset="0"/>
                        <a:ea typeface="Calibri" charset="0"/>
                        <a:cs typeface="Calibri" charset="0"/>
                      </a:endParaRPr>
                    </a:p>
                    <a:p>
                      <a:pPr indent="0" marL="0">
                        <a:buNone/>
                      </a:pPr>
                      <a:r>
                        <a:rPr lang="en-US" sz="1050" dirty="0">
                          <a:solidFill>
                            <a:srgbClr val="4E5A64"/>
                          </a:solidFill>
                          <a:latin typeface="Calibri" pitchFamily="34" charset="0"/>
                          <a:ea typeface="Calibri" pitchFamily="34" charset="-122"/>
                          <a:cs typeface="Calibri" pitchFamily="34" charset="-120"/>
                        </a:rPr>
                        <a:t>Shayan T · one-off · P0</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PPC launch strategy delivered Monday 28 Sep, campaigns live with the listing</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Launch workbook shared 28 Sep, revised with a strategy doc on Erik's feedback 29 Sep. Listing goes live on Amazon today, 2 Oct, and PPC launches with it</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b="1" dirty="0">
                          <a:solidFill>
                            <a:srgbClr val="176B41"/>
                          </a:solidFill>
                          <a:latin typeface="Calibri" pitchFamily="34" charset="0"/>
                          <a:ea typeface="Calibri" pitchFamily="34" charset="-122"/>
                          <a:cs typeface="Calibri" pitchFamily="34" charset="-120"/>
                        </a:rPr>
                        <a:t>Launching today</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solidFill>
                      <a:srgbClr val="E6F4EC"/>
                    </a:solidFill>
                  </a:tcPr>
                </a:tc>
              </a:tr>
              <a:tr h="0">
                <a:tc>
                  <a:txBody>
                    <a:bodyPr/>
                    <a:lstStyle/>
                    <a:p>
                      <a:pPr indent="0" marL="0">
                        <a:buNone/>
                      </a:pPr>
                      <a:r>
                        <a:rPr lang="en-US" sz="1150" b="1" dirty="0">
                          <a:solidFill>
                            <a:srgbClr val="111C24"/>
                          </a:solidFill>
                          <a:latin typeface="Calibri" pitchFamily="34" charset="0"/>
                          <a:ea typeface="Calibri" pitchFamily="34" charset="-122"/>
                          <a:cs typeface="Calibri" pitchFamily="34" charset="-120"/>
                        </a:rPr>
                        <a:t>Cadence &amp; daily oversight</a:t>
                      </a:r>
                      <a:endParaRPr lang="en-US" sz="1150" dirty="0">
                        <a:latin typeface="Calibri" charset="0"/>
                        <a:ea typeface="Calibri" charset="0"/>
                        <a:cs typeface="Calibri" charset="0"/>
                      </a:endParaRPr>
                    </a:p>
                    <a:p>
                      <a:pPr indent="0" marL="0">
                        <a:buNone/>
                      </a:pPr>
                      <a:r>
                        <a:rPr lang="en-US" sz="1050" dirty="0">
                          <a:solidFill>
                            <a:srgbClr val="4E5A64"/>
                          </a:solidFill>
                          <a:latin typeface="Calibri" pitchFamily="34" charset="0"/>
                          <a:ea typeface="Calibri" pitchFamily="34" charset="-122"/>
                          <a:cs typeface="Calibri" pitchFamily="34" charset="-120"/>
                        </a:rPr>
                        <a:t>All owners · daily · P1</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Daily spend check on the top 20% of campaigns, Tuesday to Friday</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Daily huddles ran. No spend-check or change-log records posted. Monday meeting dropped; two Joseph calls cancelled</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b="1" dirty="0">
                          <a:solidFill>
                            <a:srgbClr val="9C3D31"/>
                          </a:solidFill>
                          <a:latin typeface="Calibri" pitchFamily="34" charset="0"/>
                          <a:ea typeface="Calibri" pitchFamily="34" charset="-122"/>
                          <a:cs typeface="Calibri" pitchFamily="34" charset="-120"/>
                        </a:rPr>
                        <a:t>0 of 4 logged</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solidFill>
                      <a:srgbClr val="FAE9E6"/>
                    </a:solidFill>
                  </a:tcPr>
                </a:tc>
              </a:tr>
            </a:tbl>
          </a:graphicData>
        </a:graphic>
      </p:graphicFrame>
      <p:sp>
        <p:nvSpPr>
          <p:cNvPr id="7" name="Text 4"/>
          <p:cNvSpPr txBox="1"/>
          <p:nvPr/>
        </p:nvSpPr>
        <p:spPr>
          <a:xfrm>
            <a:off x="640080" y="6035040"/>
            <a:ext cx="11036808" cy="274320"/>
          </a:xfrm>
          <a:prstGeom prst="rect">
            <a:avLst/>
          </a:prstGeom>
          <a:noFill/>
          <a:ln/>
        </p:spPr>
        <p:txBody>
          <a:bodyPr wrap="square" lIns="0" tIns="0" rIns="0" bIns="0" rtlCol="0" anchor="t"/>
          <a:lstStyle/>
          <a:p>
            <a:pPr indent="0" marL="0">
              <a:buNone/>
            </a:pPr>
            <a:r>
              <a:rPr lang="en-US" sz="950" dirty="0">
                <a:solidFill>
                  <a:srgbClr val="4E5A64"/>
                </a:solidFill>
                <a:latin typeface="Calibri" pitchFamily="34" charset="0"/>
                <a:ea typeface="Calibri" pitchFamily="34" charset="-122"/>
                <a:cs typeface="Calibri" pitchFamily="34" charset="-120"/>
              </a:rPr>
              <a:t>Source: #ppc-internal-channel, #ppc-managers-only, #amazon-ppc (Keyword Story thread), #ppc-leadership and the 30 Sep call with Erik and Joseph, 28 Sep to 2 Oct, read against the PPC Weekly Plan v5 of 28 Sep · pulled 2026-10-02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402336"/>
            <a:ext cx="9326880" cy="292608"/>
          </a:xfrm>
          <a:prstGeom prst="rect">
            <a:avLst/>
          </a:prstGeom>
          <a:noFill/>
          <a:ln/>
        </p:spPr>
        <p:txBody>
          <a:bodyPr wrap="square" lIns="0" tIns="0" rIns="0" bIns="0" rtlCol="0" anchor="ctr"/>
          <a:lstStyle/>
          <a:p>
            <a:pPr indent="0" marL="0">
              <a:buNone/>
            </a:pPr>
            <a:r>
              <a:rPr lang="en-US" sz="1100" b="1" spc="300" kern="0" dirty="0">
                <a:solidFill>
                  <a:srgbClr val="3D4852"/>
                </a:solidFill>
                <a:latin typeface="Calibri" pitchFamily="34" charset="0"/>
                <a:ea typeface="Calibri" pitchFamily="34" charset="-122"/>
                <a:cs typeface="Calibri" pitchFamily="34" charset="-120"/>
              </a:rPr>
              <a:t>PPC   ·   BAMBOO   ·   B4 AND B6 RANKING PLANS</a:t>
            </a:r>
            <a:endParaRPr lang="en-US" sz="1100" dirty="0"/>
          </a:p>
        </p:txBody>
      </p:sp>
      <p:sp>
        <p:nvSpPr>
          <p:cNvPr id="3" name="Text 1"/>
          <p:cNvSpPr txBox="1"/>
          <p:nvPr/>
        </p:nvSpPr>
        <p:spPr>
          <a:xfrm>
            <a:off x="640080" y="676656"/>
            <a:ext cx="9326880" cy="658368"/>
          </a:xfrm>
          <a:prstGeom prst="rect">
            <a:avLst/>
          </a:prstGeom>
          <a:noFill/>
          <a:ln/>
        </p:spPr>
        <p:txBody>
          <a:bodyPr wrap="square" lIns="0" tIns="0" rIns="0" bIns="0" rtlCol="0" anchor="ctr"/>
          <a:lstStyle/>
          <a:p>
            <a:pPr indent="0" marL="0">
              <a:buNone/>
            </a:pPr>
            <a:r>
              <a:rPr lang="en-US" sz="3000" b="1" dirty="0">
                <a:solidFill>
                  <a:srgbClr val="111C24"/>
                </a:solidFill>
                <a:latin typeface="Cambria" pitchFamily="34" charset="0"/>
                <a:ea typeface="Cambria" pitchFamily="34" charset="-122"/>
                <a:cs typeface="Cambria" pitchFamily="34" charset="-120"/>
              </a:rPr>
              <a:t>Bamboo ranking push: done and next</a:t>
            </a:r>
            <a:endParaRPr lang="en-US" sz="3000" dirty="0"/>
          </a:p>
        </p:txBody>
      </p:sp>
      <p:sp>
        <p:nvSpPr>
          <p:cNvPr id="4" name="Text 2"/>
          <p:cNvSpPr txBox="1"/>
          <p:nvPr/>
        </p:nvSpPr>
        <p:spPr>
          <a:xfrm>
            <a:off x="10241280" y="274320"/>
            <a:ext cx="1435608" cy="914400"/>
          </a:xfrm>
          <a:prstGeom prst="rect">
            <a:avLst/>
          </a:prstGeom>
          <a:noFill/>
          <a:ln/>
        </p:spPr>
        <p:txBody>
          <a:bodyPr wrap="square" lIns="0" tIns="0" rIns="0" bIns="0" rtlCol="0" anchor="ctr"/>
          <a:lstStyle/>
          <a:p>
            <a:pPr algn="r" indent="0" marL="0">
              <a:buNone/>
            </a:pPr>
            <a:r>
              <a:rPr lang="en-US" sz="5400" b="1" dirty="0">
                <a:solidFill>
                  <a:srgbClr val="DCE4EA"/>
                </a:solidFill>
                <a:latin typeface="Cambria" pitchFamily="34" charset="0"/>
                <a:ea typeface="Cambria" pitchFamily="34" charset="-122"/>
                <a:cs typeface="Cambria" pitchFamily="34" charset="-120"/>
              </a:rPr>
              <a:t>02</a:t>
            </a:r>
            <a:endParaRPr lang="en-US" sz="5400" dirty="0"/>
          </a:p>
        </p:txBody>
      </p:sp>
      <p:sp>
        <p:nvSpPr>
          <p:cNvPr id="5" name="Text 3"/>
          <p:cNvSpPr txBox="1"/>
          <p:nvPr/>
        </p:nvSpPr>
        <p:spPr>
          <a:xfrm>
            <a:off x="7315200" y="6382512"/>
            <a:ext cx="4361688" cy="274320"/>
          </a:xfrm>
          <a:prstGeom prst="rect">
            <a:avLst/>
          </a:prstGeom>
          <a:noFill/>
          <a:ln/>
        </p:spPr>
        <p:txBody>
          <a:bodyPr wrap="square" lIns="0" tIns="0" rIns="0" bIns="0" rtlCol="0" anchor="ctr"/>
          <a:lstStyle/>
          <a:p>
            <a:pPr algn="r" indent="0" marL="0">
              <a:buNone/>
            </a:pPr>
            <a:r>
              <a:rPr lang="en-US" sz="1000" dirty="0">
                <a:solidFill>
                  <a:srgbClr val="4E5A64"/>
                </a:solidFill>
                <a:latin typeface="Calibri" pitchFamily="34" charset="0"/>
                <a:ea typeface="Calibri" pitchFamily="34" charset="-122"/>
                <a:cs typeface="Calibri" pitchFamily="34" charset="-120"/>
              </a:rPr>
              <a:t>PPC · Sep 28–Oct 2</a:t>
            </a:r>
            <a:endParaRPr lang="en-US" sz="1000" dirty="0"/>
          </a:p>
        </p:txBody>
      </p:sp>
      <p:sp>
        <p:nvSpPr>
          <p:cNvPr id="6" name="Shape 4"/>
          <p:cNvSpPr/>
          <p:nvPr/>
        </p:nvSpPr>
        <p:spPr>
          <a:xfrm>
            <a:off x="640080" y="1481328"/>
            <a:ext cx="5321808" cy="3017520"/>
          </a:xfrm>
          <a:prstGeom prst="roundRect">
            <a:avLst>
              <a:gd name="adj" fmla="val 1818"/>
            </a:avLst>
          </a:prstGeom>
          <a:solidFill>
            <a:srgbClr val="FFFFFF"/>
          </a:solidFill>
          <a:ln w="9525">
            <a:solidFill>
              <a:srgbClr val="BFCAD3"/>
            </a:solidFill>
            <a:prstDash val="solid"/>
          </a:ln>
        </p:spPr>
      </p:sp>
      <p:sp>
        <p:nvSpPr>
          <p:cNvPr id="7" name="Text 5"/>
          <p:cNvSpPr txBox="1"/>
          <p:nvPr/>
        </p:nvSpPr>
        <p:spPr>
          <a:xfrm>
            <a:off x="868680" y="1600200"/>
            <a:ext cx="4846320" cy="329184"/>
          </a:xfrm>
          <a:prstGeom prst="rect">
            <a:avLst/>
          </a:prstGeom>
          <a:noFill/>
          <a:ln/>
        </p:spPr>
        <p:txBody>
          <a:bodyPr wrap="square" lIns="0" tIns="0" rIns="0" bIns="0" rtlCol="0" anchor="ctr"/>
          <a:lstStyle/>
          <a:p>
            <a:pPr indent="0" marL="0">
              <a:buNone/>
            </a:pPr>
            <a:r>
              <a:rPr lang="en-US" sz="1400" b="1" dirty="0">
                <a:solidFill>
                  <a:srgbClr val="176B41"/>
                </a:solidFill>
                <a:latin typeface="Calibri" pitchFamily="34" charset="0"/>
                <a:ea typeface="Calibri" pitchFamily="34" charset="-122"/>
                <a:cs typeface="Calibri" pitchFamily="34" charset="-120"/>
              </a:rPr>
              <a:t>B4  </a:t>
            </a:r>
            <a:pPr indent="0" marL="0">
              <a:buNone/>
            </a:pPr>
            <a:r>
              <a:rPr lang="en-US" sz="1400" dirty="0">
                <a:solidFill>
                  <a:srgbClr val="3D4852"/>
                </a:solidFill>
                <a:latin typeface="Calibri" pitchFamily="34" charset="0"/>
                <a:ea typeface="Calibri" pitchFamily="34" charset="-122"/>
                <a:cs typeface="Calibri" pitchFamily="34" charset="-120"/>
              </a:rPr>
              <a:t>Bamboo Sheets, 4 Piece</a:t>
            </a:r>
            <a:endParaRPr lang="en-US" sz="1400" dirty="0"/>
          </a:p>
        </p:txBody>
      </p:sp>
      <p:sp>
        <p:nvSpPr>
          <p:cNvPr id="8" name="Text 6"/>
          <p:cNvSpPr txBox="1"/>
          <p:nvPr/>
        </p:nvSpPr>
        <p:spPr>
          <a:xfrm>
            <a:off x="868680" y="1993392"/>
            <a:ext cx="1225296" cy="457200"/>
          </a:xfrm>
          <a:prstGeom prst="rect">
            <a:avLst/>
          </a:prstGeom>
          <a:noFill/>
          <a:ln/>
        </p:spPr>
        <p:txBody>
          <a:bodyPr wrap="square" lIns="0" tIns="0" rIns="0" bIns="0" rtlCol="0" anchor="ctr"/>
          <a:lstStyle/>
          <a:p>
            <a:pPr indent="0" marL="0">
              <a:buNone/>
            </a:pPr>
            <a:r>
              <a:rPr lang="en-US" sz="2200" b="1" dirty="0">
                <a:solidFill>
                  <a:srgbClr val="111C24"/>
                </a:solidFill>
                <a:latin typeface="Cambria" pitchFamily="34" charset="0"/>
                <a:ea typeface="Cambria" pitchFamily="34" charset="-122"/>
                <a:cs typeface="Cambria" pitchFamily="34" charset="-120"/>
              </a:rPr>
              <a:t>29</a:t>
            </a:r>
            <a:endParaRPr lang="en-US" sz="2200" dirty="0"/>
          </a:p>
        </p:txBody>
      </p:sp>
      <p:sp>
        <p:nvSpPr>
          <p:cNvPr id="9" name="Text 7"/>
          <p:cNvSpPr txBox="1"/>
          <p:nvPr/>
        </p:nvSpPr>
        <p:spPr>
          <a:xfrm>
            <a:off x="868680" y="2450592"/>
            <a:ext cx="1188720" cy="384048"/>
          </a:xfrm>
          <a:prstGeom prst="rect">
            <a:avLst/>
          </a:prstGeom>
          <a:noFill/>
          <a:ln/>
        </p:spPr>
        <p:txBody>
          <a:bodyPr wrap="square" lIns="0" tIns="0" rIns="0" bIns="0" rtlCol="0" anchor="t"/>
          <a:lstStyle/>
          <a:p>
            <a:pPr indent="0" marL="0">
              <a:buNone/>
            </a:pPr>
            <a:r>
              <a:rPr lang="en-US" sz="950" dirty="0">
                <a:solidFill>
                  <a:srgbClr val="4E5A64"/>
                </a:solidFill>
                <a:latin typeface="Calibri" pitchFamily="34" charset="0"/>
                <a:ea typeface="Calibri" pitchFamily="34" charset="-122"/>
                <a:cs typeface="Calibri" pitchFamily="34" charset="-120"/>
              </a:rPr>
              <a:t>exact keywords</a:t>
            </a:r>
            <a:endParaRPr lang="en-US" sz="950" dirty="0"/>
          </a:p>
        </p:txBody>
      </p:sp>
      <p:sp>
        <p:nvSpPr>
          <p:cNvPr id="10" name="Text 8"/>
          <p:cNvSpPr txBox="1"/>
          <p:nvPr/>
        </p:nvSpPr>
        <p:spPr>
          <a:xfrm>
            <a:off x="2130552" y="1993392"/>
            <a:ext cx="1225296" cy="457200"/>
          </a:xfrm>
          <a:prstGeom prst="rect">
            <a:avLst/>
          </a:prstGeom>
          <a:noFill/>
          <a:ln/>
        </p:spPr>
        <p:txBody>
          <a:bodyPr wrap="square" lIns="0" tIns="0" rIns="0" bIns="0" rtlCol="0" anchor="ctr"/>
          <a:lstStyle/>
          <a:p>
            <a:pPr indent="0" marL="0">
              <a:buNone/>
            </a:pPr>
            <a:r>
              <a:rPr lang="en-US" sz="2200" b="1" dirty="0">
                <a:solidFill>
                  <a:srgbClr val="111C24"/>
                </a:solidFill>
                <a:latin typeface="Cambria" pitchFamily="34" charset="0"/>
                <a:ea typeface="Cambria" pitchFamily="34" charset="-122"/>
                <a:cs typeface="Cambria" pitchFamily="34" charset="-120"/>
              </a:rPr>
              <a:t>$1,200</a:t>
            </a:r>
            <a:endParaRPr lang="en-US" sz="2200" dirty="0"/>
          </a:p>
        </p:txBody>
      </p:sp>
      <p:sp>
        <p:nvSpPr>
          <p:cNvPr id="11" name="Text 9"/>
          <p:cNvSpPr txBox="1"/>
          <p:nvPr/>
        </p:nvSpPr>
        <p:spPr>
          <a:xfrm>
            <a:off x="2130552" y="2450592"/>
            <a:ext cx="1188720" cy="384048"/>
          </a:xfrm>
          <a:prstGeom prst="rect">
            <a:avLst/>
          </a:prstGeom>
          <a:noFill/>
          <a:ln/>
        </p:spPr>
        <p:txBody>
          <a:bodyPr wrap="square" lIns="0" tIns="0" rIns="0" bIns="0" rtlCol="0" anchor="t"/>
          <a:lstStyle/>
          <a:p>
            <a:pPr indent="0" marL="0">
              <a:buNone/>
            </a:pPr>
            <a:r>
              <a:rPr lang="en-US" sz="950" dirty="0">
                <a:solidFill>
                  <a:srgbClr val="4E5A64"/>
                </a:solidFill>
                <a:latin typeface="Calibri" pitchFamily="34" charset="0"/>
                <a:ea typeface="Calibri" pitchFamily="34" charset="-122"/>
                <a:cs typeface="Calibri" pitchFamily="34" charset="-120"/>
              </a:rPr>
              <a:t>budget a day</a:t>
            </a:r>
            <a:endParaRPr lang="en-US" sz="950" dirty="0"/>
          </a:p>
        </p:txBody>
      </p:sp>
      <p:sp>
        <p:nvSpPr>
          <p:cNvPr id="12" name="Text 10"/>
          <p:cNvSpPr txBox="1"/>
          <p:nvPr/>
        </p:nvSpPr>
        <p:spPr>
          <a:xfrm>
            <a:off x="3392424" y="1993392"/>
            <a:ext cx="1225296" cy="457200"/>
          </a:xfrm>
          <a:prstGeom prst="rect">
            <a:avLst/>
          </a:prstGeom>
          <a:noFill/>
          <a:ln/>
        </p:spPr>
        <p:txBody>
          <a:bodyPr wrap="square" lIns="0" tIns="0" rIns="0" bIns="0" rtlCol="0" anchor="ctr"/>
          <a:lstStyle/>
          <a:p>
            <a:pPr indent="0" marL="0">
              <a:buNone/>
            </a:pPr>
            <a:r>
              <a:rPr lang="en-US" sz="2200" b="1" dirty="0">
                <a:solidFill>
                  <a:srgbClr val="111C24"/>
                </a:solidFill>
                <a:latin typeface="Cambria" pitchFamily="34" charset="0"/>
                <a:ea typeface="Cambria" pitchFamily="34" charset="-122"/>
                <a:cs typeface="Cambria" pitchFamily="34" charset="-120"/>
              </a:rPr>
              <a:t>$59.8K</a:t>
            </a:r>
            <a:endParaRPr lang="en-US" sz="2200" dirty="0"/>
          </a:p>
        </p:txBody>
      </p:sp>
      <p:sp>
        <p:nvSpPr>
          <p:cNvPr id="13" name="Text 11"/>
          <p:cNvSpPr txBox="1"/>
          <p:nvPr/>
        </p:nvSpPr>
        <p:spPr>
          <a:xfrm>
            <a:off x="3392424" y="2450592"/>
            <a:ext cx="1188720" cy="384048"/>
          </a:xfrm>
          <a:prstGeom prst="rect">
            <a:avLst/>
          </a:prstGeom>
          <a:noFill/>
          <a:ln/>
        </p:spPr>
        <p:txBody>
          <a:bodyPr wrap="square" lIns="0" tIns="0" rIns="0" bIns="0" rtlCol="0" anchor="t"/>
          <a:lstStyle/>
          <a:p>
            <a:pPr indent="0" marL="0">
              <a:buNone/>
            </a:pPr>
            <a:r>
              <a:rPr lang="en-US" sz="950" dirty="0">
                <a:solidFill>
                  <a:srgbClr val="4E5A64"/>
                </a:solidFill>
                <a:latin typeface="Calibri" pitchFamily="34" charset="0"/>
                <a:ea typeface="Calibri" pitchFamily="34" charset="-122"/>
                <a:cs typeface="Calibri" pitchFamily="34" charset="-120"/>
              </a:rPr>
              <a:t>nine weeks to 3 Dec</a:t>
            </a:r>
            <a:endParaRPr lang="en-US" sz="950" dirty="0"/>
          </a:p>
        </p:txBody>
      </p:sp>
      <p:sp>
        <p:nvSpPr>
          <p:cNvPr id="14" name="Text 12"/>
          <p:cNvSpPr txBox="1"/>
          <p:nvPr/>
        </p:nvSpPr>
        <p:spPr>
          <a:xfrm>
            <a:off x="4654296" y="1993392"/>
            <a:ext cx="1225296" cy="457200"/>
          </a:xfrm>
          <a:prstGeom prst="rect">
            <a:avLst/>
          </a:prstGeom>
          <a:noFill/>
          <a:ln/>
        </p:spPr>
        <p:txBody>
          <a:bodyPr wrap="square" lIns="0" tIns="0" rIns="0" bIns="0" rtlCol="0" anchor="ctr"/>
          <a:lstStyle/>
          <a:p>
            <a:pPr indent="0" marL="0">
              <a:buNone/>
            </a:pPr>
            <a:r>
              <a:rPr lang="en-US" sz="2200" b="1" dirty="0">
                <a:solidFill>
                  <a:srgbClr val="9C3D31"/>
                </a:solidFill>
                <a:latin typeface="Cambria" pitchFamily="34" charset="0"/>
                <a:ea typeface="Cambria" pitchFamily="34" charset="-122"/>
                <a:cs typeface="Cambria" pitchFamily="34" charset="-120"/>
              </a:rPr>
              <a:t>−$1,975</a:t>
            </a:r>
            <a:endParaRPr lang="en-US" sz="2200" dirty="0"/>
          </a:p>
        </p:txBody>
      </p:sp>
      <p:sp>
        <p:nvSpPr>
          <p:cNvPr id="15" name="Text 13"/>
          <p:cNvSpPr txBox="1"/>
          <p:nvPr/>
        </p:nvSpPr>
        <p:spPr>
          <a:xfrm>
            <a:off x="4654296" y="2450592"/>
            <a:ext cx="1188720" cy="384048"/>
          </a:xfrm>
          <a:prstGeom prst="rect">
            <a:avLst/>
          </a:prstGeom>
          <a:noFill/>
          <a:ln/>
        </p:spPr>
        <p:txBody>
          <a:bodyPr wrap="square" lIns="0" tIns="0" rIns="0" bIns="0" rtlCol="0" anchor="t"/>
          <a:lstStyle/>
          <a:p>
            <a:pPr indent="0" marL="0">
              <a:buNone/>
            </a:pPr>
            <a:r>
              <a:rPr lang="en-US" sz="950" dirty="0">
                <a:solidFill>
                  <a:srgbClr val="4E5A64"/>
                </a:solidFill>
                <a:latin typeface="Calibri" pitchFamily="34" charset="0"/>
                <a:ea typeface="Calibri" pitchFamily="34" charset="-122"/>
                <a:cs typeface="Calibri" pitchFamily="34" charset="-120"/>
              </a:rPr>
              <a:t>ad result, ads only</a:t>
            </a:r>
            <a:endParaRPr lang="en-US" sz="950" dirty="0"/>
          </a:p>
        </p:txBody>
      </p:sp>
      <p:sp>
        <p:nvSpPr>
          <p:cNvPr id="16" name="Text 14"/>
          <p:cNvSpPr txBox="1"/>
          <p:nvPr/>
        </p:nvSpPr>
        <p:spPr>
          <a:xfrm>
            <a:off x="868680" y="2926080"/>
            <a:ext cx="4892040" cy="14630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11C24"/>
                </a:solidFill>
                <a:latin typeface="Calibri" pitchFamily="34" charset="0"/>
                <a:ea typeface="Calibri" pitchFamily="34" charset="-122"/>
                <a:cs typeface="Calibri" pitchFamily="34" charset="-120"/>
              </a:rPr>
              <a:t>Starts by size as in the plan of attack: Queen and general 2 Oct, Full about 9 Oct, King about 13 Oct; head terms from the 16 Oct deal (Queen head 27 Oct)</a:t>
            </a:r>
            <a:endParaRPr lang="en-US" sz="1250" dirty="0"/>
          </a:p>
          <a:p>
            <a:pPr marL="342900" indent="-342900">
              <a:spcAft>
                <a:spcPts val="600"/>
              </a:spcAft>
              <a:buSzPct val="100000"/>
              <a:buChar char="•"/>
            </a:pPr>
            <a:r>
              <a:rPr lang="en-US" sz="1250" dirty="0">
                <a:solidFill>
                  <a:srgbClr val="111C24"/>
                </a:solidFill>
                <a:latin typeface="Calibri" pitchFamily="34" charset="0"/>
                <a:ea typeface="Calibri" pitchFamily="34" charset="-122"/>
                <a:cs typeface="Calibri" pitchFamily="34" charset="-120"/>
              </a:rPr>
              <a:t>Ads 16–25% of sales; about $440 a day of organic profit at goal repays the ad loss in about 4 days</a:t>
            </a:r>
            <a:endParaRPr lang="en-US" sz="1250" dirty="0"/>
          </a:p>
        </p:txBody>
      </p:sp>
      <p:sp>
        <p:nvSpPr>
          <p:cNvPr id="17" name="Shape 15"/>
          <p:cNvSpPr/>
          <p:nvPr/>
        </p:nvSpPr>
        <p:spPr>
          <a:xfrm>
            <a:off x="6236208" y="1481328"/>
            <a:ext cx="5321808" cy="3017520"/>
          </a:xfrm>
          <a:prstGeom prst="roundRect">
            <a:avLst>
              <a:gd name="adj" fmla="val 1818"/>
            </a:avLst>
          </a:prstGeom>
          <a:solidFill>
            <a:srgbClr val="FFFFFF"/>
          </a:solidFill>
          <a:ln w="9525">
            <a:solidFill>
              <a:srgbClr val="BFCAD3"/>
            </a:solidFill>
            <a:prstDash val="solid"/>
          </a:ln>
        </p:spPr>
      </p:sp>
      <p:sp>
        <p:nvSpPr>
          <p:cNvPr id="18" name="Text 16"/>
          <p:cNvSpPr txBox="1"/>
          <p:nvPr/>
        </p:nvSpPr>
        <p:spPr>
          <a:xfrm>
            <a:off x="6464808" y="1600200"/>
            <a:ext cx="4846320" cy="329184"/>
          </a:xfrm>
          <a:prstGeom prst="rect">
            <a:avLst/>
          </a:prstGeom>
          <a:noFill/>
          <a:ln/>
        </p:spPr>
        <p:txBody>
          <a:bodyPr wrap="square" lIns="0" tIns="0" rIns="0" bIns="0" rtlCol="0" anchor="ctr"/>
          <a:lstStyle/>
          <a:p>
            <a:pPr indent="0" marL="0">
              <a:buNone/>
            </a:pPr>
            <a:r>
              <a:rPr lang="en-US" sz="1400" b="1" dirty="0">
                <a:solidFill>
                  <a:srgbClr val="176B41"/>
                </a:solidFill>
                <a:latin typeface="Calibri" pitchFamily="34" charset="0"/>
                <a:ea typeface="Calibri" pitchFamily="34" charset="-122"/>
                <a:cs typeface="Calibri" pitchFamily="34" charset="-120"/>
              </a:rPr>
              <a:t>B6  </a:t>
            </a:r>
            <a:pPr indent="0" marL="0">
              <a:buNone/>
            </a:pPr>
            <a:r>
              <a:rPr lang="en-US" sz="1400" dirty="0">
                <a:solidFill>
                  <a:srgbClr val="3D4852"/>
                </a:solidFill>
                <a:latin typeface="Calibri" pitchFamily="34" charset="0"/>
                <a:ea typeface="Calibri" pitchFamily="34" charset="-122"/>
                <a:cs typeface="Calibri" pitchFamily="34" charset="-120"/>
              </a:rPr>
              <a:t>Bamboo Sheets, 6 Piece</a:t>
            </a:r>
            <a:endParaRPr lang="en-US" sz="1400" dirty="0"/>
          </a:p>
        </p:txBody>
      </p:sp>
      <p:sp>
        <p:nvSpPr>
          <p:cNvPr id="19" name="Text 17"/>
          <p:cNvSpPr txBox="1"/>
          <p:nvPr/>
        </p:nvSpPr>
        <p:spPr>
          <a:xfrm>
            <a:off x="6464808" y="1993392"/>
            <a:ext cx="1225296" cy="457200"/>
          </a:xfrm>
          <a:prstGeom prst="rect">
            <a:avLst/>
          </a:prstGeom>
          <a:noFill/>
          <a:ln/>
        </p:spPr>
        <p:txBody>
          <a:bodyPr wrap="square" lIns="0" tIns="0" rIns="0" bIns="0" rtlCol="0" anchor="ctr"/>
          <a:lstStyle/>
          <a:p>
            <a:pPr indent="0" marL="0">
              <a:buNone/>
            </a:pPr>
            <a:r>
              <a:rPr lang="en-US" sz="2200" b="1" dirty="0">
                <a:solidFill>
                  <a:srgbClr val="111C24"/>
                </a:solidFill>
                <a:latin typeface="Cambria" pitchFamily="34" charset="0"/>
                <a:ea typeface="Cambria" pitchFamily="34" charset="-122"/>
                <a:cs typeface="Cambria" pitchFamily="34" charset="-120"/>
              </a:rPr>
              <a:t>23</a:t>
            </a:r>
            <a:endParaRPr lang="en-US" sz="2200" dirty="0"/>
          </a:p>
        </p:txBody>
      </p:sp>
      <p:sp>
        <p:nvSpPr>
          <p:cNvPr id="20" name="Text 18"/>
          <p:cNvSpPr txBox="1"/>
          <p:nvPr/>
        </p:nvSpPr>
        <p:spPr>
          <a:xfrm>
            <a:off x="6464808" y="2450592"/>
            <a:ext cx="1188720" cy="384048"/>
          </a:xfrm>
          <a:prstGeom prst="rect">
            <a:avLst/>
          </a:prstGeom>
          <a:noFill/>
          <a:ln/>
        </p:spPr>
        <p:txBody>
          <a:bodyPr wrap="square" lIns="0" tIns="0" rIns="0" bIns="0" rtlCol="0" anchor="t"/>
          <a:lstStyle/>
          <a:p>
            <a:pPr indent="0" marL="0">
              <a:buNone/>
            </a:pPr>
            <a:r>
              <a:rPr lang="en-US" sz="950" dirty="0">
                <a:solidFill>
                  <a:srgbClr val="4E5A64"/>
                </a:solidFill>
                <a:latin typeface="Calibri" pitchFamily="34" charset="0"/>
                <a:ea typeface="Calibri" pitchFamily="34" charset="-122"/>
                <a:cs typeface="Calibri" pitchFamily="34" charset="-120"/>
              </a:rPr>
              <a:t>exact keywords</a:t>
            </a:r>
            <a:endParaRPr lang="en-US" sz="950" dirty="0"/>
          </a:p>
        </p:txBody>
      </p:sp>
      <p:sp>
        <p:nvSpPr>
          <p:cNvPr id="21" name="Text 19"/>
          <p:cNvSpPr txBox="1"/>
          <p:nvPr/>
        </p:nvSpPr>
        <p:spPr>
          <a:xfrm>
            <a:off x="7726680" y="1993392"/>
            <a:ext cx="1225296" cy="457200"/>
          </a:xfrm>
          <a:prstGeom prst="rect">
            <a:avLst/>
          </a:prstGeom>
          <a:noFill/>
          <a:ln/>
        </p:spPr>
        <p:txBody>
          <a:bodyPr wrap="square" lIns="0" tIns="0" rIns="0" bIns="0" rtlCol="0" anchor="ctr"/>
          <a:lstStyle/>
          <a:p>
            <a:pPr indent="0" marL="0">
              <a:buNone/>
            </a:pPr>
            <a:r>
              <a:rPr lang="en-US" sz="2200" b="1" dirty="0">
                <a:solidFill>
                  <a:srgbClr val="111C24"/>
                </a:solidFill>
                <a:latin typeface="Cambria" pitchFamily="34" charset="0"/>
                <a:ea typeface="Cambria" pitchFamily="34" charset="-122"/>
                <a:cs typeface="Cambria" pitchFamily="34" charset="-120"/>
              </a:rPr>
              <a:t>$830</a:t>
            </a:r>
            <a:endParaRPr lang="en-US" sz="2200" dirty="0"/>
          </a:p>
        </p:txBody>
      </p:sp>
      <p:sp>
        <p:nvSpPr>
          <p:cNvPr id="22" name="Text 20"/>
          <p:cNvSpPr txBox="1"/>
          <p:nvPr/>
        </p:nvSpPr>
        <p:spPr>
          <a:xfrm>
            <a:off x="7726680" y="2450592"/>
            <a:ext cx="1188720" cy="384048"/>
          </a:xfrm>
          <a:prstGeom prst="rect">
            <a:avLst/>
          </a:prstGeom>
          <a:noFill/>
          <a:ln/>
        </p:spPr>
        <p:txBody>
          <a:bodyPr wrap="square" lIns="0" tIns="0" rIns="0" bIns="0" rtlCol="0" anchor="t"/>
          <a:lstStyle/>
          <a:p>
            <a:pPr indent="0" marL="0">
              <a:buNone/>
            </a:pPr>
            <a:r>
              <a:rPr lang="en-US" sz="950" dirty="0">
                <a:solidFill>
                  <a:srgbClr val="4E5A64"/>
                </a:solidFill>
                <a:latin typeface="Calibri" pitchFamily="34" charset="0"/>
                <a:ea typeface="Calibri" pitchFamily="34" charset="-122"/>
                <a:cs typeface="Calibri" pitchFamily="34" charset="-120"/>
              </a:rPr>
              <a:t>budget a day</a:t>
            </a:r>
            <a:endParaRPr lang="en-US" sz="950" dirty="0"/>
          </a:p>
        </p:txBody>
      </p:sp>
      <p:sp>
        <p:nvSpPr>
          <p:cNvPr id="23" name="Text 21"/>
          <p:cNvSpPr txBox="1"/>
          <p:nvPr/>
        </p:nvSpPr>
        <p:spPr>
          <a:xfrm>
            <a:off x="8988552" y="1993392"/>
            <a:ext cx="1225296" cy="457200"/>
          </a:xfrm>
          <a:prstGeom prst="rect">
            <a:avLst/>
          </a:prstGeom>
          <a:noFill/>
          <a:ln/>
        </p:spPr>
        <p:txBody>
          <a:bodyPr wrap="square" lIns="0" tIns="0" rIns="0" bIns="0" rtlCol="0" anchor="ctr"/>
          <a:lstStyle/>
          <a:p>
            <a:pPr indent="0" marL="0">
              <a:buNone/>
            </a:pPr>
            <a:r>
              <a:rPr lang="en-US" sz="2200" b="1" dirty="0">
                <a:solidFill>
                  <a:srgbClr val="111C24"/>
                </a:solidFill>
                <a:latin typeface="Cambria" pitchFamily="34" charset="0"/>
                <a:ea typeface="Cambria" pitchFamily="34" charset="-122"/>
                <a:cs typeface="Cambria" pitchFamily="34" charset="-120"/>
              </a:rPr>
              <a:t>$50.3K</a:t>
            </a:r>
            <a:endParaRPr lang="en-US" sz="2200" dirty="0"/>
          </a:p>
        </p:txBody>
      </p:sp>
      <p:sp>
        <p:nvSpPr>
          <p:cNvPr id="24" name="Text 22"/>
          <p:cNvSpPr txBox="1"/>
          <p:nvPr/>
        </p:nvSpPr>
        <p:spPr>
          <a:xfrm>
            <a:off x="8988552" y="2450592"/>
            <a:ext cx="1188720" cy="384048"/>
          </a:xfrm>
          <a:prstGeom prst="rect">
            <a:avLst/>
          </a:prstGeom>
          <a:noFill/>
          <a:ln/>
        </p:spPr>
        <p:txBody>
          <a:bodyPr wrap="square" lIns="0" tIns="0" rIns="0" bIns="0" rtlCol="0" anchor="t"/>
          <a:lstStyle/>
          <a:p>
            <a:pPr indent="0" marL="0">
              <a:buNone/>
            </a:pPr>
            <a:r>
              <a:rPr lang="en-US" sz="950" dirty="0">
                <a:solidFill>
                  <a:srgbClr val="4E5A64"/>
                </a:solidFill>
                <a:latin typeface="Calibri" pitchFamily="34" charset="0"/>
                <a:ea typeface="Calibri" pitchFamily="34" charset="-122"/>
                <a:cs typeface="Calibri" pitchFamily="34" charset="-120"/>
              </a:rPr>
              <a:t>nine weeks to 3 Dec</a:t>
            </a:r>
            <a:endParaRPr lang="en-US" sz="950" dirty="0"/>
          </a:p>
        </p:txBody>
      </p:sp>
      <p:sp>
        <p:nvSpPr>
          <p:cNvPr id="25" name="Text 23"/>
          <p:cNvSpPr txBox="1"/>
          <p:nvPr/>
        </p:nvSpPr>
        <p:spPr>
          <a:xfrm>
            <a:off x="10250424" y="1993392"/>
            <a:ext cx="1225296" cy="457200"/>
          </a:xfrm>
          <a:prstGeom prst="rect">
            <a:avLst/>
          </a:prstGeom>
          <a:noFill/>
          <a:ln/>
        </p:spPr>
        <p:txBody>
          <a:bodyPr wrap="square" lIns="0" tIns="0" rIns="0" bIns="0" rtlCol="0" anchor="ctr"/>
          <a:lstStyle/>
          <a:p>
            <a:pPr indent="0" marL="0">
              <a:buNone/>
            </a:pPr>
            <a:r>
              <a:rPr lang="en-US" sz="2200" b="1" dirty="0">
                <a:solidFill>
                  <a:srgbClr val="176B41"/>
                </a:solidFill>
                <a:latin typeface="Cambria" pitchFamily="34" charset="0"/>
                <a:ea typeface="Cambria" pitchFamily="34" charset="-122"/>
                <a:cs typeface="Cambria" pitchFamily="34" charset="-120"/>
              </a:rPr>
              <a:t>+$3,011</a:t>
            </a:r>
            <a:endParaRPr lang="en-US" sz="2200" dirty="0"/>
          </a:p>
        </p:txBody>
      </p:sp>
      <p:sp>
        <p:nvSpPr>
          <p:cNvPr id="26" name="Text 24"/>
          <p:cNvSpPr txBox="1"/>
          <p:nvPr/>
        </p:nvSpPr>
        <p:spPr>
          <a:xfrm>
            <a:off x="10250424" y="2450592"/>
            <a:ext cx="1188720" cy="384048"/>
          </a:xfrm>
          <a:prstGeom prst="rect">
            <a:avLst/>
          </a:prstGeom>
          <a:noFill/>
          <a:ln/>
        </p:spPr>
        <p:txBody>
          <a:bodyPr wrap="square" lIns="0" tIns="0" rIns="0" bIns="0" rtlCol="0" anchor="t"/>
          <a:lstStyle/>
          <a:p>
            <a:pPr indent="0" marL="0">
              <a:buNone/>
            </a:pPr>
            <a:r>
              <a:rPr lang="en-US" sz="950" dirty="0">
                <a:solidFill>
                  <a:srgbClr val="4E5A64"/>
                </a:solidFill>
                <a:latin typeface="Calibri" pitchFamily="34" charset="0"/>
                <a:ea typeface="Calibri" pitchFamily="34" charset="-122"/>
                <a:cs typeface="Calibri" pitchFamily="34" charset="-120"/>
              </a:rPr>
              <a:t>ad result, ads only</a:t>
            </a:r>
            <a:endParaRPr lang="en-US" sz="950" dirty="0"/>
          </a:p>
        </p:txBody>
      </p:sp>
      <p:sp>
        <p:nvSpPr>
          <p:cNvPr id="27" name="Text 25"/>
          <p:cNvSpPr txBox="1"/>
          <p:nvPr/>
        </p:nvSpPr>
        <p:spPr>
          <a:xfrm>
            <a:off x="6464808" y="2926080"/>
            <a:ext cx="4892040" cy="14630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11C24"/>
                </a:solidFill>
                <a:latin typeface="Calibri" pitchFamily="34" charset="0"/>
                <a:ea typeface="Calibri" pitchFamily="34" charset="-122"/>
                <a:cs typeface="Calibri" pitchFamily="34" charset="-120"/>
              </a:rPr>
              <a:t>Batch 1 (King and Queen compounds) 1 Oct; Batch 2 18 Oct if Batch 1 holds; Queen head when Queen White is receiving (30 Oct cautious, 9 Oct if early)</a:t>
            </a:r>
            <a:endParaRPr lang="en-US" sz="1250" dirty="0"/>
          </a:p>
          <a:p>
            <a:pPr marL="342900" indent="-342900">
              <a:spcAft>
                <a:spcPts val="600"/>
              </a:spcAft>
              <a:buSzPct val="100000"/>
              <a:buChar char="•"/>
            </a:pPr>
            <a:r>
              <a:rPr lang="en-US" sz="1250" dirty="0">
                <a:solidFill>
                  <a:srgbClr val="111C24"/>
                </a:solidFill>
                <a:latin typeface="Calibri" pitchFamily="34" charset="0"/>
                <a:ea typeface="Calibri" pitchFamily="34" charset="-122"/>
                <a:cs typeface="Calibri" pitchFamily="34" charset="-120"/>
              </a:rPr>
              <a:t>Ads 12–17% of sales, under B6's 25% ceiling; replaces the 30 Sep B6 plan</a:t>
            </a:r>
            <a:endParaRPr lang="en-US" sz="1250" dirty="0"/>
          </a:p>
        </p:txBody>
      </p:sp>
      <p:sp>
        <p:nvSpPr>
          <p:cNvPr id="28" name="Text 26"/>
          <p:cNvSpPr txBox="1"/>
          <p:nvPr/>
        </p:nvSpPr>
        <p:spPr>
          <a:xfrm>
            <a:off x="640080" y="4681728"/>
            <a:ext cx="3657600" cy="256032"/>
          </a:xfrm>
          <a:prstGeom prst="rect">
            <a:avLst/>
          </a:prstGeom>
          <a:noFill/>
          <a:ln/>
        </p:spPr>
        <p:txBody>
          <a:bodyPr wrap="square" lIns="0" tIns="0" rIns="0" bIns="0" rtlCol="0" anchor="ctr"/>
          <a:lstStyle/>
          <a:p>
            <a:pPr indent="0" marL="0">
              <a:buNone/>
            </a:pPr>
            <a:r>
              <a:rPr lang="en-US" sz="950" b="1" spc="200" kern="0" dirty="0">
                <a:solidFill>
                  <a:srgbClr val="3D4852"/>
                </a:solidFill>
                <a:latin typeface="Calibri" pitchFamily="34" charset="0"/>
                <a:ea typeface="Calibri" pitchFamily="34" charset="-122"/>
                <a:cs typeface="Calibri" pitchFamily="34" charset="-120"/>
              </a:rPr>
              <a:t>KEY DATES</a:t>
            </a:r>
            <a:endParaRPr lang="en-US" sz="950" dirty="0"/>
          </a:p>
        </p:txBody>
      </p:sp>
      <p:sp>
        <p:nvSpPr>
          <p:cNvPr id="29" name="Shape 27"/>
          <p:cNvSpPr/>
          <p:nvPr/>
        </p:nvSpPr>
        <p:spPr>
          <a:xfrm>
            <a:off x="640080" y="5029200"/>
            <a:ext cx="146304" cy="146304"/>
          </a:xfrm>
          <a:prstGeom prst="ellipse">
            <a:avLst/>
          </a:prstGeom>
          <a:solidFill>
            <a:srgbClr val="176B41"/>
          </a:solidFill>
          <a:ln/>
        </p:spPr>
      </p:sp>
      <p:sp>
        <p:nvSpPr>
          <p:cNvPr id="30" name="Shape 28"/>
          <p:cNvSpPr/>
          <p:nvPr/>
        </p:nvSpPr>
        <p:spPr>
          <a:xfrm>
            <a:off x="822960" y="5102352"/>
            <a:ext cx="2002536" cy="0"/>
          </a:xfrm>
          <a:prstGeom prst="line">
            <a:avLst/>
          </a:prstGeom>
          <a:noFill/>
          <a:ln w="12700">
            <a:solidFill>
              <a:srgbClr val="BFCAD3"/>
            </a:solidFill>
            <a:prstDash val="solid"/>
          </a:ln>
        </p:spPr>
      </p:sp>
      <p:sp>
        <p:nvSpPr>
          <p:cNvPr id="31" name="Text 29"/>
          <p:cNvSpPr txBox="1"/>
          <p:nvPr/>
        </p:nvSpPr>
        <p:spPr>
          <a:xfrm>
            <a:off x="640080" y="5248656"/>
            <a:ext cx="2103120" cy="274320"/>
          </a:xfrm>
          <a:prstGeom prst="rect">
            <a:avLst/>
          </a:prstGeom>
          <a:noFill/>
          <a:ln/>
        </p:spPr>
        <p:txBody>
          <a:bodyPr wrap="square" lIns="0" tIns="0" rIns="0" bIns="0" rtlCol="0" anchor="ctr"/>
          <a:lstStyle/>
          <a:p>
            <a:pPr indent="0" marL="0">
              <a:buNone/>
            </a:pPr>
            <a:r>
              <a:rPr lang="en-US" sz="1200" b="1" dirty="0">
                <a:solidFill>
                  <a:srgbClr val="111C24"/>
                </a:solidFill>
                <a:latin typeface="Calibri" pitchFamily="34" charset="0"/>
                <a:ea typeface="Calibri" pitchFamily="34" charset="-122"/>
                <a:cs typeface="Calibri" pitchFamily="34" charset="-120"/>
              </a:rPr>
              <a:t>6–7 Oct</a:t>
            </a:r>
            <a:endParaRPr lang="en-US" sz="1200" dirty="0"/>
          </a:p>
        </p:txBody>
      </p:sp>
      <p:sp>
        <p:nvSpPr>
          <p:cNvPr id="32" name="Text 30"/>
          <p:cNvSpPr txBox="1"/>
          <p:nvPr/>
        </p:nvSpPr>
        <p:spPr>
          <a:xfrm>
            <a:off x="640080" y="5522976"/>
            <a:ext cx="2057400" cy="457200"/>
          </a:xfrm>
          <a:prstGeom prst="rect">
            <a:avLst/>
          </a:prstGeom>
          <a:noFill/>
          <a:ln/>
        </p:spPr>
        <p:txBody>
          <a:bodyPr wrap="square" lIns="0" tIns="0" rIns="0" bIns="0" rtlCol="0" anchor="t"/>
          <a:lstStyle/>
          <a:p>
            <a:pPr indent="0" marL="0">
              <a:buNone/>
            </a:pPr>
            <a:r>
              <a:rPr lang="en-US" sz="1000" dirty="0">
                <a:solidFill>
                  <a:srgbClr val="4E5A64"/>
                </a:solidFill>
                <a:latin typeface="Calibri" pitchFamily="34" charset="0"/>
                <a:ea typeface="Calibri" pitchFamily="34" charset="-122"/>
                <a:cs typeface="Calibri" pitchFamily="34" charset="-120"/>
              </a:rPr>
              <a:t>Prime Big Deal Days: budgets 1.5×, bids hold, not read</a:t>
            </a:r>
            <a:endParaRPr lang="en-US" sz="1000" dirty="0"/>
          </a:p>
        </p:txBody>
      </p:sp>
      <p:sp>
        <p:nvSpPr>
          <p:cNvPr id="33" name="Shape 31"/>
          <p:cNvSpPr/>
          <p:nvPr/>
        </p:nvSpPr>
        <p:spPr>
          <a:xfrm>
            <a:off x="2862072" y="5029200"/>
            <a:ext cx="146304" cy="146304"/>
          </a:xfrm>
          <a:prstGeom prst="ellipse">
            <a:avLst/>
          </a:prstGeom>
          <a:solidFill>
            <a:srgbClr val="176B41"/>
          </a:solidFill>
          <a:ln/>
        </p:spPr>
      </p:sp>
      <p:sp>
        <p:nvSpPr>
          <p:cNvPr id="34" name="Shape 32"/>
          <p:cNvSpPr/>
          <p:nvPr/>
        </p:nvSpPr>
        <p:spPr>
          <a:xfrm>
            <a:off x="3044952" y="5102352"/>
            <a:ext cx="2002536" cy="0"/>
          </a:xfrm>
          <a:prstGeom prst="line">
            <a:avLst/>
          </a:prstGeom>
          <a:noFill/>
          <a:ln w="12700">
            <a:solidFill>
              <a:srgbClr val="BFCAD3"/>
            </a:solidFill>
            <a:prstDash val="solid"/>
          </a:ln>
        </p:spPr>
      </p:sp>
      <p:sp>
        <p:nvSpPr>
          <p:cNvPr id="35" name="Text 33"/>
          <p:cNvSpPr txBox="1"/>
          <p:nvPr/>
        </p:nvSpPr>
        <p:spPr>
          <a:xfrm>
            <a:off x="2862072" y="5248656"/>
            <a:ext cx="2103120" cy="274320"/>
          </a:xfrm>
          <a:prstGeom prst="rect">
            <a:avLst/>
          </a:prstGeom>
          <a:noFill/>
          <a:ln/>
        </p:spPr>
        <p:txBody>
          <a:bodyPr wrap="square" lIns="0" tIns="0" rIns="0" bIns="0" rtlCol="0" anchor="ctr"/>
          <a:lstStyle/>
          <a:p>
            <a:pPr indent="0" marL="0">
              <a:buNone/>
            </a:pPr>
            <a:r>
              <a:rPr lang="en-US" sz="1200" b="1" dirty="0">
                <a:solidFill>
                  <a:srgbClr val="111C24"/>
                </a:solidFill>
                <a:latin typeface="Calibri" pitchFamily="34" charset="0"/>
                <a:ea typeface="Calibri" pitchFamily="34" charset="-122"/>
                <a:cs typeface="Calibri" pitchFamily="34" charset="-120"/>
              </a:rPr>
              <a:t>10 · 11 Oct</a:t>
            </a:r>
            <a:endParaRPr lang="en-US" sz="1200" dirty="0"/>
          </a:p>
        </p:txBody>
      </p:sp>
      <p:sp>
        <p:nvSpPr>
          <p:cNvPr id="36" name="Text 34"/>
          <p:cNvSpPr txBox="1"/>
          <p:nvPr/>
        </p:nvSpPr>
        <p:spPr>
          <a:xfrm>
            <a:off x="2862072" y="5522976"/>
            <a:ext cx="2057400" cy="457200"/>
          </a:xfrm>
          <a:prstGeom prst="rect">
            <a:avLst/>
          </a:prstGeom>
          <a:noFill/>
          <a:ln/>
        </p:spPr>
        <p:txBody>
          <a:bodyPr wrap="square" lIns="0" tIns="0" rIns="0" bIns="0" rtlCol="0" anchor="t"/>
          <a:lstStyle/>
          <a:p>
            <a:pPr indent="0" marL="0">
              <a:buNone/>
            </a:pPr>
            <a:r>
              <a:rPr lang="en-US" sz="1000" dirty="0">
                <a:solidFill>
                  <a:srgbClr val="4E5A64"/>
                </a:solidFill>
                <a:latin typeface="Calibri" pitchFamily="34" charset="0"/>
                <a:ea typeface="Calibri" pitchFamily="34" charset="-122"/>
                <a:cs typeface="Calibri" pitchFamily="34" charset="-120"/>
              </a:rPr>
              <a:t>Day-7 reads: B6, then B4</a:t>
            </a:r>
            <a:endParaRPr lang="en-US" sz="1000" dirty="0"/>
          </a:p>
        </p:txBody>
      </p:sp>
      <p:sp>
        <p:nvSpPr>
          <p:cNvPr id="37" name="Shape 35"/>
          <p:cNvSpPr/>
          <p:nvPr/>
        </p:nvSpPr>
        <p:spPr>
          <a:xfrm>
            <a:off x="5084064" y="5029200"/>
            <a:ext cx="146304" cy="146304"/>
          </a:xfrm>
          <a:prstGeom prst="ellipse">
            <a:avLst/>
          </a:prstGeom>
          <a:solidFill>
            <a:srgbClr val="176B41"/>
          </a:solidFill>
          <a:ln/>
        </p:spPr>
      </p:sp>
      <p:sp>
        <p:nvSpPr>
          <p:cNvPr id="38" name="Shape 36"/>
          <p:cNvSpPr/>
          <p:nvPr/>
        </p:nvSpPr>
        <p:spPr>
          <a:xfrm>
            <a:off x="5266944" y="5102352"/>
            <a:ext cx="2002536" cy="0"/>
          </a:xfrm>
          <a:prstGeom prst="line">
            <a:avLst/>
          </a:prstGeom>
          <a:noFill/>
          <a:ln w="12700">
            <a:solidFill>
              <a:srgbClr val="BFCAD3"/>
            </a:solidFill>
            <a:prstDash val="solid"/>
          </a:ln>
        </p:spPr>
      </p:sp>
      <p:sp>
        <p:nvSpPr>
          <p:cNvPr id="39" name="Text 37"/>
          <p:cNvSpPr txBox="1"/>
          <p:nvPr/>
        </p:nvSpPr>
        <p:spPr>
          <a:xfrm>
            <a:off x="5084064" y="5248656"/>
            <a:ext cx="2103120" cy="274320"/>
          </a:xfrm>
          <a:prstGeom prst="rect">
            <a:avLst/>
          </a:prstGeom>
          <a:noFill/>
          <a:ln/>
        </p:spPr>
        <p:txBody>
          <a:bodyPr wrap="square" lIns="0" tIns="0" rIns="0" bIns="0" rtlCol="0" anchor="ctr"/>
          <a:lstStyle/>
          <a:p>
            <a:pPr indent="0" marL="0">
              <a:buNone/>
            </a:pPr>
            <a:r>
              <a:rPr lang="en-US" sz="1200" b="1" dirty="0">
                <a:solidFill>
                  <a:srgbClr val="111C24"/>
                </a:solidFill>
                <a:latin typeface="Calibri" pitchFamily="34" charset="0"/>
                <a:ea typeface="Calibri" pitchFamily="34" charset="-122"/>
                <a:cs typeface="Calibri" pitchFamily="34" charset="-120"/>
              </a:rPr>
              <a:t>14 Oct</a:t>
            </a:r>
            <a:endParaRPr lang="en-US" sz="1200" dirty="0"/>
          </a:p>
        </p:txBody>
      </p:sp>
      <p:sp>
        <p:nvSpPr>
          <p:cNvPr id="40" name="Text 38"/>
          <p:cNvSpPr txBox="1"/>
          <p:nvPr/>
        </p:nvSpPr>
        <p:spPr>
          <a:xfrm>
            <a:off x="5084064" y="5522976"/>
            <a:ext cx="2057400" cy="457200"/>
          </a:xfrm>
          <a:prstGeom prst="rect">
            <a:avLst/>
          </a:prstGeom>
          <a:noFill/>
          <a:ln/>
        </p:spPr>
        <p:txBody>
          <a:bodyPr wrap="square" lIns="0" tIns="0" rIns="0" bIns="0" rtlCol="0" anchor="t"/>
          <a:lstStyle/>
          <a:p>
            <a:pPr indent="0" marL="0">
              <a:buNone/>
            </a:pPr>
            <a:r>
              <a:rPr lang="en-US" sz="1000" dirty="0">
                <a:solidFill>
                  <a:srgbClr val="4E5A64"/>
                </a:solidFill>
                <a:latin typeface="Calibri" pitchFamily="34" charset="0"/>
                <a:ea typeface="Calibri" pitchFamily="34" charset="-122"/>
                <a:cs typeface="Calibri" pitchFamily="34" charset="-120"/>
              </a:rPr>
              <a:t>First 60-click trial reads</a:t>
            </a:r>
            <a:endParaRPr lang="en-US" sz="1000" dirty="0"/>
          </a:p>
        </p:txBody>
      </p:sp>
      <p:sp>
        <p:nvSpPr>
          <p:cNvPr id="41" name="Shape 39"/>
          <p:cNvSpPr/>
          <p:nvPr/>
        </p:nvSpPr>
        <p:spPr>
          <a:xfrm>
            <a:off x="7306056" y="5029200"/>
            <a:ext cx="146304" cy="146304"/>
          </a:xfrm>
          <a:prstGeom prst="ellipse">
            <a:avLst/>
          </a:prstGeom>
          <a:solidFill>
            <a:srgbClr val="176B41"/>
          </a:solidFill>
          <a:ln/>
        </p:spPr>
      </p:sp>
      <p:sp>
        <p:nvSpPr>
          <p:cNvPr id="42" name="Shape 40"/>
          <p:cNvSpPr/>
          <p:nvPr/>
        </p:nvSpPr>
        <p:spPr>
          <a:xfrm>
            <a:off x="7488936" y="5102352"/>
            <a:ext cx="2002536" cy="0"/>
          </a:xfrm>
          <a:prstGeom prst="line">
            <a:avLst/>
          </a:prstGeom>
          <a:noFill/>
          <a:ln w="12700">
            <a:solidFill>
              <a:srgbClr val="BFCAD3"/>
            </a:solidFill>
            <a:prstDash val="solid"/>
          </a:ln>
        </p:spPr>
      </p:sp>
      <p:sp>
        <p:nvSpPr>
          <p:cNvPr id="43" name="Text 41"/>
          <p:cNvSpPr txBox="1"/>
          <p:nvPr/>
        </p:nvSpPr>
        <p:spPr>
          <a:xfrm>
            <a:off x="7306056" y="5248656"/>
            <a:ext cx="2103120" cy="274320"/>
          </a:xfrm>
          <a:prstGeom prst="rect">
            <a:avLst/>
          </a:prstGeom>
          <a:noFill/>
          <a:ln/>
        </p:spPr>
        <p:txBody>
          <a:bodyPr wrap="square" lIns="0" tIns="0" rIns="0" bIns="0" rtlCol="0" anchor="ctr"/>
          <a:lstStyle/>
          <a:p>
            <a:pPr indent="0" marL="0">
              <a:buNone/>
            </a:pPr>
            <a:r>
              <a:rPr lang="en-US" sz="1200" b="1" dirty="0">
                <a:solidFill>
                  <a:srgbClr val="111C24"/>
                </a:solidFill>
                <a:latin typeface="Calibri" pitchFamily="34" charset="0"/>
                <a:ea typeface="Calibri" pitchFamily="34" charset="-122"/>
                <a:cs typeface="Calibri" pitchFamily="34" charset="-120"/>
              </a:rPr>
              <a:t>18 Oct</a:t>
            </a:r>
            <a:endParaRPr lang="en-US" sz="1200" dirty="0"/>
          </a:p>
        </p:txBody>
      </p:sp>
      <p:sp>
        <p:nvSpPr>
          <p:cNvPr id="44" name="Text 42"/>
          <p:cNvSpPr txBox="1"/>
          <p:nvPr/>
        </p:nvSpPr>
        <p:spPr>
          <a:xfrm>
            <a:off x="7306056" y="5522976"/>
            <a:ext cx="2057400" cy="457200"/>
          </a:xfrm>
          <a:prstGeom prst="rect">
            <a:avLst/>
          </a:prstGeom>
          <a:noFill/>
          <a:ln/>
        </p:spPr>
        <p:txBody>
          <a:bodyPr wrap="square" lIns="0" tIns="0" rIns="0" bIns="0" rtlCol="0" anchor="t"/>
          <a:lstStyle/>
          <a:p>
            <a:pPr indent="0" marL="0">
              <a:buNone/>
            </a:pPr>
            <a:r>
              <a:rPr lang="en-US" sz="1000" dirty="0">
                <a:solidFill>
                  <a:srgbClr val="4E5A64"/>
                </a:solidFill>
                <a:latin typeface="Calibri" pitchFamily="34" charset="0"/>
                <a:ea typeface="Calibri" pitchFamily="34" charset="-122"/>
                <a:cs typeface="Calibri" pitchFamily="34" charset="-120"/>
              </a:rPr>
              <a:t>B6 Batch 2 starts if Batch 1 holds</a:t>
            </a:r>
            <a:endParaRPr lang="en-US" sz="1000" dirty="0"/>
          </a:p>
        </p:txBody>
      </p:sp>
      <p:sp>
        <p:nvSpPr>
          <p:cNvPr id="45" name="Shape 43"/>
          <p:cNvSpPr/>
          <p:nvPr/>
        </p:nvSpPr>
        <p:spPr>
          <a:xfrm>
            <a:off x="9528048" y="5029200"/>
            <a:ext cx="146304" cy="146304"/>
          </a:xfrm>
          <a:prstGeom prst="ellipse">
            <a:avLst/>
          </a:prstGeom>
          <a:solidFill>
            <a:srgbClr val="176B41"/>
          </a:solidFill>
          <a:ln/>
        </p:spPr>
      </p:sp>
      <p:sp>
        <p:nvSpPr>
          <p:cNvPr id="46" name="Text 44"/>
          <p:cNvSpPr txBox="1"/>
          <p:nvPr/>
        </p:nvSpPr>
        <p:spPr>
          <a:xfrm>
            <a:off x="9528048" y="5248656"/>
            <a:ext cx="2103120" cy="274320"/>
          </a:xfrm>
          <a:prstGeom prst="rect">
            <a:avLst/>
          </a:prstGeom>
          <a:noFill/>
          <a:ln/>
        </p:spPr>
        <p:txBody>
          <a:bodyPr wrap="square" lIns="0" tIns="0" rIns="0" bIns="0" rtlCol="0" anchor="ctr"/>
          <a:lstStyle/>
          <a:p>
            <a:pPr indent="0" marL="0">
              <a:buNone/>
            </a:pPr>
            <a:r>
              <a:rPr lang="en-US" sz="1200" b="1" dirty="0">
                <a:solidFill>
                  <a:srgbClr val="111C24"/>
                </a:solidFill>
                <a:latin typeface="Calibri" pitchFamily="34" charset="0"/>
                <a:ea typeface="Calibri" pitchFamily="34" charset="-122"/>
                <a:cs typeface="Calibri" pitchFamily="34" charset="-120"/>
              </a:rPr>
              <a:t>19 Nov</a:t>
            </a:r>
            <a:endParaRPr lang="en-US" sz="1200" dirty="0"/>
          </a:p>
        </p:txBody>
      </p:sp>
      <p:sp>
        <p:nvSpPr>
          <p:cNvPr id="47" name="Text 45"/>
          <p:cNvSpPr txBox="1"/>
          <p:nvPr/>
        </p:nvSpPr>
        <p:spPr>
          <a:xfrm>
            <a:off x="9528048" y="5522976"/>
            <a:ext cx="2057400" cy="457200"/>
          </a:xfrm>
          <a:prstGeom prst="rect">
            <a:avLst/>
          </a:prstGeom>
          <a:noFill/>
          <a:ln/>
        </p:spPr>
        <p:txBody>
          <a:bodyPr wrap="square" lIns="0" tIns="0" rIns="0" bIns="0" rtlCol="0" anchor="t"/>
          <a:lstStyle/>
          <a:p>
            <a:pPr indent="0" marL="0">
              <a:buNone/>
            </a:pPr>
            <a:r>
              <a:rPr lang="en-US" sz="1000" dirty="0">
                <a:solidFill>
                  <a:srgbClr val="4E5A64"/>
                </a:solidFill>
                <a:latin typeface="Calibri" pitchFamily="34" charset="0"/>
                <a:ea typeface="Calibri" pitchFamily="34" charset="-122"/>
                <a:cs typeface="Calibri" pitchFamily="34" charset="-120"/>
              </a:rPr>
              <a:t>Black Friday week: budgets 2×</a:t>
            </a:r>
            <a:endParaRPr lang="en-US" sz="1000" dirty="0"/>
          </a:p>
        </p:txBody>
      </p:sp>
      <p:sp>
        <p:nvSpPr>
          <p:cNvPr id="48" name="Text 46"/>
          <p:cNvSpPr txBox="1"/>
          <p:nvPr/>
        </p:nvSpPr>
        <p:spPr>
          <a:xfrm>
            <a:off x="640080" y="6035040"/>
            <a:ext cx="11036808" cy="274320"/>
          </a:xfrm>
          <a:prstGeom prst="rect">
            <a:avLst/>
          </a:prstGeom>
          <a:noFill/>
          <a:ln/>
        </p:spPr>
        <p:txBody>
          <a:bodyPr wrap="square" lIns="0" tIns="0" rIns="0" bIns="0" rtlCol="0" anchor="t"/>
          <a:lstStyle/>
          <a:p>
            <a:pPr indent="0" marL="0">
              <a:buNone/>
            </a:pPr>
            <a:r>
              <a:rPr lang="en-US" sz="950" dirty="0">
                <a:solidFill>
                  <a:srgbClr val="4E5A64"/>
                </a:solidFill>
                <a:latin typeface="Calibri" pitchFamily="34" charset="0"/>
                <a:ea typeface="Calibri" pitchFamily="34" charset="-122"/>
                <a:cs typeface="Calibri" pitchFamily="34" charset="-120"/>
              </a:rPr>
              <a:t>Rank with exact keywords only; reads count clean days, so deal days never flatter a keyword. Plans: Bamboo_Ranking_Plan_B4.docx and _B6.docx, with the Docs and explainer pages.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402336"/>
            <a:ext cx="9326880" cy="292608"/>
          </a:xfrm>
          <a:prstGeom prst="rect">
            <a:avLst/>
          </a:prstGeom>
          <a:noFill/>
          <a:ln/>
        </p:spPr>
        <p:txBody>
          <a:bodyPr wrap="square" lIns="0" tIns="0" rIns="0" bIns="0" rtlCol="0" anchor="ctr"/>
          <a:lstStyle/>
          <a:p>
            <a:pPr indent="0" marL="0">
              <a:buNone/>
            </a:pPr>
            <a:r>
              <a:rPr lang="en-US" sz="1100" b="1" spc="300" kern="0" dirty="0">
                <a:solidFill>
                  <a:srgbClr val="3D4852"/>
                </a:solidFill>
                <a:latin typeface="Calibri" pitchFamily="34" charset="0"/>
                <a:ea typeface="Calibri" pitchFamily="34" charset="-122"/>
                <a:cs typeface="Calibri" pitchFamily="34" charset="-120"/>
              </a:rPr>
              <a:t>PPC   ·   WEEK OF SEPTEMBER 28 TO OCTOBER 2</a:t>
            </a:r>
            <a:endParaRPr lang="en-US" sz="1100" dirty="0"/>
          </a:p>
        </p:txBody>
      </p:sp>
      <p:sp>
        <p:nvSpPr>
          <p:cNvPr id="3" name="Text 1"/>
          <p:cNvSpPr txBox="1"/>
          <p:nvPr/>
        </p:nvSpPr>
        <p:spPr>
          <a:xfrm>
            <a:off x="640080" y="676656"/>
            <a:ext cx="9326880" cy="658368"/>
          </a:xfrm>
          <a:prstGeom prst="rect">
            <a:avLst/>
          </a:prstGeom>
          <a:noFill/>
          <a:ln/>
        </p:spPr>
        <p:txBody>
          <a:bodyPr wrap="square" lIns="0" tIns="0" rIns="0" bIns="0" rtlCol="0" anchor="ctr"/>
          <a:lstStyle/>
          <a:p>
            <a:pPr indent="0" marL="0">
              <a:buNone/>
            </a:pPr>
            <a:r>
              <a:rPr lang="en-US" sz="3000" b="1" dirty="0">
                <a:solidFill>
                  <a:srgbClr val="111C24"/>
                </a:solidFill>
                <a:latin typeface="Cambria" pitchFamily="34" charset="0"/>
                <a:ea typeface="Cambria" pitchFamily="34" charset="-122"/>
                <a:cs typeface="Cambria" pitchFamily="34" charset="-120"/>
              </a:rPr>
              <a:t>Blockers and help needed</a:t>
            </a:r>
            <a:endParaRPr lang="en-US" sz="3000" dirty="0"/>
          </a:p>
        </p:txBody>
      </p:sp>
      <p:sp>
        <p:nvSpPr>
          <p:cNvPr id="4" name="Text 2"/>
          <p:cNvSpPr txBox="1"/>
          <p:nvPr/>
        </p:nvSpPr>
        <p:spPr>
          <a:xfrm>
            <a:off x="10241280" y="274320"/>
            <a:ext cx="1435608" cy="914400"/>
          </a:xfrm>
          <a:prstGeom prst="rect">
            <a:avLst/>
          </a:prstGeom>
          <a:noFill/>
          <a:ln/>
        </p:spPr>
        <p:txBody>
          <a:bodyPr wrap="square" lIns="0" tIns="0" rIns="0" bIns="0" rtlCol="0" anchor="ctr"/>
          <a:lstStyle/>
          <a:p>
            <a:pPr algn="r" indent="0" marL="0">
              <a:buNone/>
            </a:pPr>
            <a:r>
              <a:rPr lang="en-US" sz="5400" b="1" dirty="0">
                <a:solidFill>
                  <a:srgbClr val="DCE4EA"/>
                </a:solidFill>
                <a:latin typeface="Cambria" pitchFamily="34" charset="0"/>
                <a:ea typeface="Cambria" pitchFamily="34" charset="-122"/>
                <a:cs typeface="Cambria" pitchFamily="34" charset="-120"/>
              </a:rPr>
              <a:t>03</a:t>
            </a:r>
            <a:endParaRPr lang="en-US" sz="5400" dirty="0"/>
          </a:p>
        </p:txBody>
      </p:sp>
      <p:sp>
        <p:nvSpPr>
          <p:cNvPr id="5" name="Text 3"/>
          <p:cNvSpPr txBox="1"/>
          <p:nvPr/>
        </p:nvSpPr>
        <p:spPr>
          <a:xfrm>
            <a:off x="7315200" y="6382512"/>
            <a:ext cx="4361688" cy="274320"/>
          </a:xfrm>
          <a:prstGeom prst="rect">
            <a:avLst/>
          </a:prstGeom>
          <a:noFill/>
          <a:ln/>
        </p:spPr>
        <p:txBody>
          <a:bodyPr wrap="square" lIns="0" tIns="0" rIns="0" bIns="0" rtlCol="0" anchor="ctr"/>
          <a:lstStyle/>
          <a:p>
            <a:pPr algn="r" indent="0" marL="0">
              <a:buNone/>
            </a:pPr>
            <a:r>
              <a:rPr lang="en-US" sz="1000" dirty="0">
                <a:solidFill>
                  <a:srgbClr val="4E5A64"/>
                </a:solidFill>
                <a:latin typeface="Calibri" pitchFamily="34" charset="0"/>
                <a:ea typeface="Calibri" pitchFamily="34" charset="-122"/>
                <a:cs typeface="Calibri" pitchFamily="34" charset="-120"/>
              </a:rPr>
              <a:t>PPC · Sep 28–Oct 2</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1036808" cy="914400"/>
        </p:xfrm>
        <a:graphic>
          <a:graphicData uri="http://schemas.openxmlformats.org/drawingml/2006/table">
            <a:tbl>
              <a:tblPr/>
              <a:tblGrid>
                <a:gridCol w="2651760"/>
                <a:gridCol w="2743200"/>
                <a:gridCol w="1417320"/>
                <a:gridCol w="3081528"/>
                <a:gridCol w="1143000"/>
              </a:tblGrid>
              <a:tr h="0">
                <a:tc>
                  <a:txBody>
                    <a:bodyPr/>
                    <a:lstStyle/>
                    <a:p>
                      <a:pPr indent="0" marL="0">
                        <a:buNone/>
                      </a:pPr>
                      <a:r>
                        <a:rPr lang="en-US" sz="950" b="1" spc="150" kern="0" dirty="0">
                          <a:solidFill>
                            <a:srgbClr val="3D4852"/>
                          </a:solidFill>
                          <a:latin typeface="Calibri" pitchFamily="34" charset="0"/>
                          <a:ea typeface="Calibri" pitchFamily="34" charset="-122"/>
                          <a:cs typeface="Calibri" pitchFamily="34" charset="-120"/>
                        </a:rPr>
                        <a:t>BLOCKER</a:t>
                      </a:r>
                      <a:endParaRPr lang="en-US" sz="950" dirty="0">
                        <a:latin typeface="Calibri" charset="0"/>
                        <a:ea typeface="Calibri" charset="0"/>
                        <a:cs typeface="Calibri" charset="0"/>
                      </a:endParaRPr>
                    </a:p>
                  </a:txBody>
                  <a:tcPr marL="54864" marR="54864" marT="18288" marB="64008" anchor="b">
                    <a:lnL w="0" cap="flat" cmpd="sng" algn="ctr">
                      <a:noFill/>
                    </a:lnL>
                    <a:lnR w="0" cap="flat" cmpd="sng" algn="ctr">
                      <a:noFill/>
                    </a:lnR>
                    <a:lnT w="0" cap="flat" cmpd="sng" algn="ctr">
                      <a:noFill/>
                    </a:lnT>
                    <a:lnB w="15875" cap="flat" cmpd="sng" algn="ctr">
                      <a:solidFill>
                        <a:srgbClr val="111C24"/>
                      </a:solidFill>
                      <a:prstDash val="solid"/>
                      <a:round/>
                      <a:headEnd type="none" w="med" len="med"/>
                      <a:tailEnd type="none" w="med" len="med"/>
                    </a:lnB>
                  </a:tcPr>
                </a:tc>
                <a:tc>
                  <a:txBody>
                    <a:bodyPr/>
                    <a:lstStyle/>
                    <a:p>
                      <a:pPr indent="0" marL="0">
                        <a:buNone/>
                      </a:pPr>
                      <a:r>
                        <a:rPr lang="en-US" sz="950" b="1" spc="150" kern="0" dirty="0">
                          <a:solidFill>
                            <a:srgbClr val="3D4852"/>
                          </a:solidFill>
                          <a:latin typeface="Calibri" pitchFamily="34" charset="0"/>
                          <a:ea typeface="Calibri" pitchFamily="34" charset="-122"/>
                          <a:cs typeface="Calibri" pitchFamily="34" charset="-120"/>
                        </a:rPr>
                        <a:t>WHAT IT IS COSTING</a:t>
                      </a:r>
                      <a:endParaRPr lang="en-US" sz="950" dirty="0">
                        <a:latin typeface="Calibri" charset="0"/>
                        <a:ea typeface="Calibri" charset="0"/>
                        <a:cs typeface="Calibri" charset="0"/>
                      </a:endParaRPr>
                    </a:p>
                  </a:txBody>
                  <a:tcPr marL="54864" marR="54864" marT="18288" marB="64008" anchor="b">
                    <a:lnL w="0" cap="flat" cmpd="sng" algn="ctr">
                      <a:noFill/>
                    </a:lnL>
                    <a:lnR w="0" cap="flat" cmpd="sng" algn="ctr">
                      <a:noFill/>
                    </a:lnR>
                    <a:lnT w="0" cap="flat" cmpd="sng" algn="ctr">
                      <a:noFill/>
                    </a:lnT>
                    <a:lnB w="15875" cap="flat" cmpd="sng" algn="ctr">
                      <a:solidFill>
                        <a:srgbClr val="111C24"/>
                      </a:solidFill>
                      <a:prstDash val="solid"/>
                      <a:round/>
                      <a:headEnd type="none" w="med" len="med"/>
                      <a:tailEnd type="none" w="med" len="med"/>
                    </a:lnB>
                  </a:tcPr>
                </a:tc>
                <a:tc>
                  <a:txBody>
                    <a:bodyPr/>
                    <a:lstStyle/>
                    <a:p>
                      <a:pPr indent="0" marL="0">
                        <a:buNone/>
                      </a:pPr>
                      <a:r>
                        <a:rPr lang="en-US" sz="950" b="1" spc="150" kern="0" dirty="0">
                          <a:solidFill>
                            <a:srgbClr val="3D4852"/>
                          </a:solidFill>
                          <a:latin typeface="Calibri" pitchFamily="34" charset="0"/>
                          <a:ea typeface="Calibri" pitchFamily="34" charset="-122"/>
                          <a:cs typeface="Calibri" pitchFamily="34" charset="-120"/>
                        </a:rPr>
                        <a:t>WHO MUST ACT</a:t>
                      </a:r>
                      <a:endParaRPr lang="en-US" sz="950" dirty="0">
                        <a:latin typeface="Calibri" charset="0"/>
                        <a:ea typeface="Calibri" charset="0"/>
                        <a:cs typeface="Calibri" charset="0"/>
                      </a:endParaRPr>
                    </a:p>
                  </a:txBody>
                  <a:tcPr marL="54864" marR="54864" marT="18288" marB="64008" anchor="b">
                    <a:lnL w="0" cap="flat" cmpd="sng" algn="ctr">
                      <a:noFill/>
                    </a:lnL>
                    <a:lnR w="0" cap="flat" cmpd="sng" algn="ctr">
                      <a:noFill/>
                    </a:lnR>
                    <a:lnT w="0" cap="flat" cmpd="sng" algn="ctr">
                      <a:noFill/>
                    </a:lnT>
                    <a:lnB w="15875" cap="flat" cmpd="sng" algn="ctr">
                      <a:solidFill>
                        <a:srgbClr val="111C24"/>
                      </a:solidFill>
                      <a:prstDash val="solid"/>
                      <a:round/>
                      <a:headEnd type="none" w="med" len="med"/>
                      <a:tailEnd type="none" w="med" len="med"/>
                    </a:lnB>
                  </a:tcPr>
                </a:tc>
                <a:tc>
                  <a:txBody>
                    <a:bodyPr/>
                    <a:lstStyle/>
                    <a:p>
                      <a:pPr indent="0" marL="0">
                        <a:buNone/>
                      </a:pPr>
                      <a:r>
                        <a:rPr lang="en-US" sz="950" b="1" spc="150" kern="0" dirty="0">
                          <a:solidFill>
                            <a:srgbClr val="3D4852"/>
                          </a:solidFill>
                          <a:latin typeface="Calibri" pitchFamily="34" charset="0"/>
                          <a:ea typeface="Calibri" pitchFamily="34" charset="-122"/>
                          <a:cs typeface="Calibri" pitchFamily="34" charset="-120"/>
                        </a:rPr>
                        <a:t>RECOMMENDATION</a:t>
                      </a:r>
                      <a:endParaRPr lang="en-US" sz="950" dirty="0">
                        <a:latin typeface="Calibri" charset="0"/>
                        <a:ea typeface="Calibri" charset="0"/>
                        <a:cs typeface="Calibri" charset="0"/>
                      </a:endParaRPr>
                    </a:p>
                  </a:txBody>
                  <a:tcPr marL="54864" marR="54864" marT="18288" marB="64008" anchor="b">
                    <a:lnL w="0" cap="flat" cmpd="sng" algn="ctr">
                      <a:noFill/>
                    </a:lnL>
                    <a:lnR w="0" cap="flat" cmpd="sng" algn="ctr">
                      <a:noFill/>
                    </a:lnR>
                    <a:lnT w="0" cap="flat" cmpd="sng" algn="ctr">
                      <a:noFill/>
                    </a:lnT>
                    <a:lnB w="15875" cap="flat" cmpd="sng" algn="ctr">
                      <a:solidFill>
                        <a:srgbClr val="111C24"/>
                      </a:solidFill>
                      <a:prstDash val="solid"/>
                      <a:round/>
                      <a:headEnd type="none" w="med" len="med"/>
                      <a:tailEnd type="none" w="med" len="med"/>
                    </a:lnB>
                  </a:tcPr>
                </a:tc>
                <a:tc>
                  <a:txBody>
                    <a:bodyPr/>
                    <a:lstStyle/>
                    <a:p>
                      <a:pPr indent="0" marL="0">
                        <a:buNone/>
                      </a:pPr>
                      <a:r>
                        <a:rPr lang="en-US" sz="950" b="1" spc="150" kern="0" dirty="0">
                          <a:solidFill>
                            <a:srgbClr val="3D4852"/>
                          </a:solidFill>
                          <a:latin typeface="Calibri" pitchFamily="34" charset="0"/>
                          <a:ea typeface="Calibri" pitchFamily="34" charset="-122"/>
                          <a:cs typeface="Calibri" pitchFamily="34" charset="-120"/>
                        </a:rPr>
                        <a:t>DECISION BY</a:t>
                      </a:r>
                      <a:endParaRPr lang="en-US" sz="950" dirty="0">
                        <a:latin typeface="Calibri" charset="0"/>
                        <a:ea typeface="Calibri" charset="0"/>
                        <a:cs typeface="Calibri" charset="0"/>
                      </a:endParaRPr>
                    </a:p>
                  </a:txBody>
                  <a:tcPr marL="54864" marR="54864" marT="18288" marB="64008" anchor="b">
                    <a:lnL w="0" cap="flat" cmpd="sng" algn="ctr">
                      <a:noFill/>
                    </a:lnL>
                    <a:lnR w="0" cap="flat" cmpd="sng" algn="ctr">
                      <a:noFill/>
                    </a:lnR>
                    <a:lnT w="0" cap="flat" cmpd="sng" algn="ctr">
                      <a:noFill/>
                    </a:lnT>
                    <a:lnB w="15875" cap="flat" cmpd="sng" algn="ctr">
                      <a:solidFill>
                        <a:srgbClr val="111C24"/>
                      </a:solidFill>
                      <a:prstDash val="solid"/>
                      <a:round/>
                      <a:headEnd type="none" w="med" len="med"/>
                      <a:tailEnd type="none" w="med" len="med"/>
                    </a:lnB>
                  </a:tcPr>
                </a:tc>
              </a:tr>
              <a:tr h="0">
                <a:tc>
                  <a:txBody>
                    <a:bodyPr/>
                    <a:lstStyle/>
                    <a:p>
                      <a:pPr indent="0" marL="0">
                        <a:buNone/>
                      </a:pPr>
                      <a:r>
                        <a:rPr lang="en-US" sz="1100" dirty="0">
                          <a:solidFill>
                            <a:srgbClr val="111C24"/>
                          </a:solidFill>
                          <a:latin typeface="Calibri" pitchFamily="34" charset="0"/>
                          <a:ea typeface="Calibri" pitchFamily="34" charset="-122"/>
                          <a:cs typeface="Calibri" pitchFamily="34" charset="-120"/>
                        </a:rPr>
                        <a:t>Prime Big Deal Days is four days out with no PPC plan outside Bamboo</a:t>
                      </a:r>
                      <a:endParaRPr lang="en-US" sz="11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00" dirty="0">
                          <a:solidFill>
                            <a:srgbClr val="111C24"/>
                          </a:solidFill>
                          <a:latin typeface="Calibri" pitchFamily="34" charset="0"/>
                          <a:ea typeface="Calibri" pitchFamily="34" charset="-122"/>
                          <a:cs typeface="Calibri" pitchFamily="34" charset="-120"/>
                        </a:rPr>
                        <a:t>No deal-day budget or bid stance; the S4 deal shows 10 issues. Bamboo plans set theirs: budgets 1.5×, bids hold</a:t>
                      </a:r>
                      <a:endParaRPr lang="en-US" sz="11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00" dirty="0">
                          <a:solidFill>
                            <a:srgbClr val="111C24"/>
                          </a:solidFill>
                          <a:latin typeface="Calibri" pitchFamily="34" charset="0"/>
                          <a:ea typeface="Calibri" pitchFamily="34" charset="-122"/>
                          <a:cs typeface="Calibri" pitchFamily="34" charset="-120"/>
                        </a:rPr>
                        <a:t>Shayan T, Joseph</a:t>
                      </a:r>
                      <a:endParaRPr lang="en-US" sz="11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00" dirty="0">
                          <a:solidFill>
                            <a:srgbClr val="111C24"/>
                          </a:solidFill>
                          <a:latin typeface="Calibri" pitchFamily="34" charset="0"/>
                          <a:ea typeface="Calibri" pitchFamily="34" charset="-122"/>
                          <a:cs typeface="Calibri" pitchFamily="34" charset="-120"/>
                        </a:rPr>
                        <a:t>Set the deal-day budget today and clear the S4 deal issues</a:t>
                      </a:r>
                      <a:endParaRPr lang="en-US" sz="11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00" dirty="0">
                          <a:solidFill>
                            <a:srgbClr val="111C24"/>
                          </a:solidFill>
                          <a:latin typeface="Calibri" pitchFamily="34" charset="0"/>
                          <a:ea typeface="Calibri" pitchFamily="34" charset="-122"/>
                          <a:cs typeface="Calibri" pitchFamily="34" charset="-120"/>
                        </a:rPr>
                        <a:t>Today, Oct 2</a:t>
                      </a:r>
                      <a:endParaRPr lang="en-US" sz="11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r>
              <a:tr h="0">
                <a:tc>
                  <a:txBody>
                    <a:bodyPr/>
                    <a:lstStyle/>
                    <a:p>
                      <a:pPr indent="0" marL="0">
                        <a:buNone/>
                      </a:pPr>
                      <a:r>
                        <a:rPr lang="en-US" sz="1100" dirty="0">
                          <a:solidFill>
                            <a:srgbClr val="111C24"/>
                          </a:solidFill>
                          <a:latin typeface="Calibri" pitchFamily="34" charset="0"/>
                          <a:ea typeface="Calibri" pitchFamily="34" charset="-122"/>
                          <a:cs typeface="Calibri" pitchFamily="34" charset="-120"/>
                        </a:rPr>
                        <a:t>Amazon set its own budget rules on about 20% of campaigns</a:t>
                      </a:r>
                      <a:endParaRPr lang="en-US" sz="11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00" dirty="0">
                          <a:solidFill>
                            <a:srgbClr val="111C24"/>
                          </a:solidFill>
                          <a:latin typeface="Calibri" pitchFamily="34" charset="0"/>
                          <a:ea typeface="Calibri" pitchFamily="34" charset="-122"/>
                          <a:cs typeface="Calibri" pitchFamily="34" charset="-120"/>
                        </a:rPr>
                        <a:t>Bids rise 50% over the event on campaigns we did not pick</a:t>
                      </a:r>
                      <a:endParaRPr lang="en-US" sz="11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00" dirty="0">
                          <a:solidFill>
                            <a:srgbClr val="111C24"/>
                          </a:solidFill>
                          <a:latin typeface="Calibri" pitchFamily="34" charset="0"/>
                          <a:ea typeface="Calibri" pitchFamily="34" charset="-122"/>
                          <a:cs typeface="Calibri" pitchFamily="34" charset="-120"/>
                        </a:rPr>
                        <a:t>All line owners</a:t>
                      </a:r>
                      <a:endParaRPr lang="en-US" sz="11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00" dirty="0">
                          <a:solidFill>
                            <a:srgbClr val="111C24"/>
                          </a:solidFill>
                          <a:latin typeface="Calibri" pitchFamily="34" charset="0"/>
                          <a:ea typeface="Calibri" pitchFamily="34" charset="-122"/>
                          <a:cs typeface="Calibri" pitchFamily="34" charset="-120"/>
                        </a:rPr>
                        <a:t>Sweep every Dynamic Up-and-Down campaign and strip the rules</a:t>
                      </a:r>
                      <a:endParaRPr lang="en-US" sz="11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00" dirty="0">
                          <a:solidFill>
                            <a:srgbClr val="111C24"/>
                          </a:solidFill>
                          <a:latin typeface="Calibri" pitchFamily="34" charset="0"/>
                          <a:ea typeface="Calibri" pitchFamily="34" charset="-122"/>
                          <a:cs typeface="Calibri" pitchFamily="34" charset="-120"/>
                        </a:rPr>
                        <a:t>Today, Oct 2</a:t>
                      </a:r>
                      <a:endParaRPr lang="en-US" sz="11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r>
              <a:tr h="0">
                <a:tc>
                  <a:txBody>
                    <a:bodyPr/>
                    <a:lstStyle/>
                    <a:p>
                      <a:pPr indent="0" marL="0">
                        <a:buNone/>
                      </a:pPr>
                      <a:r>
                        <a:rPr lang="en-US" sz="1100" dirty="0">
                          <a:solidFill>
                            <a:srgbClr val="111C24"/>
                          </a:solidFill>
                          <a:latin typeface="Calibri" pitchFamily="34" charset="0"/>
                          <a:ea typeface="Calibri" pitchFamily="34" charset="-122"/>
                          <a:cs typeface="Calibri" pitchFamily="34" charset="-120"/>
                        </a:rPr>
                        <a:t>Bamboo push needs sign-offs before its first reads</a:t>
                      </a:r>
                      <a:endParaRPr lang="en-US" sz="11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00" dirty="0">
                          <a:solidFill>
                            <a:srgbClr val="111C24"/>
                          </a:solidFill>
                          <a:latin typeface="Calibri" pitchFamily="34" charset="0"/>
                          <a:ea typeface="Calibri" pitchFamily="34" charset="-122"/>
                          <a:cs typeface="Calibri" pitchFamily="34" charset="-120"/>
                        </a:rPr>
                        <a:t>B4 runs at 22–25% of sales 30 Oct–19 Nov if heads stay on; reads run against goals the system does not hold</a:t>
                      </a:r>
                      <a:endParaRPr lang="en-US" sz="11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00" dirty="0">
                          <a:solidFill>
                            <a:srgbClr val="111C24"/>
                          </a:solidFill>
                          <a:latin typeface="Calibri" pitchFamily="34" charset="0"/>
                          <a:ea typeface="Calibri" pitchFamily="34" charset="-122"/>
                          <a:cs typeface="Calibri" pitchFamily="34" charset="-120"/>
                        </a:rPr>
                        <a:t>Erik, Joseph, Operations</a:t>
                      </a:r>
                      <a:endParaRPr lang="en-US" sz="11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00" dirty="0">
                          <a:solidFill>
                            <a:srgbClr val="111C24"/>
                          </a:solidFill>
                          <a:latin typeface="Calibri" pitchFamily="34" charset="0"/>
                          <a:ea typeface="Calibri" pitchFamily="34" charset="-122"/>
                          <a:cs typeface="Calibri" pitchFamily="34" charset="-120"/>
                        </a:rPr>
                        <a:t>Erik: spend above 20%, heads between deals, cooling timing. Joseph: goals in Target Setting. Ops: Queen and Full White dates</a:t>
                      </a:r>
                      <a:endParaRPr lang="en-US" sz="11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00" dirty="0">
                          <a:solidFill>
                            <a:srgbClr val="111C24"/>
                          </a:solidFill>
                          <a:latin typeface="Calibri" pitchFamily="34" charset="0"/>
                          <a:ea typeface="Calibri" pitchFamily="34" charset="-122"/>
                          <a:cs typeface="Calibri" pitchFamily="34" charset="-120"/>
                        </a:rPr>
                        <a:t>Mon, Oct 5</a:t>
                      </a:r>
                      <a:endParaRPr lang="en-US" sz="11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r>
              <a:tr h="0">
                <a:tc>
                  <a:txBody>
                    <a:bodyPr/>
                    <a:lstStyle/>
                    <a:p>
                      <a:pPr indent="0" marL="0">
                        <a:buNone/>
                      </a:pPr>
                      <a:r>
                        <a:rPr lang="en-US" sz="1100" dirty="0">
                          <a:solidFill>
                            <a:srgbClr val="111C24"/>
                          </a:solidFill>
                          <a:latin typeface="Calibri" pitchFamily="34" charset="0"/>
                          <a:ea typeface="Calibri" pitchFamily="34" charset="-122"/>
                          <a:cs typeface="Calibri" pitchFamily="34" charset="-120"/>
                        </a:rPr>
                        <a:t>Bamboo ownership is unresolved between Rana and Taquie</a:t>
                      </a:r>
                      <a:endParaRPr lang="en-US" sz="11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00" dirty="0">
                          <a:solidFill>
                            <a:srgbClr val="111C24"/>
                          </a:solidFill>
                          <a:latin typeface="Calibri" pitchFamily="34" charset="0"/>
                          <a:ea typeface="Calibri" pitchFamily="34" charset="-122"/>
                          <a:cs typeface="Calibri" pitchFamily="34" charset="-120"/>
                        </a:rPr>
                        <a:t>The member plan names Rana; Joseph asked for Taquie on 28 Sep</a:t>
                      </a:r>
                      <a:endParaRPr lang="en-US" sz="11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00" dirty="0">
                          <a:solidFill>
                            <a:srgbClr val="111C24"/>
                          </a:solidFill>
                          <a:latin typeface="Calibri" pitchFamily="34" charset="0"/>
                          <a:ea typeface="Calibri" pitchFamily="34" charset="-122"/>
                          <a:cs typeface="Calibri" pitchFamily="34" charset="-120"/>
                        </a:rPr>
                        <a:t>Erik with Joseph</a:t>
                      </a:r>
                      <a:endParaRPr lang="en-US" sz="11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00" dirty="0">
                          <a:solidFill>
                            <a:srgbClr val="111C24"/>
                          </a:solidFill>
                          <a:latin typeface="Calibri" pitchFamily="34" charset="0"/>
                          <a:ea typeface="Calibri" pitchFamily="34" charset="-122"/>
                          <a:cs typeface="Calibri" pitchFamily="34" charset="-120"/>
                        </a:rPr>
                        <a:t>Settle it Monday and reissue the member plan against it</a:t>
                      </a:r>
                      <a:endParaRPr lang="en-US" sz="11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00" dirty="0">
                          <a:solidFill>
                            <a:srgbClr val="111C24"/>
                          </a:solidFill>
                          <a:latin typeface="Calibri" pitchFamily="34" charset="0"/>
                          <a:ea typeface="Calibri" pitchFamily="34" charset="-122"/>
                          <a:cs typeface="Calibri" pitchFamily="34" charset="-120"/>
                        </a:rPr>
                        <a:t>Mon, Oct 5</a:t>
                      </a:r>
                      <a:endParaRPr lang="en-US" sz="11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r>
              <a:tr h="0">
                <a:tc>
                  <a:txBody>
                    <a:bodyPr/>
                    <a:lstStyle/>
                    <a:p>
                      <a:pPr indent="0" marL="0">
                        <a:buNone/>
                      </a:pPr>
                      <a:r>
                        <a:rPr lang="en-US" sz="1100" dirty="0">
                          <a:solidFill>
                            <a:srgbClr val="111C24"/>
                          </a:solidFill>
                          <a:latin typeface="Calibri" pitchFamily="34" charset="0"/>
                          <a:ea typeface="Calibri" pitchFamily="34" charset="-122"/>
                          <a:cs typeface="Calibri" pitchFamily="34" charset="-120"/>
                        </a:rPr>
                        <a:t>Engine sign-offs and Q1 to Q8 are still open with Joseph</a:t>
                      </a:r>
                      <a:endParaRPr lang="en-US" sz="11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00" dirty="0">
                          <a:solidFill>
                            <a:srgbClr val="111C24"/>
                          </a:solidFill>
                          <a:latin typeface="Calibri" pitchFamily="34" charset="0"/>
                          <a:ea typeface="Calibri" pitchFamily="34" charset="-122"/>
                          <a:cs typeface="Calibri" pitchFamily="34" charset="-120"/>
                        </a:rPr>
                        <a:t>Section 7 rules and the new thresholds cannot be applied</a:t>
                      </a:r>
                      <a:endParaRPr lang="en-US" sz="11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00" dirty="0">
                          <a:solidFill>
                            <a:srgbClr val="111C24"/>
                          </a:solidFill>
                          <a:latin typeface="Calibri" pitchFamily="34" charset="0"/>
                          <a:ea typeface="Calibri" pitchFamily="34" charset="-122"/>
                          <a:cs typeface="Calibri" pitchFamily="34" charset="-120"/>
                        </a:rPr>
                        <a:t>Joseph, Erik</a:t>
                      </a:r>
                      <a:endParaRPr lang="en-US" sz="11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00" dirty="0">
                          <a:solidFill>
                            <a:srgbClr val="111C24"/>
                          </a:solidFill>
                          <a:latin typeface="Calibri" pitchFamily="34" charset="0"/>
                          <a:ea typeface="Calibri" pitchFamily="34" charset="-122"/>
                          <a:cs typeface="Calibri" pitchFamily="34" charset="-120"/>
                        </a:rPr>
                        <a:t>Walk the register in one sitting and sign off each item</a:t>
                      </a:r>
                      <a:endParaRPr lang="en-US" sz="11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00" dirty="0">
                          <a:solidFill>
                            <a:srgbClr val="111C24"/>
                          </a:solidFill>
                          <a:latin typeface="Calibri" pitchFamily="34" charset="0"/>
                          <a:ea typeface="Calibri" pitchFamily="34" charset="-122"/>
                          <a:cs typeface="Calibri" pitchFamily="34" charset="-120"/>
                        </a:rPr>
                        <a:t>Mon, Oct 5</a:t>
                      </a:r>
                      <a:endParaRPr lang="en-US" sz="11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r>
            </a:tbl>
          </a:graphicData>
        </a:graphic>
      </p:graphicFrame>
      <p:sp>
        <p:nvSpPr>
          <p:cNvPr id="7" name="Shape 4"/>
          <p:cNvSpPr/>
          <p:nvPr/>
        </p:nvSpPr>
        <p:spPr>
          <a:xfrm>
            <a:off x="640080" y="4681728"/>
            <a:ext cx="11036808" cy="1078992"/>
          </a:xfrm>
          <a:prstGeom prst="roundRect">
            <a:avLst>
              <a:gd name="adj" fmla="val 5085"/>
            </a:avLst>
          </a:prstGeom>
          <a:solidFill>
            <a:srgbClr val="FBF3E4"/>
          </a:solidFill>
          <a:ln w="9525">
            <a:solidFill>
              <a:srgbClr val="D2B885"/>
            </a:solidFill>
            <a:prstDash val="solid"/>
          </a:ln>
        </p:spPr>
      </p:sp>
      <p:sp>
        <p:nvSpPr>
          <p:cNvPr id="8" name="Text 5"/>
          <p:cNvSpPr txBox="1"/>
          <p:nvPr/>
        </p:nvSpPr>
        <p:spPr>
          <a:xfrm>
            <a:off x="868680" y="4754880"/>
            <a:ext cx="7315200" cy="237744"/>
          </a:xfrm>
          <a:prstGeom prst="rect">
            <a:avLst/>
          </a:prstGeom>
          <a:noFill/>
          <a:ln/>
        </p:spPr>
        <p:txBody>
          <a:bodyPr wrap="square" lIns="0" tIns="0" rIns="0" bIns="0" rtlCol="0" anchor="ctr"/>
          <a:lstStyle/>
          <a:p>
            <a:pPr indent="0" marL="0">
              <a:buNone/>
            </a:pPr>
            <a:r>
              <a:rPr lang="en-US" sz="1050" b="1" spc="200" kern="0" dirty="0">
                <a:solidFill>
                  <a:srgbClr val="6E4A0F"/>
                </a:solidFill>
                <a:latin typeface="Calibri" pitchFamily="34" charset="0"/>
                <a:ea typeface="Calibri" pitchFamily="34" charset="-122"/>
                <a:cs typeface="Calibri" pitchFamily="34" charset="-120"/>
              </a:rPr>
              <a:t>THE 15 OPEN ITEMS CARRIED INTO NEXT WEEK</a:t>
            </a:r>
            <a:endParaRPr lang="en-US" sz="1050" dirty="0"/>
          </a:p>
        </p:txBody>
      </p:sp>
      <p:sp>
        <p:nvSpPr>
          <p:cNvPr id="9" name="Text 6"/>
          <p:cNvSpPr txBox="1"/>
          <p:nvPr/>
        </p:nvSpPr>
        <p:spPr>
          <a:xfrm>
            <a:off x="868680" y="4992624"/>
            <a:ext cx="2651760" cy="731520"/>
          </a:xfrm>
          <a:prstGeom prst="rect">
            <a:avLst/>
          </a:prstGeom>
          <a:noFill/>
          <a:ln/>
        </p:spPr>
        <p:txBody>
          <a:bodyPr wrap="square" lIns="0" tIns="0" rIns="0" bIns="0" rtlCol="0" anchor="t"/>
          <a:lstStyle/>
          <a:p>
            <a:pPr indent="0" marL="0">
              <a:buNone/>
            </a:pPr>
            <a:r>
              <a:rPr lang="en-US" sz="900" dirty="0">
                <a:solidFill>
                  <a:srgbClr val="6E4A0F"/>
                </a:solidFill>
                <a:latin typeface="Calibri" pitchFamily="34" charset="0"/>
                <a:ea typeface="Calibri" pitchFamily="34" charset="-122"/>
                <a:cs typeface="Calibri" pitchFamily="34" charset="-120"/>
              </a:rPr>
              <a:t>Campaign-type list + screenshot</a:t>
            </a:r>
            <a:endParaRPr lang="en-US" sz="900" dirty="0"/>
          </a:p>
          <a:p>
            <a:pPr indent="0" marL="0">
              <a:buNone/>
            </a:pPr>
            <a:r>
              <a:rPr lang="en-US" sz="900" dirty="0">
                <a:solidFill>
                  <a:srgbClr val="6E4A0F"/>
                </a:solidFill>
                <a:latin typeface="Calibri" pitchFamily="34" charset="0"/>
                <a:ea typeface="Calibri" pitchFamily="34" charset="-122"/>
                <a:cs typeface="Calibri" pitchFamily="34" charset="-120"/>
              </a:rPr>
              <a:t>Ad-type framework document</a:t>
            </a:r>
            <a:endParaRPr lang="en-US" sz="900" dirty="0"/>
          </a:p>
          <a:p>
            <a:pPr indent="0" marL="0">
              <a:buNone/>
            </a:pPr>
            <a:r>
              <a:rPr lang="en-US" sz="900" dirty="0">
                <a:solidFill>
                  <a:srgbClr val="6E4A0F"/>
                </a:solidFill>
                <a:latin typeface="Calibri" pitchFamily="34" charset="0"/>
                <a:ea typeface="Calibri" pitchFamily="34" charset="-122"/>
                <a:cs typeface="Calibri" pitchFamily="34" charset="-120"/>
              </a:rPr>
              <a:t>Stabilisation proposal</a:t>
            </a:r>
            <a:endParaRPr lang="en-US" sz="900" dirty="0"/>
          </a:p>
          <a:p>
            <a:pPr indent="0" marL="0">
              <a:buNone/>
            </a:pPr>
            <a:r>
              <a:rPr lang="en-US" sz="900" dirty="0">
                <a:solidFill>
                  <a:srgbClr val="6E4A0F"/>
                </a:solidFill>
                <a:latin typeface="Calibri" pitchFamily="34" charset="0"/>
                <a:ea typeface="Calibri" pitchFamily="34" charset="-122"/>
                <a:cs typeface="Calibri" pitchFamily="34" charset="-120"/>
              </a:rPr>
              <a:t>Creative for 14 held campaigns</a:t>
            </a:r>
            <a:endParaRPr lang="en-US" sz="900" dirty="0"/>
          </a:p>
        </p:txBody>
      </p:sp>
      <p:sp>
        <p:nvSpPr>
          <p:cNvPr id="10" name="Text 7"/>
          <p:cNvSpPr txBox="1"/>
          <p:nvPr/>
        </p:nvSpPr>
        <p:spPr>
          <a:xfrm>
            <a:off x="3566160" y="4992624"/>
            <a:ext cx="2651760" cy="731520"/>
          </a:xfrm>
          <a:prstGeom prst="rect">
            <a:avLst/>
          </a:prstGeom>
          <a:noFill/>
          <a:ln/>
        </p:spPr>
        <p:txBody>
          <a:bodyPr wrap="square" lIns="0" tIns="0" rIns="0" bIns="0" rtlCol="0" anchor="t"/>
          <a:lstStyle/>
          <a:p>
            <a:pPr indent="0" marL="0">
              <a:buNone/>
            </a:pPr>
            <a:r>
              <a:rPr lang="en-US" sz="900" dirty="0">
                <a:solidFill>
                  <a:srgbClr val="6E4A0F"/>
                </a:solidFill>
                <a:latin typeface="Calibri" pitchFamily="34" charset="0"/>
                <a:ea typeface="Calibri" pitchFamily="34" charset="-122"/>
                <a:cs typeface="Calibri" pitchFamily="34" charset="-120"/>
              </a:rPr>
              <a:t>Conquest PAT test staging</a:t>
            </a:r>
            <a:endParaRPr lang="en-US" sz="900" dirty="0"/>
          </a:p>
          <a:p>
            <a:pPr indent="0" marL="0">
              <a:buNone/>
            </a:pPr>
            <a:r>
              <a:rPr lang="en-US" sz="900" dirty="0">
                <a:solidFill>
                  <a:srgbClr val="6E4A0F"/>
                </a:solidFill>
                <a:latin typeface="Calibri" pitchFamily="34" charset="0"/>
                <a:ea typeface="Calibri" pitchFamily="34" charset="-122"/>
                <a:cs typeface="Calibri" pitchFamily="34" charset="-120"/>
              </a:rPr>
              <a:t>20 negative-keyword changes</a:t>
            </a:r>
            <a:endParaRPr lang="en-US" sz="900" dirty="0"/>
          </a:p>
          <a:p>
            <a:pPr indent="0" marL="0">
              <a:buNone/>
            </a:pPr>
            <a:r>
              <a:rPr lang="en-US" sz="900" dirty="0">
                <a:solidFill>
                  <a:srgbClr val="6E4A0F"/>
                </a:solidFill>
                <a:latin typeface="Calibri" pitchFamily="34" charset="0"/>
                <a:ea typeface="Calibri" pitchFamily="34" charset="-122"/>
                <a:cs typeface="Calibri" pitchFamily="34" charset="-120"/>
              </a:rPr>
              <a:t>BAMBOO-KING-WHITE dark campaign</a:t>
            </a:r>
            <a:endParaRPr lang="en-US" sz="900" dirty="0"/>
          </a:p>
          <a:p>
            <a:pPr indent="0" marL="0">
              <a:buNone/>
            </a:pPr>
            <a:r>
              <a:rPr lang="en-US" sz="900" dirty="0">
                <a:solidFill>
                  <a:srgbClr val="6E4A0F"/>
                </a:solidFill>
                <a:latin typeface="Calibri" pitchFamily="34" charset="0"/>
                <a:ea typeface="Calibri" pitchFamily="34" charset="-122"/>
                <a:cs typeface="Calibri" pitchFamily="34" charset="-120"/>
              </a:rPr>
              <a:t>Q1 to Q8 engine decisions</a:t>
            </a:r>
            <a:endParaRPr lang="en-US" sz="900" dirty="0"/>
          </a:p>
        </p:txBody>
      </p:sp>
      <p:sp>
        <p:nvSpPr>
          <p:cNvPr id="11" name="Text 8"/>
          <p:cNvSpPr txBox="1"/>
          <p:nvPr/>
        </p:nvSpPr>
        <p:spPr>
          <a:xfrm>
            <a:off x="6263640" y="4992624"/>
            <a:ext cx="2651760" cy="731520"/>
          </a:xfrm>
          <a:prstGeom prst="rect">
            <a:avLst/>
          </a:prstGeom>
          <a:noFill/>
          <a:ln/>
        </p:spPr>
        <p:txBody>
          <a:bodyPr wrap="square" lIns="0" tIns="0" rIns="0" bIns="0" rtlCol="0" anchor="t"/>
          <a:lstStyle/>
          <a:p>
            <a:pPr indent="0" marL="0">
              <a:buNone/>
            </a:pPr>
            <a:r>
              <a:rPr lang="en-US" sz="900" dirty="0">
                <a:solidFill>
                  <a:srgbClr val="6E4A0F"/>
                </a:solidFill>
                <a:latin typeface="Calibri" pitchFamily="34" charset="0"/>
                <a:ea typeface="Calibri" pitchFamily="34" charset="-122"/>
                <a:cs typeface="Calibri" pitchFamily="34" charset="-120"/>
              </a:rPr>
              <a:t>Section 7 rules sign-off</a:t>
            </a:r>
            <a:endParaRPr lang="en-US" sz="900" dirty="0"/>
          </a:p>
          <a:p>
            <a:pPr indent="0" marL="0">
              <a:buNone/>
            </a:pPr>
            <a:r>
              <a:rPr lang="en-US" sz="900" dirty="0">
                <a:solidFill>
                  <a:srgbClr val="6E4A0F"/>
                </a:solidFill>
                <a:latin typeface="Calibri" pitchFamily="34" charset="0"/>
                <a:ea typeface="Calibri" pitchFamily="34" charset="-122"/>
                <a:cs typeface="Calibri" pitchFamily="34" charset="-120"/>
              </a:rPr>
              <a:t>Prime Day deal-day budget</a:t>
            </a:r>
            <a:endParaRPr lang="en-US" sz="900" dirty="0"/>
          </a:p>
          <a:p>
            <a:pPr indent="0" marL="0">
              <a:buNone/>
            </a:pPr>
            <a:r>
              <a:rPr lang="en-US" sz="900" dirty="0">
                <a:solidFill>
                  <a:srgbClr val="6E4A0F"/>
                </a:solidFill>
                <a:latin typeface="Calibri" pitchFamily="34" charset="0"/>
                <a:ea typeface="Calibri" pitchFamily="34" charset="-122"/>
                <a:cs typeface="Calibri" pitchFamily="34" charset="-120"/>
              </a:rPr>
              <a:t>S4 deal issues (10)</a:t>
            </a:r>
            <a:endParaRPr lang="en-US" sz="900" dirty="0"/>
          </a:p>
          <a:p>
            <a:pPr indent="0" marL="0">
              <a:buNone/>
            </a:pPr>
            <a:r>
              <a:rPr lang="en-US" sz="900" dirty="0">
                <a:solidFill>
                  <a:srgbClr val="6E4A0F"/>
                </a:solidFill>
                <a:latin typeface="Calibri" pitchFamily="34" charset="0"/>
                <a:ea typeface="Calibri" pitchFamily="34" charset="-122"/>
                <a:cs typeface="Calibri" pitchFamily="34" charset="-120"/>
              </a:rPr>
              <a:t>Amazon budget-rule sweep</a:t>
            </a:r>
            <a:endParaRPr lang="en-US" sz="900" dirty="0"/>
          </a:p>
        </p:txBody>
      </p:sp>
      <p:sp>
        <p:nvSpPr>
          <p:cNvPr id="12" name="Text 9"/>
          <p:cNvSpPr txBox="1"/>
          <p:nvPr/>
        </p:nvSpPr>
        <p:spPr>
          <a:xfrm>
            <a:off x="8961120" y="4992624"/>
            <a:ext cx="2651760" cy="731520"/>
          </a:xfrm>
          <a:prstGeom prst="rect">
            <a:avLst/>
          </a:prstGeom>
          <a:noFill/>
          <a:ln/>
        </p:spPr>
        <p:txBody>
          <a:bodyPr wrap="square" lIns="0" tIns="0" rIns="0" bIns="0" rtlCol="0" anchor="t"/>
          <a:lstStyle/>
          <a:p>
            <a:pPr indent="0" marL="0">
              <a:buNone/>
            </a:pPr>
            <a:r>
              <a:rPr lang="en-US" sz="900" dirty="0">
                <a:solidFill>
                  <a:srgbClr val="6E4A0F"/>
                </a:solidFill>
                <a:latin typeface="Calibri" pitchFamily="34" charset="0"/>
                <a:ea typeface="Calibri" pitchFamily="34" charset="-122"/>
                <a:cs typeface="Calibri" pitchFamily="34" charset="-120"/>
              </a:rPr>
              <a:t>Canada Bamboo audits</a:t>
            </a:r>
            <a:endParaRPr lang="en-US" sz="900" dirty="0"/>
          </a:p>
          <a:p>
            <a:pPr indent="0" marL="0">
              <a:buNone/>
            </a:pPr>
            <a:r>
              <a:rPr lang="en-US" sz="900" dirty="0">
                <a:solidFill>
                  <a:srgbClr val="6E4A0F"/>
                </a:solidFill>
                <a:latin typeface="Calibri" pitchFamily="34" charset="0"/>
                <a:ea typeface="Calibri" pitchFamily="34" charset="-122"/>
                <a:cs typeface="Calibri" pitchFamily="34" charset="-120"/>
              </a:rPr>
              <a:t>Bamboo push sign-offs (Erik)</a:t>
            </a:r>
            <a:endParaRPr lang="en-US" sz="900" dirty="0"/>
          </a:p>
          <a:p>
            <a:pPr indent="0" marL="0">
              <a:buNone/>
            </a:pPr>
            <a:r>
              <a:rPr lang="en-US" sz="900" dirty="0">
                <a:solidFill>
                  <a:srgbClr val="6E4A0F"/>
                </a:solidFill>
                <a:latin typeface="Calibri" pitchFamily="34" charset="0"/>
                <a:ea typeface="Calibri" pitchFamily="34" charset="-122"/>
                <a:cs typeface="Calibri" pitchFamily="34" charset="-120"/>
              </a:rPr>
              <a:t>Bamboo rank goals in Target Setting</a:t>
            </a:r>
            <a:endParaRPr lang="en-US" sz="900" dirty="0"/>
          </a:p>
        </p:txBody>
      </p:sp>
      <p:sp>
        <p:nvSpPr>
          <p:cNvPr id="13" name="Text 10"/>
          <p:cNvSpPr txBox="1"/>
          <p:nvPr/>
        </p:nvSpPr>
        <p:spPr>
          <a:xfrm>
            <a:off x="640080" y="5852160"/>
            <a:ext cx="11036808" cy="274320"/>
          </a:xfrm>
          <a:prstGeom prst="rect">
            <a:avLst/>
          </a:prstGeom>
          <a:noFill/>
          <a:ln/>
        </p:spPr>
        <p:txBody>
          <a:bodyPr wrap="square" lIns="0" tIns="0" rIns="0" bIns="0" rtlCol="0" anchor="t"/>
          <a:lstStyle/>
          <a:p>
            <a:pPr indent="0" marL="0">
              <a:buNone/>
            </a:pPr>
            <a:r>
              <a:rPr lang="en-US" sz="950" dirty="0">
                <a:solidFill>
                  <a:srgbClr val="4E5A64"/>
                </a:solidFill>
                <a:latin typeface="Calibri" pitchFamily="34" charset="0"/>
                <a:ea typeface="Calibri" pitchFamily="34" charset="-122"/>
                <a:cs typeface="Calibri" pitchFamily="34" charset="-120"/>
              </a:rPr>
              <a:t>First cross-functional blocker this week: the held SB, SBV and SD campaigns need creative from Design before they can go live. Shipment Tracker rows USA237, 238, 241 and 251 sit with IP — Forecasting.</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402336"/>
            <a:ext cx="9326880" cy="292608"/>
          </a:xfrm>
          <a:prstGeom prst="rect">
            <a:avLst/>
          </a:prstGeom>
          <a:noFill/>
          <a:ln/>
        </p:spPr>
        <p:txBody>
          <a:bodyPr wrap="square" lIns="0" tIns="0" rIns="0" bIns="0" rtlCol="0" anchor="ctr"/>
          <a:lstStyle/>
          <a:p>
            <a:pPr indent="0" marL="0">
              <a:buNone/>
            </a:pPr>
            <a:r>
              <a:rPr lang="en-US" sz="1100" b="1" spc="300" kern="0" dirty="0">
                <a:solidFill>
                  <a:srgbClr val="3D4852"/>
                </a:solidFill>
                <a:latin typeface="Calibri" pitchFamily="34" charset="0"/>
                <a:ea typeface="Calibri" pitchFamily="34" charset="-122"/>
                <a:cs typeface="Calibri" pitchFamily="34" charset="-120"/>
              </a:rPr>
              <a:t>PPC   ·   WEEK OF OCTOBER 5 TO 9</a:t>
            </a:r>
            <a:endParaRPr lang="en-US" sz="1100" dirty="0"/>
          </a:p>
        </p:txBody>
      </p:sp>
      <p:sp>
        <p:nvSpPr>
          <p:cNvPr id="3" name="Text 1"/>
          <p:cNvSpPr txBox="1"/>
          <p:nvPr/>
        </p:nvSpPr>
        <p:spPr>
          <a:xfrm>
            <a:off x="640080" y="676656"/>
            <a:ext cx="9326880" cy="658368"/>
          </a:xfrm>
          <a:prstGeom prst="rect">
            <a:avLst/>
          </a:prstGeom>
          <a:noFill/>
          <a:ln/>
        </p:spPr>
        <p:txBody>
          <a:bodyPr wrap="square" lIns="0" tIns="0" rIns="0" bIns="0" rtlCol="0" anchor="ctr"/>
          <a:lstStyle/>
          <a:p>
            <a:pPr indent="0" marL="0">
              <a:buNone/>
            </a:pPr>
            <a:r>
              <a:rPr lang="en-US" sz="3000" b="1" dirty="0">
                <a:solidFill>
                  <a:srgbClr val="111C24"/>
                </a:solidFill>
                <a:latin typeface="Cambria" pitchFamily="34" charset="0"/>
                <a:ea typeface="Cambria" pitchFamily="34" charset="-122"/>
                <a:cs typeface="Cambria" pitchFamily="34" charset="-120"/>
              </a:rPr>
              <a:t>Next week</a:t>
            </a:r>
            <a:endParaRPr lang="en-US" sz="3000" dirty="0"/>
          </a:p>
        </p:txBody>
      </p:sp>
      <p:sp>
        <p:nvSpPr>
          <p:cNvPr id="4" name="Text 2"/>
          <p:cNvSpPr txBox="1"/>
          <p:nvPr/>
        </p:nvSpPr>
        <p:spPr>
          <a:xfrm>
            <a:off x="10241280" y="274320"/>
            <a:ext cx="1435608" cy="914400"/>
          </a:xfrm>
          <a:prstGeom prst="rect">
            <a:avLst/>
          </a:prstGeom>
          <a:noFill/>
          <a:ln/>
        </p:spPr>
        <p:txBody>
          <a:bodyPr wrap="square" lIns="0" tIns="0" rIns="0" bIns="0" rtlCol="0" anchor="ctr"/>
          <a:lstStyle/>
          <a:p>
            <a:pPr algn="r" indent="0" marL="0">
              <a:buNone/>
            </a:pPr>
            <a:r>
              <a:rPr lang="en-US" sz="5400" b="1" dirty="0">
                <a:solidFill>
                  <a:srgbClr val="DCE4EA"/>
                </a:solidFill>
                <a:latin typeface="Cambria" pitchFamily="34" charset="0"/>
                <a:ea typeface="Cambria" pitchFamily="34" charset="-122"/>
                <a:cs typeface="Cambria" pitchFamily="34" charset="-120"/>
              </a:rPr>
              <a:t>04</a:t>
            </a:r>
            <a:endParaRPr lang="en-US" sz="5400" dirty="0"/>
          </a:p>
        </p:txBody>
      </p:sp>
      <p:sp>
        <p:nvSpPr>
          <p:cNvPr id="5" name="Text 3"/>
          <p:cNvSpPr txBox="1"/>
          <p:nvPr/>
        </p:nvSpPr>
        <p:spPr>
          <a:xfrm>
            <a:off x="7315200" y="6382512"/>
            <a:ext cx="4361688" cy="274320"/>
          </a:xfrm>
          <a:prstGeom prst="rect">
            <a:avLst/>
          </a:prstGeom>
          <a:noFill/>
          <a:ln/>
        </p:spPr>
        <p:txBody>
          <a:bodyPr wrap="square" lIns="0" tIns="0" rIns="0" bIns="0" rtlCol="0" anchor="ctr"/>
          <a:lstStyle/>
          <a:p>
            <a:pPr algn="r" indent="0" marL="0">
              <a:buNone/>
            </a:pPr>
            <a:r>
              <a:rPr lang="en-US" sz="1000" dirty="0">
                <a:solidFill>
                  <a:srgbClr val="4E5A64"/>
                </a:solidFill>
                <a:latin typeface="Calibri" pitchFamily="34" charset="0"/>
                <a:ea typeface="Calibri" pitchFamily="34" charset="-122"/>
                <a:cs typeface="Calibri" pitchFamily="34" charset="-120"/>
              </a:rPr>
              <a:t>PPC · Oct 5–9</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1036808" cy="914400"/>
        </p:xfrm>
        <a:graphic>
          <a:graphicData uri="http://schemas.openxmlformats.org/drawingml/2006/table">
            <a:tbl>
              <a:tblPr/>
              <a:tblGrid>
                <a:gridCol w="2514600"/>
                <a:gridCol w="4846320"/>
                <a:gridCol w="1600200"/>
                <a:gridCol w="777240"/>
                <a:gridCol w="1298448"/>
              </a:tblGrid>
              <a:tr h="0">
                <a:tc>
                  <a:txBody>
                    <a:bodyPr/>
                    <a:lstStyle/>
                    <a:p>
                      <a:pPr indent="0" marL="0">
                        <a:buNone/>
                      </a:pPr>
                      <a:r>
                        <a:rPr lang="en-US" sz="950" b="1" spc="150" kern="0" dirty="0">
                          <a:solidFill>
                            <a:srgbClr val="3D4852"/>
                          </a:solidFill>
                          <a:latin typeface="Calibri" pitchFamily="34" charset="0"/>
                          <a:ea typeface="Calibri" pitchFamily="34" charset="-122"/>
                          <a:cs typeface="Calibri" pitchFamily="34" charset="-120"/>
                        </a:rPr>
                        <a:t>WORKSTREAM</a:t>
                      </a:r>
                      <a:endParaRPr lang="en-US" sz="950" dirty="0">
                        <a:latin typeface="Calibri" charset="0"/>
                        <a:ea typeface="Calibri" charset="0"/>
                        <a:cs typeface="Calibri" charset="0"/>
                      </a:endParaRPr>
                    </a:p>
                  </a:txBody>
                  <a:tcPr marL="54864" marR="54864" marT="18288" marB="64008" anchor="b">
                    <a:lnL w="0" cap="flat" cmpd="sng" algn="ctr">
                      <a:noFill/>
                    </a:lnL>
                    <a:lnR w="0" cap="flat" cmpd="sng" algn="ctr">
                      <a:noFill/>
                    </a:lnR>
                    <a:lnT w="0" cap="flat" cmpd="sng" algn="ctr">
                      <a:noFill/>
                    </a:lnT>
                    <a:lnB w="15875" cap="flat" cmpd="sng" algn="ctr">
                      <a:solidFill>
                        <a:srgbClr val="111C24"/>
                      </a:solidFill>
                      <a:prstDash val="solid"/>
                      <a:round/>
                      <a:headEnd type="none" w="med" len="med"/>
                      <a:tailEnd type="none" w="med" len="med"/>
                    </a:lnB>
                  </a:tcPr>
                </a:tc>
                <a:tc>
                  <a:txBody>
                    <a:bodyPr/>
                    <a:lstStyle/>
                    <a:p>
                      <a:pPr indent="0" marL="0">
                        <a:buNone/>
                      </a:pPr>
                      <a:r>
                        <a:rPr lang="en-US" sz="950" b="1" spc="150" kern="0" dirty="0">
                          <a:solidFill>
                            <a:srgbClr val="3D4852"/>
                          </a:solidFill>
                          <a:latin typeface="Calibri" pitchFamily="34" charset="0"/>
                          <a:ea typeface="Calibri" pitchFamily="34" charset="-122"/>
                          <a:cs typeface="Calibri" pitchFamily="34" charset="-120"/>
                        </a:rPr>
                        <a:t>WHAT WE WILL DO</a:t>
                      </a:r>
                      <a:endParaRPr lang="en-US" sz="950" dirty="0">
                        <a:latin typeface="Calibri" charset="0"/>
                        <a:ea typeface="Calibri" charset="0"/>
                        <a:cs typeface="Calibri" charset="0"/>
                      </a:endParaRPr>
                    </a:p>
                  </a:txBody>
                  <a:tcPr marL="54864" marR="54864" marT="18288" marB="64008" anchor="b">
                    <a:lnL w="0" cap="flat" cmpd="sng" algn="ctr">
                      <a:noFill/>
                    </a:lnL>
                    <a:lnR w="0" cap="flat" cmpd="sng" algn="ctr">
                      <a:noFill/>
                    </a:lnR>
                    <a:lnT w="0" cap="flat" cmpd="sng" algn="ctr">
                      <a:noFill/>
                    </a:lnT>
                    <a:lnB w="15875" cap="flat" cmpd="sng" algn="ctr">
                      <a:solidFill>
                        <a:srgbClr val="111C24"/>
                      </a:solidFill>
                      <a:prstDash val="solid"/>
                      <a:round/>
                      <a:headEnd type="none" w="med" len="med"/>
                      <a:tailEnd type="none" w="med" len="med"/>
                    </a:lnB>
                  </a:tcPr>
                </a:tc>
                <a:tc>
                  <a:txBody>
                    <a:bodyPr/>
                    <a:lstStyle/>
                    <a:p>
                      <a:pPr indent="0" marL="0">
                        <a:buNone/>
                      </a:pPr>
                      <a:r>
                        <a:rPr lang="en-US" sz="950" b="1" spc="150" kern="0" dirty="0">
                          <a:solidFill>
                            <a:srgbClr val="3D4852"/>
                          </a:solidFill>
                          <a:latin typeface="Calibri" pitchFamily="34" charset="0"/>
                          <a:ea typeface="Calibri" pitchFamily="34" charset="-122"/>
                          <a:cs typeface="Calibri" pitchFamily="34" charset="-120"/>
                        </a:rPr>
                        <a:t>BY WHEN</a:t>
                      </a:r>
                      <a:endParaRPr lang="en-US" sz="950" dirty="0">
                        <a:latin typeface="Calibri" charset="0"/>
                        <a:ea typeface="Calibri" charset="0"/>
                        <a:cs typeface="Calibri" charset="0"/>
                      </a:endParaRPr>
                    </a:p>
                  </a:txBody>
                  <a:tcPr marL="54864" marR="54864" marT="18288" marB="64008" anchor="b">
                    <a:lnL w="0" cap="flat" cmpd="sng" algn="ctr">
                      <a:noFill/>
                    </a:lnL>
                    <a:lnR w="0" cap="flat" cmpd="sng" algn="ctr">
                      <a:noFill/>
                    </a:lnR>
                    <a:lnT w="0" cap="flat" cmpd="sng" algn="ctr">
                      <a:noFill/>
                    </a:lnT>
                    <a:lnB w="15875" cap="flat" cmpd="sng" algn="ctr">
                      <a:solidFill>
                        <a:srgbClr val="111C24"/>
                      </a:solidFill>
                      <a:prstDash val="solid"/>
                      <a:round/>
                      <a:headEnd type="none" w="med" len="med"/>
                      <a:tailEnd type="none" w="med" len="med"/>
                    </a:lnB>
                  </a:tcPr>
                </a:tc>
                <a:tc>
                  <a:txBody>
                    <a:bodyPr/>
                    <a:lstStyle/>
                    <a:p>
                      <a:pPr indent="0" marL="0">
                        <a:buNone/>
                      </a:pPr>
                      <a:r>
                        <a:rPr lang="en-US" sz="950" b="1" spc="150" kern="0" dirty="0">
                          <a:solidFill>
                            <a:srgbClr val="3D4852"/>
                          </a:solidFill>
                          <a:latin typeface="Calibri" pitchFamily="34" charset="0"/>
                          <a:ea typeface="Calibri" pitchFamily="34" charset="-122"/>
                          <a:cs typeface="Calibri" pitchFamily="34" charset="-120"/>
                        </a:rPr>
                        <a:t>PRIORITY</a:t>
                      </a:r>
                      <a:endParaRPr lang="en-US" sz="950" dirty="0">
                        <a:latin typeface="Calibri" charset="0"/>
                        <a:ea typeface="Calibri" charset="0"/>
                        <a:cs typeface="Calibri" charset="0"/>
                      </a:endParaRPr>
                    </a:p>
                  </a:txBody>
                  <a:tcPr marL="54864" marR="54864" marT="18288" marB="64008" anchor="b">
                    <a:lnL w="0" cap="flat" cmpd="sng" algn="ctr">
                      <a:noFill/>
                    </a:lnL>
                    <a:lnR w="0" cap="flat" cmpd="sng" algn="ctr">
                      <a:noFill/>
                    </a:lnR>
                    <a:lnT w="0" cap="flat" cmpd="sng" algn="ctr">
                      <a:noFill/>
                    </a:lnT>
                    <a:lnB w="15875" cap="flat" cmpd="sng" algn="ctr">
                      <a:solidFill>
                        <a:srgbClr val="111C24"/>
                      </a:solidFill>
                      <a:prstDash val="solid"/>
                      <a:round/>
                      <a:headEnd type="none" w="med" len="med"/>
                      <a:tailEnd type="none" w="med" len="med"/>
                    </a:lnB>
                  </a:tcPr>
                </a:tc>
                <a:tc>
                  <a:txBody>
                    <a:bodyPr/>
                    <a:lstStyle/>
                    <a:p>
                      <a:pPr indent="0" marL="0">
                        <a:buNone/>
                      </a:pPr>
                      <a:r>
                        <a:rPr lang="en-US" sz="950" b="1" spc="150" kern="0" dirty="0">
                          <a:solidFill>
                            <a:srgbClr val="3D4852"/>
                          </a:solidFill>
                          <a:latin typeface="Calibri" pitchFamily="34" charset="0"/>
                          <a:ea typeface="Calibri" pitchFamily="34" charset="-122"/>
                          <a:cs typeface="Calibri" pitchFamily="34" charset="-120"/>
                        </a:rPr>
                        <a:t>CARRYOVER</a:t>
                      </a:r>
                      <a:endParaRPr lang="en-US" sz="950" dirty="0">
                        <a:latin typeface="Calibri" charset="0"/>
                        <a:ea typeface="Calibri" charset="0"/>
                        <a:cs typeface="Calibri" charset="0"/>
                      </a:endParaRPr>
                    </a:p>
                  </a:txBody>
                  <a:tcPr marL="54864" marR="54864" marT="18288" marB="64008" anchor="b">
                    <a:lnL w="0" cap="flat" cmpd="sng" algn="ctr">
                      <a:noFill/>
                    </a:lnL>
                    <a:lnR w="0" cap="flat" cmpd="sng" algn="ctr">
                      <a:noFill/>
                    </a:lnR>
                    <a:lnT w="0" cap="flat" cmpd="sng" algn="ctr">
                      <a:noFill/>
                    </a:lnT>
                    <a:lnB w="15875" cap="flat" cmpd="sng" algn="ctr">
                      <a:solidFill>
                        <a:srgbClr val="111C24"/>
                      </a:solidFill>
                      <a:prstDash val="solid"/>
                      <a:round/>
                      <a:headEnd type="none" w="med" len="med"/>
                      <a:tailEnd type="none" w="med" len="med"/>
                    </a:lnB>
                  </a:tcPr>
                </a:tc>
              </a:tr>
              <a:tr h="0">
                <a:tc>
                  <a:txBody>
                    <a:bodyPr/>
                    <a:lstStyle/>
                    <a:p>
                      <a:pPr indent="0" marL="0">
                        <a:buNone/>
                      </a:pPr>
                      <a:r>
                        <a:rPr lang="en-US" sz="1150" b="1" dirty="0">
                          <a:solidFill>
                            <a:srgbClr val="111C24"/>
                          </a:solidFill>
                          <a:latin typeface="Calibri" pitchFamily="34" charset="0"/>
                          <a:ea typeface="Calibri" pitchFamily="34" charset="-122"/>
                          <a:cs typeface="Calibri" pitchFamily="34" charset="-120"/>
                        </a:rPr>
                        <a:t>Prime Big Deal Days</a:t>
                      </a:r>
                      <a:endParaRPr lang="en-US" sz="1150" dirty="0">
                        <a:latin typeface="Calibri" charset="0"/>
                        <a:ea typeface="Calibri" charset="0"/>
                        <a:cs typeface="Calibri" charset="0"/>
                      </a:endParaRPr>
                    </a:p>
                    <a:p>
                      <a:pPr indent="0" marL="0">
                        <a:buNone/>
                      </a:pPr>
                      <a:r>
                        <a:rPr lang="en-US" sz="1050" dirty="0">
                          <a:solidFill>
                            <a:srgbClr val="4E5A64"/>
                          </a:solidFill>
                          <a:latin typeface="Calibri" pitchFamily="34" charset="0"/>
                          <a:ea typeface="Calibri" pitchFamily="34" charset="-122"/>
                          <a:cs typeface="Calibri" pitchFamily="34" charset="-120"/>
                        </a:rPr>
                        <a:t>Shayan T</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Run the Oct 6–7 event: deal-day budgets live, Amazon's own budget rules stripped, S4 deal issues cleared</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Mon, Oct 5</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P0</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N — new</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r>
              <a:tr h="0">
                <a:tc>
                  <a:txBody>
                    <a:bodyPr/>
                    <a:lstStyle/>
                    <a:p>
                      <a:pPr indent="0" marL="0">
                        <a:buNone/>
                      </a:pPr>
                      <a:r>
                        <a:rPr lang="en-US" sz="1150" b="1" dirty="0">
                          <a:solidFill>
                            <a:srgbClr val="111C24"/>
                          </a:solidFill>
                          <a:latin typeface="Calibri" pitchFamily="34" charset="0"/>
                          <a:ea typeface="Calibri" pitchFamily="34" charset="-122"/>
                          <a:cs typeface="Calibri" pitchFamily="34" charset="-120"/>
                        </a:rPr>
                        <a:t>Bamboo ranking push</a:t>
                      </a:r>
                      <a:endParaRPr lang="en-US" sz="1150" dirty="0">
                        <a:latin typeface="Calibri" charset="0"/>
                        <a:ea typeface="Calibri" charset="0"/>
                        <a:cs typeface="Calibri" charset="0"/>
                      </a:endParaRPr>
                    </a:p>
                    <a:p>
                      <a:pPr indent="0" marL="0">
                        <a:buNone/>
                      </a:pPr>
                      <a:r>
                        <a:rPr lang="en-US" sz="1050" dirty="0">
                          <a:solidFill>
                            <a:srgbClr val="4E5A64"/>
                          </a:solidFill>
                          <a:latin typeface="Calibri" pitchFamily="34" charset="0"/>
                          <a:ea typeface="Calibri" pitchFamily="34" charset="-122"/>
                          <a:cs typeface="Calibri" pitchFamily="34" charset="-120"/>
                        </a:rPr>
                        <a:t>Shayan T with Joseph</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Get the sign-offs, write the rank goals to Target Setting and go live; day-7 reads 10 Oct (B6) and 11 Oct (B4), first 60-click trial reads 14 Oct</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Mon, Oct 5 · reads 10–14 Oct</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P0</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N — new</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r>
              <a:tr h="0">
                <a:tc>
                  <a:txBody>
                    <a:bodyPr/>
                    <a:lstStyle/>
                    <a:p>
                      <a:pPr indent="0" marL="0">
                        <a:buNone/>
                      </a:pPr>
                      <a:r>
                        <a:rPr lang="en-US" sz="1150" b="1" dirty="0">
                          <a:solidFill>
                            <a:srgbClr val="111C24"/>
                          </a:solidFill>
                          <a:latin typeface="Calibri" pitchFamily="34" charset="0"/>
                          <a:ea typeface="Calibri" pitchFamily="34" charset="-122"/>
                          <a:cs typeface="Calibri" pitchFamily="34" charset="-120"/>
                        </a:rPr>
                        <a:t>CooLinens Pillowcase</a:t>
                      </a:r>
                      <a:endParaRPr lang="en-US" sz="1150" dirty="0">
                        <a:latin typeface="Calibri" charset="0"/>
                        <a:ea typeface="Calibri" charset="0"/>
                        <a:cs typeface="Calibri" charset="0"/>
                      </a:endParaRPr>
                    </a:p>
                    <a:p>
                      <a:pPr indent="0" marL="0">
                        <a:buNone/>
                      </a:pPr>
                      <a:r>
                        <a:rPr lang="en-US" sz="1050" dirty="0">
                          <a:solidFill>
                            <a:srgbClr val="4E5A64"/>
                          </a:solidFill>
                          <a:latin typeface="Calibri" pitchFamily="34" charset="0"/>
                          <a:ea typeface="Calibri" pitchFamily="34" charset="-122"/>
                          <a:cs typeface="Calibri" pitchFamily="34" charset="-120"/>
                        </a:rPr>
                        <a:t>Shayan T</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First live week: daily spend, search-term and conversion checks, PAT additions from Shayan R, launch read at the Friday close</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Daily · read Fri, Oct 9</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P0</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N — new</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r>
              <a:tr h="0">
                <a:tc>
                  <a:txBody>
                    <a:bodyPr/>
                    <a:lstStyle/>
                    <a:p>
                      <a:pPr indent="0" marL="0">
                        <a:buNone/>
                      </a:pPr>
                      <a:r>
                        <a:rPr lang="en-US" sz="1150" b="1" dirty="0">
                          <a:solidFill>
                            <a:srgbClr val="111C24"/>
                          </a:solidFill>
                          <a:latin typeface="Calibri" pitchFamily="34" charset="0"/>
                          <a:ea typeface="Calibri" pitchFamily="34" charset="-122"/>
                          <a:cs typeface="Calibri" pitchFamily="34" charset="-120"/>
                        </a:rPr>
                        <a:t>Audit cycle</a:t>
                      </a:r>
                      <a:endParaRPr lang="en-US" sz="1150" dirty="0">
                        <a:latin typeface="Calibri" charset="0"/>
                        <a:ea typeface="Calibri" charset="0"/>
                        <a:cs typeface="Calibri" charset="0"/>
                      </a:endParaRPr>
                    </a:p>
                    <a:p>
                      <a:pPr indent="0" marL="0">
                        <a:buNone/>
                      </a:pPr>
                      <a:r>
                        <a:rPr lang="en-US" sz="1050" dirty="0">
                          <a:solidFill>
                            <a:srgbClr val="4E5A64"/>
                          </a:solidFill>
                          <a:latin typeface="Calibri" pitchFamily="34" charset="0"/>
                          <a:ea typeface="Calibri" pitchFamily="34" charset="-122"/>
                          <a:cs typeface="Calibri" pitchFamily="34" charset="-120"/>
                        </a:rPr>
                        <a:t>All three</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Run the next cycle on all nine, Bamboo Monday and the rest Tuesday. This cycle closes today with the last three feedbacks</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Mon, Oct 5</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P0</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N — new cycle</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r>
              <a:tr h="0">
                <a:tc>
                  <a:txBody>
                    <a:bodyPr/>
                    <a:lstStyle/>
                    <a:p>
                      <a:pPr indent="0" marL="0">
                        <a:buNone/>
                      </a:pPr>
                      <a:r>
                        <a:rPr lang="en-US" sz="1150" b="1" dirty="0">
                          <a:solidFill>
                            <a:srgbClr val="111C24"/>
                          </a:solidFill>
                          <a:latin typeface="Calibri" pitchFamily="34" charset="0"/>
                          <a:ea typeface="Calibri" pitchFamily="34" charset="-122"/>
                          <a:cs typeface="Calibri" pitchFamily="34" charset="-120"/>
                        </a:rPr>
                        <a:t>Engine register</a:t>
                      </a:r>
                      <a:endParaRPr lang="en-US" sz="1150" dirty="0">
                        <a:latin typeface="Calibri" charset="0"/>
                        <a:ea typeface="Calibri" charset="0"/>
                        <a:cs typeface="Calibri" charset="0"/>
                      </a:endParaRPr>
                    </a:p>
                    <a:p>
                      <a:pPr indent="0" marL="0">
                        <a:buNone/>
                      </a:pPr>
                      <a:r>
                        <a:rPr lang="en-US" sz="1050" dirty="0">
                          <a:solidFill>
                            <a:srgbClr val="4E5A64"/>
                          </a:solidFill>
                          <a:latin typeface="Calibri" pitchFamily="34" charset="0"/>
                          <a:ea typeface="Calibri" pitchFamily="34" charset="-122"/>
                          <a:cs typeface="Calibri" pitchFamily="34" charset="-120"/>
                        </a:rPr>
                        <a:t>Zarlish</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Move the register to changed-findings-only and get Section 7, Q1 and Q3 signed off</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Mon, Oct 5</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P0</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Y — since Oct 2</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r>
              <a:tr h="0">
                <a:tc>
                  <a:txBody>
                    <a:bodyPr/>
                    <a:lstStyle/>
                    <a:p>
                      <a:pPr indent="0" marL="0">
                        <a:buNone/>
                      </a:pPr>
                      <a:r>
                        <a:rPr lang="en-US" sz="1150" b="1" dirty="0">
                          <a:solidFill>
                            <a:srgbClr val="111C24"/>
                          </a:solidFill>
                          <a:latin typeface="Calibri" pitchFamily="34" charset="0"/>
                          <a:ea typeface="Calibri" pitchFamily="34" charset="-122"/>
                          <a:cs typeface="Calibri" pitchFamily="34" charset="-120"/>
                        </a:rPr>
                        <a:t>Other campaign types</a:t>
                      </a:r>
                      <a:endParaRPr lang="en-US" sz="1150" dirty="0">
                        <a:latin typeface="Calibri" charset="0"/>
                        <a:ea typeface="Calibri" charset="0"/>
                        <a:cs typeface="Calibri" charset="0"/>
                      </a:endParaRPr>
                    </a:p>
                    <a:p>
                      <a:pPr indent="0" marL="0">
                        <a:buNone/>
                      </a:pPr>
                      <a:r>
                        <a:rPr lang="en-US" sz="1050" dirty="0">
                          <a:solidFill>
                            <a:srgbClr val="4E5A64"/>
                          </a:solidFill>
                          <a:latin typeface="Calibri" pitchFamily="34" charset="0"/>
                          <a:ea typeface="Calibri" pitchFamily="34" charset="-122"/>
                          <a:cs typeface="Calibri" pitchFamily="34" charset="-120"/>
                        </a:rPr>
                        <a:t>Shayan T</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Send the campaign-type list, the ad-type plan for Bamboo and the frameworks for the other products (agreed on the 30 Sep call), brief creative for the held SB, SBV and SD campaigns, then launch them through the API</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End of week, Oct 3–4 · launch TBC Mon</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P0</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Y — since Sep 30</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r>
              <a:tr h="0">
                <a:tc>
                  <a:txBody>
                    <a:bodyPr/>
                    <a:lstStyle/>
                    <a:p>
                      <a:pPr indent="0" marL="0">
                        <a:buNone/>
                      </a:pPr>
                      <a:r>
                        <a:rPr lang="en-US" sz="1150" b="1" dirty="0">
                          <a:solidFill>
                            <a:srgbClr val="111C24"/>
                          </a:solidFill>
                          <a:latin typeface="Calibri" pitchFamily="34" charset="0"/>
                          <a:ea typeface="Calibri" pitchFamily="34" charset="-122"/>
                          <a:cs typeface="Calibri" pitchFamily="34" charset="-120"/>
                        </a:rPr>
                        <a:t>Stabilisation proposal</a:t>
                      </a:r>
                      <a:endParaRPr lang="en-US" sz="1150" dirty="0">
                        <a:latin typeface="Calibri" charset="0"/>
                        <a:ea typeface="Calibri" charset="0"/>
                        <a:cs typeface="Calibri" charset="0"/>
                      </a:endParaRPr>
                    </a:p>
                    <a:p>
                      <a:pPr indent="0" marL="0">
                        <a:buNone/>
                      </a:pPr>
                      <a:r>
                        <a:rPr lang="en-US" sz="1050" dirty="0">
                          <a:solidFill>
                            <a:srgbClr val="4E5A64"/>
                          </a:solidFill>
                          <a:latin typeface="Calibri" pitchFamily="34" charset="0"/>
                          <a:ea typeface="Calibri" pitchFamily="34" charset="-122"/>
                          <a:cs typeface="Calibri" pitchFamily="34" charset="-120"/>
                        </a:rPr>
                        <a:t>Shayan T</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Deliver catalog prioritisation, team structure, the finalised cadence and the development list, with priorities and due dates as Erik asked on 30 Sep</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End of week, Oct 3–4</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P0</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Y — since Oct 2</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r>
              <a:tr h="0">
                <a:tc>
                  <a:txBody>
                    <a:bodyPr/>
                    <a:lstStyle/>
                    <a:p>
                      <a:pPr indent="0" marL="0">
                        <a:buNone/>
                      </a:pPr>
                      <a:r>
                        <a:rPr lang="en-US" sz="1150" b="1" dirty="0">
                          <a:solidFill>
                            <a:srgbClr val="111C24"/>
                          </a:solidFill>
                          <a:latin typeface="Calibri" pitchFamily="34" charset="0"/>
                          <a:ea typeface="Calibri" pitchFamily="34" charset="-122"/>
                          <a:cs typeface="Calibri" pitchFamily="34" charset="-120"/>
                        </a:rPr>
                        <a:t>Oversight &amp; onboarding</a:t>
                      </a:r>
                      <a:endParaRPr lang="en-US" sz="1150" dirty="0">
                        <a:latin typeface="Calibri" charset="0"/>
                        <a:ea typeface="Calibri" charset="0"/>
                        <a:cs typeface="Calibri" charset="0"/>
                      </a:endParaRPr>
                    </a:p>
                    <a:p>
                      <a:pPr indent="0" marL="0">
                        <a:buNone/>
                      </a:pPr>
                      <a:r>
                        <a:rPr lang="en-US" sz="1050" dirty="0">
                          <a:solidFill>
                            <a:srgbClr val="4E5A64"/>
                          </a:solidFill>
                          <a:latin typeface="Calibri" pitchFamily="34" charset="0"/>
                          <a:ea typeface="Calibri" pitchFamily="34" charset="-122"/>
                          <a:cs typeface="Calibri" pitchFamily="34" charset="-120"/>
                        </a:rPr>
                        <a:t>All owners</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Log the daily spend checks, and run Ivan's first full week with EOD outputs</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Mon, Oct 5</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P1</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150" dirty="0">
                          <a:solidFill>
                            <a:srgbClr val="111C24"/>
                          </a:solidFill>
                          <a:latin typeface="Calibri" pitchFamily="34" charset="0"/>
                          <a:ea typeface="Calibri" pitchFamily="34" charset="-122"/>
                          <a:cs typeface="Calibri" pitchFamily="34" charset="-120"/>
                        </a:rPr>
                        <a:t>Y — since Sep 29</a:t>
                      </a:r>
                      <a:endParaRPr lang="en-US" sz="115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r>
            </a:tbl>
          </a:graphicData>
        </a:graphic>
      </p:graphicFrame>
      <p:sp>
        <p:nvSpPr>
          <p:cNvPr id="7" name="Text 4"/>
          <p:cNvSpPr txBox="1"/>
          <p:nvPr/>
        </p:nvSpPr>
        <p:spPr>
          <a:xfrm>
            <a:off x="640080" y="6035040"/>
            <a:ext cx="11036808" cy="274320"/>
          </a:xfrm>
          <a:prstGeom prst="rect">
            <a:avLst/>
          </a:prstGeom>
          <a:noFill/>
          <a:ln/>
        </p:spPr>
        <p:txBody>
          <a:bodyPr wrap="square" lIns="0" tIns="0" rIns="0" bIns="0" rtlCol="0" anchor="t"/>
          <a:lstStyle/>
          <a:p>
            <a:pPr indent="0" marL="0">
              <a:buNone/>
            </a:pPr>
            <a:r>
              <a:rPr lang="en-US" sz="950" dirty="0">
                <a:solidFill>
                  <a:srgbClr val="4E5A64"/>
                </a:solidFill>
                <a:latin typeface="Calibri" pitchFamily="34" charset="0"/>
                <a:ea typeface="Calibri" pitchFamily="34" charset="-122"/>
                <a:cs typeface="Calibri" pitchFamily="34" charset="-120"/>
              </a:rPr>
              <a:t>P0 fails the cycle if it slips.   ·   Dates marked TBC are set at Monday's alignment, not assumed here.   ·   Bamboo plan start dates of 1–2 Oct move to the sign-off date; reads move with them.</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402336"/>
            <a:ext cx="9326880" cy="292608"/>
          </a:xfrm>
          <a:prstGeom prst="rect">
            <a:avLst/>
          </a:prstGeom>
          <a:noFill/>
          <a:ln/>
        </p:spPr>
        <p:txBody>
          <a:bodyPr wrap="square" lIns="0" tIns="0" rIns="0" bIns="0" rtlCol="0" anchor="ctr"/>
          <a:lstStyle/>
          <a:p>
            <a:pPr indent="0" marL="0">
              <a:buNone/>
            </a:pPr>
            <a:r>
              <a:rPr lang="en-US" sz="1100" b="1" spc="300" kern="0" dirty="0">
                <a:solidFill>
                  <a:srgbClr val="3D4852"/>
                </a:solidFill>
                <a:latin typeface="Calibri" pitchFamily="34" charset="0"/>
                <a:ea typeface="Calibri" pitchFamily="34" charset="-122"/>
                <a:cs typeface="Calibri" pitchFamily="34" charset="-120"/>
              </a:rPr>
              <a:t>PPC   ·   DEPARTMENT OPERATING PLAN</a:t>
            </a:r>
            <a:endParaRPr lang="en-US" sz="1100" dirty="0"/>
          </a:p>
        </p:txBody>
      </p:sp>
      <p:sp>
        <p:nvSpPr>
          <p:cNvPr id="3" name="Text 1"/>
          <p:cNvSpPr txBox="1"/>
          <p:nvPr/>
        </p:nvSpPr>
        <p:spPr>
          <a:xfrm>
            <a:off x="640080" y="676656"/>
            <a:ext cx="9326880" cy="658368"/>
          </a:xfrm>
          <a:prstGeom prst="rect">
            <a:avLst/>
          </a:prstGeom>
          <a:noFill/>
          <a:ln/>
        </p:spPr>
        <p:txBody>
          <a:bodyPr wrap="square" lIns="0" tIns="0" rIns="0" bIns="0" rtlCol="0" anchor="ctr"/>
          <a:lstStyle/>
          <a:p>
            <a:pPr indent="0" marL="0">
              <a:buNone/>
            </a:pPr>
            <a:r>
              <a:rPr lang="en-US" sz="3000" b="1" dirty="0">
                <a:solidFill>
                  <a:srgbClr val="111C24"/>
                </a:solidFill>
                <a:latin typeface="Cambria" pitchFamily="34" charset="0"/>
                <a:ea typeface="Cambria" pitchFamily="34" charset="-122"/>
                <a:cs typeface="Cambria" pitchFamily="34" charset="-120"/>
              </a:rPr>
              <a:t>Cadence</a:t>
            </a:r>
            <a:endParaRPr lang="en-US" sz="3000" dirty="0"/>
          </a:p>
        </p:txBody>
      </p:sp>
      <p:sp>
        <p:nvSpPr>
          <p:cNvPr id="4" name="Text 2"/>
          <p:cNvSpPr txBox="1"/>
          <p:nvPr/>
        </p:nvSpPr>
        <p:spPr>
          <a:xfrm>
            <a:off x="10241280" y="274320"/>
            <a:ext cx="1435608" cy="914400"/>
          </a:xfrm>
          <a:prstGeom prst="rect">
            <a:avLst/>
          </a:prstGeom>
          <a:noFill/>
          <a:ln/>
        </p:spPr>
        <p:txBody>
          <a:bodyPr wrap="square" lIns="0" tIns="0" rIns="0" bIns="0" rtlCol="0" anchor="ctr"/>
          <a:lstStyle/>
          <a:p>
            <a:pPr algn="r" indent="0" marL="0">
              <a:buNone/>
            </a:pPr>
            <a:r>
              <a:rPr lang="en-US" sz="5400" b="1" dirty="0">
                <a:solidFill>
                  <a:srgbClr val="DCE4EA"/>
                </a:solidFill>
                <a:latin typeface="Cambria" pitchFamily="34" charset="0"/>
                <a:ea typeface="Cambria" pitchFamily="34" charset="-122"/>
                <a:cs typeface="Cambria" pitchFamily="34" charset="-120"/>
              </a:rPr>
              <a:t>05</a:t>
            </a:r>
            <a:endParaRPr lang="en-US" sz="5400" dirty="0"/>
          </a:p>
        </p:txBody>
      </p:sp>
      <p:sp>
        <p:nvSpPr>
          <p:cNvPr id="5" name="Text 3"/>
          <p:cNvSpPr txBox="1"/>
          <p:nvPr/>
        </p:nvSpPr>
        <p:spPr>
          <a:xfrm>
            <a:off x="7315200" y="6382512"/>
            <a:ext cx="4361688" cy="274320"/>
          </a:xfrm>
          <a:prstGeom prst="rect">
            <a:avLst/>
          </a:prstGeom>
          <a:noFill/>
          <a:ln/>
        </p:spPr>
        <p:txBody>
          <a:bodyPr wrap="square" lIns="0" tIns="0" rIns="0" bIns="0" rtlCol="0" anchor="ctr"/>
          <a:lstStyle/>
          <a:p>
            <a:pPr algn="r" indent="0" marL="0">
              <a:buNone/>
            </a:pPr>
            <a:r>
              <a:rPr lang="en-US" sz="1000" dirty="0">
                <a:solidFill>
                  <a:srgbClr val="4E5A64"/>
                </a:solidFill>
                <a:latin typeface="Calibri" pitchFamily="34" charset="0"/>
                <a:ea typeface="Calibri" pitchFamily="34" charset="-122"/>
                <a:cs typeface="Calibri" pitchFamily="34" charset="-120"/>
              </a:rPr>
              <a:t>PPC · Sep 28–Oct 2</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1036808" cy="914400"/>
        </p:xfrm>
        <a:graphic>
          <a:graphicData uri="http://schemas.openxmlformats.org/drawingml/2006/table">
            <a:tbl>
              <a:tblPr/>
              <a:tblGrid>
                <a:gridCol w="2514600"/>
                <a:gridCol w="4846320"/>
                <a:gridCol w="1371600"/>
                <a:gridCol w="1097280"/>
                <a:gridCol w="1207008"/>
              </a:tblGrid>
              <a:tr h="0">
                <a:tc>
                  <a:txBody>
                    <a:bodyPr/>
                    <a:lstStyle/>
                    <a:p>
                      <a:pPr indent="0" marL="0">
                        <a:buNone/>
                      </a:pPr>
                      <a:r>
                        <a:rPr lang="en-US" sz="950" b="1" spc="150" kern="0" dirty="0">
                          <a:solidFill>
                            <a:srgbClr val="3D4852"/>
                          </a:solidFill>
                          <a:latin typeface="Calibri" pitchFamily="34" charset="0"/>
                          <a:ea typeface="Calibri" pitchFamily="34" charset="-122"/>
                          <a:cs typeface="Calibri" pitchFamily="34" charset="-120"/>
                        </a:rPr>
                        <a:t>RHYTHM</a:t>
                      </a:r>
                      <a:endParaRPr lang="en-US" sz="950" dirty="0">
                        <a:latin typeface="Calibri" charset="0"/>
                        <a:ea typeface="Calibri" charset="0"/>
                        <a:cs typeface="Calibri" charset="0"/>
                      </a:endParaRPr>
                    </a:p>
                  </a:txBody>
                  <a:tcPr marL="54864" marR="54864" marT="18288" marB="64008" anchor="b">
                    <a:lnL w="0" cap="flat" cmpd="sng" algn="ctr">
                      <a:noFill/>
                    </a:lnL>
                    <a:lnR w="0" cap="flat" cmpd="sng" algn="ctr">
                      <a:noFill/>
                    </a:lnR>
                    <a:lnT w="0" cap="flat" cmpd="sng" algn="ctr">
                      <a:noFill/>
                    </a:lnT>
                    <a:lnB w="15875" cap="flat" cmpd="sng" algn="ctr">
                      <a:solidFill>
                        <a:srgbClr val="111C24"/>
                      </a:solidFill>
                      <a:prstDash val="solid"/>
                      <a:round/>
                      <a:headEnd type="none" w="med" len="med"/>
                      <a:tailEnd type="none" w="med" len="med"/>
                    </a:lnB>
                  </a:tcPr>
                </a:tc>
                <a:tc>
                  <a:txBody>
                    <a:bodyPr/>
                    <a:lstStyle/>
                    <a:p>
                      <a:pPr indent="0" marL="0">
                        <a:buNone/>
                      </a:pPr>
                      <a:r>
                        <a:rPr lang="en-US" sz="950" b="1" spc="150" kern="0" dirty="0">
                          <a:solidFill>
                            <a:srgbClr val="3D4852"/>
                          </a:solidFill>
                          <a:latin typeface="Calibri" pitchFamily="34" charset="0"/>
                          <a:ea typeface="Calibri" pitchFamily="34" charset="-122"/>
                          <a:cs typeface="Calibri" pitchFamily="34" charset="-120"/>
                        </a:rPr>
                        <a:t>WHAT RUNS</a:t>
                      </a:r>
                      <a:endParaRPr lang="en-US" sz="950" dirty="0">
                        <a:latin typeface="Calibri" charset="0"/>
                        <a:ea typeface="Calibri" charset="0"/>
                        <a:cs typeface="Calibri" charset="0"/>
                      </a:endParaRPr>
                    </a:p>
                  </a:txBody>
                  <a:tcPr marL="54864" marR="54864" marT="18288" marB="64008" anchor="b">
                    <a:lnL w="0" cap="flat" cmpd="sng" algn="ctr">
                      <a:noFill/>
                    </a:lnL>
                    <a:lnR w="0" cap="flat" cmpd="sng" algn="ctr">
                      <a:noFill/>
                    </a:lnR>
                    <a:lnT w="0" cap="flat" cmpd="sng" algn="ctr">
                      <a:noFill/>
                    </a:lnT>
                    <a:lnB w="15875" cap="flat" cmpd="sng" algn="ctr">
                      <a:solidFill>
                        <a:srgbClr val="111C24"/>
                      </a:solidFill>
                      <a:prstDash val="solid"/>
                      <a:round/>
                      <a:headEnd type="none" w="med" len="med"/>
                      <a:tailEnd type="none" w="med" len="med"/>
                    </a:lnB>
                  </a:tcPr>
                </a:tc>
                <a:tc>
                  <a:txBody>
                    <a:bodyPr/>
                    <a:lstStyle/>
                    <a:p>
                      <a:pPr indent="0" marL="0">
                        <a:buNone/>
                      </a:pPr>
                      <a:r>
                        <a:rPr lang="en-US" sz="950" b="1" spc="150" kern="0" dirty="0">
                          <a:solidFill>
                            <a:srgbClr val="3D4852"/>
                          </a:solidFill>
                          <a:latin typeface="Calibri" pitchFamily="34" charset="0"/>
                          <a:ea typeface="Calibri" pitchFamily="34" charset="-122"/>
                          <a:cs typeface="Calibri" pitchFamily="34" charset="-120"/>
                        </a:rPr>
                        <a:t>OWNER</a:t>
                      </a:r>
                      <a:endParaRPr lang="en-US" sz="950" dirty="0">
                        <a:latin typeface="Calibri" charset="0"/>
                        <a:ea typeface="Calibri" charset="0"/>
                        <a:cs typeface="Calibri" charset="0"/>
                      </a:endParaRPr>
                    </a:p>
                  </a:txBody>
                  <a:tcPr marL="54864" marR="54864" marT="18288" marB="64008" anchor="b">
                    <a:lnL w="0" cap="flat" cmpd="sng" algn="ctr">
                      <a:noFill/>
                    </a:lnL>
                    <a:lnR w="0" cap="flat" cmpd="sng" algn="ctr">
                      <a:noFill/>
                    </a:lnR>
                    <a:lnT w="0" cap="flat" cmpd="sng" algn="ctr">
                      <a:noFill/>
                    </a:lnT>
                    <a:lnB w="15875" cap="flat" cmpd="sng" algn="ctr">
                      <a:solidFill>
                        <a:srgbClr val="111C24"/>
                      </a:solidFill>
                      <a:prstDash val="solid"/>
                      <a:round/>
                      <a:headEnd type="none" w="med" len="med"/>
                      <a:tailEnd type="none" w="med" len="med"/>
                    </a:lnB>
                  </a:tcPr>
                </a:tc>
                <a:tc>
                  <a:txBody>
                    <a:bodyPr/>
                    <a:lstStyle/>
                    <a:p>
                      <a:pPr indent="0" marL="0">
                        <a:buNone/>
                      </a:pPr>
                      <a:r>
                        <a:rPr lang="en-US" sz="950" b="1" spc="150" kern="0" dirty="0">
                          <a:solidFill>
                            <a:srgbClr val="3D4852"/>
                          </a:solidFill>
                          <a:latin typeface="Calibri" pitchFamily="34" charset="0"/>
                          <a:ea typeface="Calibri" pitchFamily="34" charset="-122"/>
                          <a:cs typeface="Calibri" pitchFamily="34" charset="-120"/>
                        </a:rPr>
                        <a:t>WHEN</a:t>
                      </a:r>
                      <a:endParaRPr lang="en-US" sz="950" dirty="0">
                        <a:latin typeface="Calibri" charset="0"/>
                        <a:ea typeface="Calibri" charset="0"/>
                        <a:cs typeface="Calibri" charset="0"/>
                      </a:endParaRPr>
                    </a:p>
                  </a:txBody>
                  <a:tcPr marL="54864" marR="54864" marT="18288" marB="64008" anchor="b">
                    <a:lnL w="0" cap="flat" cmpd="sng" algn="ctr">
                      <a:noFill/>
                    </a:lnL>
                    <a:lnR w="0" cap="flat" cmpd="sng" algn="ctr">
                      <a:noFill/>
                    </a:lnR>
                    <a:lnT w="0" cap="flat" cmpd="sng" algn="ctr">
                      <a:noFill/>
                    </a:lnT>
                    <a:lnB w="15875" cap="flat" cmpd="sng" algn="ctr">
                      <a:solidFill>
                        <a:srgbClr val="111C24"/>
                      </a:solidFill>
                      <a:prstDash val="solid"/>
                      <a:round/>
                      <a:headEnd type="none" w="med" len="med"/>
                      <a:tailEnd type="none" w="med" len="med"/>
                    </a:lnB>
                  </a:tcPr>
                </a:tc>
                <a:tc>
                  <a:txBody>
                    <a:bodyPr/>
                    <a:lstStyle/>
                    <a:p>
                      <a:pPr indent="0" marL="0">
                        <a:buNone/>
                      </a:pPr>
                      <a:r>
                        <a:rPr lang="en-US" sz="950" b="1" spc="150" kern="0" dirty="0">
                          <a:solidFill>
                            <a:srgbClr val="3D4852"/>
                          </a:solidFill>
                          <a:latin typeface="Calibri" pitchFamily="34" charset="0"/>
                          <a:ea typeface="Calibri" pitchFamily="34" charset="-122"/>
                          <a:cs typeface="Calibri" pitchFamily="34" charset="-120"/>
                        </a:rPr>
                        <a:t>LOGGED IN</a:t>
                      </a:r>
                      <a:endParaRPr lang="en-US" sz="950" dirty="0">
                        <a:latin typeface="Calibri" charset="0"/>
                        <a:ea typeface="Calibri" charset="0"/>
                        <a:cs typeface="Calibri" charset="0"/>
                      </a:endParaRPr>
                    </a:p>
                  </a:txBody>
                  <a:tcPr marL="54864" marR="54864" marT="18288" marB="64008" anchor="b">
                    <a:lnL w="0" cap="flat" cmpd="sng" algn="ctr">
                      <a:noFill/>
                    </a:lnL>
                    <a:lnR w="0" cap="flat" cmpd="sng" algn="ctr">
                      <a:noFill/>
                    </a:lnR>
                    <a:lnT w="0" cap="flat" cmpd="sng" algn="ctr">
                      <a:noFill/>
                    </a:lnT>
                    <a:lnB w="15875" cap="flat" cmpd="sng" algn="ctr">
                      <a:solidFill>
                        <a:srgbClr val="111C24"/>
                      </a:solidFill>
                      <a:prstDash val="solid"/>
                      <a:round/>
                      <a:headEnd type="none" w="med" len="med"/>
                      <a:tailEnd type="none" w="med" len="med"/>
                    </a:lnB>
                  </a:tcPr>
                </a:tc>
              </a:tr>
              <a:tr h="0">
                <a:tc>
                  <a:txBody>
                    <a:bodyPr/>
                    <a:lstStyle/>
                    <a:p>
                      <a:pPr indent="0" marL="0">
                        <a:buNone/>
                      </a:pPr>
                      <a:r>
                        <a:rPr lang="en-US" sz="1200" b="1" dirty="0">
                          <a:solidFill>
                            <a:srgbClr val="111C24"/>
                          </a:solidFill>
                          <a:latin typeface="Calibri" pitchFamily="34" charset="0"/>
                          <a:ea typeface="Calibri" pitchFamily="34" charset="-122"/>
                          <a:cs typeface="Calibri" pitchFamily="34" charset="-120"/>
                        </a:rPr>
                        <a:t>Daily</a:t>
                      </a:r>
                      <a:endParaRPr lang="en-US" sz="1200" dirty="0">
                        <a:latin typeface="Calibri" charset="0"/>
                        <a:ea typeface="Calibri" charset="0"/>
                        <a:cs typeface="Calibri" charset="0"/>
                      </a:endParaRPr>
                    </a:p>
                    <a:p>
                      <a:pPr indent="0" marL="0">
                        <a:buNone/>
                      </a:pPr>
                      <a:r>
                        <a:rPr lang="en-US" sz="1100" dirty="0">
                          <a:solidFill>
                            <a:srgbClr val="4E5A64"/>
                          </a:solidFill>
                          <a:latin typeface="Calibri" pitchFamily="34" charset="0"/>
                          <a:ea typeface="Calibri" pitchFamily="34" charset="-122"/>
                          <a:cs typeface="Calibri" pitchFamily="34" charset="-120"/>
                        </a:rPr>
                        <a:t>Every owner</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Spend check on the top 20% of each owner's campaigns, manual changes logged with expected results</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Line owners</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Tue–Fri</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Change log</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r>
              <a:tr h="0">
                <a:tc>
                  <a:txBody>
                    <a:bodyPr/>
                    <a:lstStyle/>
                    <a:p>
                      <a:pPr indent="0" marL="0">
                        <a:buNone/>
                      </a:pPr>
                      <a:r>
                        <a:rPr lang="en-US" sz="1200" b="1" dirty="0">
                          <a:solidFill>
                            <a:srgbClr val="111C24"/>
                          </a:solidFill>
                          <a:latin typeface="Calibri" pitchFamily="34" charset="0"/>
                          <a:ea typeface="Calibri" pitchFamily="34" charset="-122"/>
                          <a:cs typeface="Calibri" pitchFamily="34" charset="-120"/>
                        </a:rPr>
                        <a:t>Daily</a:t>
                      </a:r>
                      <a:endParaRPr lang="en-US" sz="1200" dirty="0">
                        <a:latin typeface="Calibri" charset="0"/>
                        <a:ea typeface="Calibri" charset="0"/>
                        <a:cs typeface="Calibri" charset="0"/>
                      </a:endParaRPr>
                    </a:p>
                    <a:p>
                      <a:pPr indent="0" marL="0">
                        <a:buNone/>
                      </a:pPr>
                      <a:r>
                        <a:rPr lang="en-US" sz="1100" dirty="0">
                          <a:solidFill>
                            <a:srgbClr val="4E5A64"/>
                          </a:solidFill>
                          <a:latin typeface="Calibri" pitchFamily="34" charset="0"/>
                          <a:ea typeface="Calibri" pitchFamily="34" charset="-122"/>
                          <a:cs typeface="Calibri" pitchFamily="34" charset="-120"/>
                        </a:rPr>
                        <a:t>Bamboo push</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Spend, rank and stock check on every pushed keyword; reads on clean days only, deal days not read</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Shayan T</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Daily</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Change log</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r>
              <a:tr h="0">
                <a:tc>
                  <a:txBody>
                    <a:bodyPr/>
                    <a:lstStyle/>
                    <a:p>
                      <a:pPr indent="0" marL="0">
                        <a:buNone/>
                      </a:pPr>
                      <a:r>
                        <a:rPr lang="en-US" sz="1200" b="1" dirty="0">
                          <a:solidFill>
                            <a:srgbClr val="111C24"/>
                          </a:solidFill>
                          <a:latin typeface="Calibri" pitchFamily="34" charset="0"/>
                          <a:ea typeface="Calibri" pitchFamily="34" charset="-122"/>
                          <a:cs typeface="Calibri" pitchFamily="34" charset="-120"/>
                        </a:rPr>
                        <a:t>Daily</a:t>
                      </a:r>
                      <a:endParaRPr lang="en-US" sz="1200" dirty="0">
                        <a:latin typeface="Calibri" charset="0"/>
                        <a:ea typeface="Calibri" charset="0"/>
                        <a:cs typeface="Calibri" charset="0"/>
                      </a:endParaRPr>
                    </a:p>
                    <a:p>
                      <a:pPr indent="0" marL="0">
                        <a:buNone/>
                      </a:pPr>
                      <a:r>
                        <a:rPr lang="en-US" sz="1100" dirty="0">
                          <a:solidFill>
                            <a:srgbClr val="4E5A64"/>
                          </a:solidFill>
                          <a:latin typeface="Calibri" pitchFamily="34" charset="0"/>
                          <a:ea typeface="Calibri" pitchFamily="34" charset="-122"/>
                          <a:cs typeface="Calibri" pitchFamily="34" charset="-120"/>
                        </a:rPr>
                        <a:t>Team</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Short check-in across the three members on what changed and what is blocked</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All three</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Daily</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Huddle</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r>
              <a:tr h="0">
                <a:tc>
                  <a:txBody>
                    <a:bodyPr/>
                    <a:lstStyle/>
                    <a:p>
                      <a:pPr indent="0" marL="0">
                        <a:buNone/>
                      </a:pPr>
                      <a:r>
                        <a:rPr lang="en-US" sz="1200" b="1" dirty="0">
                          <a:solidFill>
                            <a:srgbClr val="111C24"/>
                          </a:solidFill>
                          <a:latin typeface="Calibri" pitchFamily="34" charset="0"/>
                          <a:ea typeface="Calibri" pitchFamily="34" charset="-122"/>
                          <a:cs typeface="Calibri" pitchFamily="34" charset="-120"/>
                        </a:rPr>
                        <a:t>Monday</a:t>
                      </a:r>
                      <a:endParaRPr lang="en-US" sz="1200" dirty="0">
                        <a:latin typeface="Calibri" charset="0"/>
                        <a:ea typeface="Calibri" charset="0"/>
                        <a:cs typeface="Calibri" charset="0"/>
                      </a:endParaRPr>
                    </a:p>
                    <a:p>
                      <a:pPr indent="0" marL="0">
                        <a:buNone/>
                      </a:pPr>
                      <a:r>
                        <a:rPr lang="en-US" sz="1100" dirty="0">
                          <a:solidFill>
                            <a:srgbClr val="4E5A64"/>
                          </a:solidFill>
                          <a:latin typeface="Calibri" pitchFamily="34" charset="0"/>
                          <a:ea typeface="Calibri" pitchFamily="34" charset="-122"/>
                          <a:cs typeface="Calibri" pitchFamily="34" charset="-120"/>
                        </a:rPr>
                        <a:t>Cycle start</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Audits through the app, full review by all three, Bamboo feedback shared and executed the same day</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Shayan T</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Monday</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Managers channel</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r>
              <a:tr h="0">
                <a:tc>
                  <a:txBody>
                    <a:bodyPr/>
                    <a:lstStyle/>
                    <a:p>
                      <a:pPr indent="0" marL="0">
                        <a:buNone/>
                      </a:pPr>
                      <a:r>
                        <a:rPr lang="en-US" sz="1200" b="1" dirty="0">
                          <a:solidFill>
                            <a:srgbClr val="111C24"/>
                          </a:solidFill>
                          <a:latin typeface="Calibri" pitchFamily="34" charset="0"/>
                          <a:ea typeface="Calibri" pitchFamily="34" charset="-122"/>
                          <a:cs typeface="Calibri" pitchFamily="34" charset="-120"/>
                        </a:rPr>
                        <a:t>Tuesday–Wednesday</a:t>
                      </a:r>
                      <a:endParaRPr lang="en-US" sz="1200" dirty="0">
                        <a:latin typeface="Calibri" charset="0"/>
                        <a:ea typeface="Calibri" charset="0"/>
                        <a:cs typeface="Calibri" charset="0"/>
                      </a:endParaRPr>
                    </a:p>
                    <a:p>
                      <a:pPr indent="0" marL="0">
                        <a:buNone/>
                      </a:pPr>
                      <a:r>
                        <a:rPr lang="en-US" sz="1100" dirty="0">
                          <a:solidFill>
                            <a:srgbClr val="4E5A64"/>
                          </a:solidFill>
                          <a:latin typeface="Calibri" pitchFamily="34" charset="0"/>
                          <a:ea typeface="Calibri" pitchFamily="34" charset="-122"/>
                          <a:cs typeface="Calibri" pitchFamily="34" charset="-120"/>
                        </a:rPr>
                        <a:t>Cycle</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Consolidated feedback on the remaining products, executed by Joseph on Tuesday</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All three</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Tue–Wed</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App + register</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r>
              <a:tr h="0">
                <a:tc>
                  <a:txBody>
                    <a:bodyPr/>
                    <a:lstStyle/>
                    <a:p>
                      <a:pPr indent="0" marL="0">
                        <a:buNone/>
                      </a:pPr>
                      <a:r>
                        <a:rPr lang="en-US" sz="1200" b="1" dirty="0">
                          <a:solidFill>
                            <a:srgbClr val="111C24"/>
                          </a:solidFill>
                          <a:latin typeface="Calibri" pitchFamily="34" charset="0"/>
                          <a:ea typeface="Calibri" pitchFamily="34" charset="-122"/>
                          <a:cs typeface="Calibri" pitchFamily="34" charset="-120"/>
                        </a:rPr>
                        <a:t>Thursday</a:t>
                      </a:r>
                      <a:endParaRPr lang="en-US" sz="1200" dirty="0">
                        <a:latin typeface="Calibri" charset="0"/>
                        <a:ea typeface="Calibri" charset="0"/>
                        <a:cs typeface="Calibri" charset="0"/>
                      </a:endParaRPr>
                    </a:p>
                    <a:p>
                      <a:pPr indent="0" marL="0">
                        <a:buNone/>
                      </a:pPr>
                      <a:r>
                        <a:rPr lang="en-US" sz="1100" dirty="0">
                          <a:solidFill>
                            <a:srgbClr val="4E5A64"/>
                          </a:solidFill>
                          <a:latin typeface="Calibri" pitchFamily="34" charset="0"/>
                          <a:ea typeface="Calibri" pitchFamily="34" charset="-122"/>
                          <a:cs typeface="Calibri" pitchFamily="34" charset="-120"/>
                        </a:rPr>
                        <a:t>Tuning</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Tuning run on Monday's changes, reviewed by all three, executed by Joseph. Bamboo margin reset</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Joseph</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Thursday</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App</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r>
              <a:tr h="0">
                <a:tc>
                  <a:txBody>
                    <a:bodyPr/>
                    <a:lstStyle/>
                    <a:p>
                      <a:pPr indent="0" marL="0">
                        <a:buNone/>
                      </a:pPr>
                      <a:r>
                        <a:rPr lang="en-US" sz="1200" b="1" dirty="0">
                          <a:solidFill>
                            <a:srgbClr val="111C24"/>
                          </a:solidFill>
                          <a:latin typeface="Calibri" pitchFamily="34" charset="0"/>
                          <a:ea typeface="Calibri" pitchFamily="34" charset="-122"/>
                          <a:cs typeface="Calibri" pitchFamily="34" charset="-120"/>
                        </a:rPr>
                        <a:t>Friday</a:t>
                      </a:r>
                      <a:endParaRPr lang="en-US" sz="1200" dirty="0">
                        <a:latin typeface="Calibri" charset="0"/>
                        <a:ea typeface="Calibri" charset="0"/>
                        <a:cs typeface="Calibri" charset="0"/>
                      </a:endParaRPr>
                    </a:p>
                    <a:p>
                      <a:pPr indent="0" marL="0">
                        <a:buNone/>
                      </a:pPr>
                      <a:r>
                        <a:rPr lang="en-US" sz="1100" dirty="0">
                          <a:solidFill>
                            <a:srgbClr val="4E5A64"/>
                          </a:solidFill>
                          <a:latin typeface="Calibri" pitchFamily="34" charset="0"/>
                          <a:ea typeface="Calibri" pitchFamily="34" charset="-122"/>
                          <a:cs typeface="Calibri" pitchFamily="34" charset="-120"/>
                        </a:rPr>
                        <a:t>Close</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Read of where each product stands, manual adjustments, this deck, oversight feedback to Joseph</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Zarlish</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Friday</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This deck</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r>
            </a:tbl>
          </a:graphicData>
        </a:graphic>
      </p:graphicFrame>
      <p:sp>
        <p:nvSpPr>
          <p:cNvPr id="7" name="Text 4"/>
          <p:cNvSpPr txBox="1"/>
          <p:nvPr/>
        </p:nvSpPr>
        <p:spPr>
          <a:xfrm>
            <a:off x="640080" y="6035040"/>
            <a:ext cx="11036808" cy="274320"/>
          </a:xfrm>
          <a:prstGeom prst="rect">
            <a:avLst/>
          </a:prstGeom>
          <a:noFill/>
          <a:ln/>
        </p:spPr>
        <p:txBody>
          <a:bodyPr wrap="square" lIns="0" tIns="0" rIns="0" bIns="0" rtlCol="0" anchor="t"/>
          <a:lstStyle/>
          <a:p>
            <a:pPr indent="0" marL="0">
              <a:buNone/>
            </a:pPr>
            <a:r>
              <a:rPr lang="en-US" sz="950" dirty="0">
                <a:solidFill>
                  <a:srgbClr val="4E5A64"/>
                </a:solidFill>
                <a:latin typeface="Calibri" pitchFamily="34" charset="0"/>
                <a:ea typeface="Calibri" pitchFamily="34" charset="-122"/>
                <a:cs typeface="Calibri" pitchFamily="34" charset="-120"/>
              </a:rPr>
              <a:t>Run in full for the first time this week.   ·   The Monday meeting was dropped and two Joseph calls were cancelled; Tuesday and Friday are the standing slots.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402336"/>
            <a:ext cx="9326880" cy="292608"/>
          </a:xfrm>
          <a:prstGeom prst="rect">
            <a:avLst/>
          </a:prstGeom>
          <a:noFill/>
          <a:ln/>
        </p:spPr>
        <p:txBody>
          <a:bodyPr wrap="square" lIns="0" tIns="0" rIns="0" bIns="0" rtlCol="0" anchor="ctr"/>
          <a:lstStyle/>
          <a:p>
            <a:pPr indent="0" marL="0">
              <a:buNone/>
            </a:pPr>
            <a:r>
              <a:rPr lang="en-US" sz="1100" b="1" spc="300" kern="0" dirty="0">
                <a:solidFill>
                  <a:srgbClr val="3D4852"/>
                </a:solidFill>
                <a:latin typeface="Calibri" pitchFamily="34" charset="0"/>
                <a:ea typeface="Calibri" pitchFamily="34" charset="-122"/>
                <a:cs typeface="Calibri" pitchFamily="34" charset="-120"/>
              </a:rPr>
              <a:t>PPC   ·   DEPARTMENT OPERATING PLAN</a:t>
            </a:r>
            <a:endParaRPr lang="en-US" sz="1100" dirty="0"/>
          </a:p>
        </p:txBody>
      </p:sp>
      <p:sp>
        <p:nvSpPr>
          <p:cNvPr id="3" name="Text 1"/>
          <p:cNvSpPr txBox="1"/>
          <p:nvPr/>
        </p:nvSpPr>
        <p:spPr>
          <a:xfrm>
            <a:off x="640080" y="676656"/>
            <a:ext cx="9326880" cy="658368"/>
          </a:xfrm>
          <a:prstGeom prst="rect">
            <a:avLst/>
          </a:prstGeom>
          <a:noFill/>
          <a:ln/>
        </p:spPr>
        <p:txBody>
          <a:bodyPr wrap="square" lIns="0" tIns="0" rIns="0" bIns="0" rtlCol="0" anchor="ctr"/>
          <a:lstStyle/>
          <a:p>
            <a:pPr indent="0" marL="0">
              <a:buNone/>
            </a:pPr>
            <a:r>
              <a:rPr lang="en-US" sz="3000" b="1" dirty="0">
                <a:solidFill>
                  <a:srgbClr val="111C24"/>
                </a:solidFill>
                <a:latin typeface="Cambria" pitchFamily="34" charset="0"/>
                <a:ea typeface="Cambria" pitchFamily="34" charset="-122"/>
                <a:cs typeface="Cambria" pitchFamily="34" charset="-120"/>
              </a:rPr>
              <a:t>Owner directions</a:t>
            </a:r>
            <a:endParaRPr lang="en-US" sz="3000" dirty="0"/>
          </a:p>
        </p:txBody>
      </p:sp>
      <p:sp>
        <p:nvSpPr>
          <p:cNvPr id="4" name="Text 2"/>
          <p:cNvSpPr txBox="1"/>
          <p:nvPr/>
        </p:nvSpPr>
        <p:spPr>
          <a:xfrm>
            <a:off x="10241280" y="274320"/>
            <a:ext cx="1435608" cy="914400"/>
          </a:xfrm>
          <a:prstGeom prst="rect">
            <a:avLst/>
          </a:prstGeom>
          <a:noFill/>
          <a:ln/>
        </p:spPr>
        <p:txBody>
          <a:bodyPr wrap="square" lIns="0" tIns="0" rIns="0" bIns="0" rtlCol="0" anchor="ctr"/>
          <a:lstStyle/>
          <a:p>
            <a:pPr algn="r" indent="0" marL="0">
              <a:buNone/>
            </a:pPr>
            <a:r>
              <a:rPr lang="en-US" sz="5400" b="1" dirty="0">
                <a:solidFill>
                  <a:srgbClr val="DCE4EA"/>
                </a:solidFill>
                <a:latin typeface="Cambria" pitchFamily="34" charset="0"/>
                <a:ea typeface="Cambria" pitchFamily="34" charset="-122"/>
                <a:cs typeface="Cambria" pitchFamily="34" charset="-120"/>
              </a:rPr>
              <a:t>06</a:t>
            </a:r>
            <a:endParaRPr lang="en-US" sz="5400" dirty="0"/>
          </a:p>
        </p:txBody>
      </p:sp>
      <p:sp>
        <p:nvSpPr>
          <p:cNvPr id="5" name="Text 3"/>
          <p:cNvSpPr txBox="1"/>
          <p:nvPr/>
        </p:nvSpPr>
        <p:spPr>
          <a:xfrm>
            <a:off x="7315200" y="6382512"/>
            <a:ext cx="4361688" cy="274320"/>
          </a:xfrm>
          <a:prstGeom prst="rect">
            <a:avLst/>
          </a:prstGeom>
          <a:noFill/>
          <a:ln/>
        </p:spPr>
        <p:txBody>
          <a:bodyPr wrap="square" lIns="0" tIns="0" rIns="0" bIns="0" rtlCol="0" anchor="ctr"/>
          <a:lstStyle/>
          <a:p>
            <a:pPr algn="r" indent="0" marL="0">
              <a:buNone/>
            </a:pPr>
            <a:r>
              <a:rPr lang="en-US" sz="1000" dirty="0">
                <a:solidFill>
                  <a:srgbClr val="4E5A64"/>
                </a:solidFill>
                <a:latin typeface="Calibri" pitchFamily="34" charset="0"/>
                <a:ea typeface="Calibri" pitchFamily="34" charset="-122"/>
                <a:cs typeface="Calibri" pitchFamily="34" charset="-120"/>
              </a:rPr>
              <a:t>PPC · Sep 28–Oct 2</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1036808" cy="914400"/>
        </p:xfrm>
        <a:graphic>
          <a:graphicData uri="http://schemas.openxmlformats.org/drawingml/2006/table">
            <a:tbl>
              <a:tblPr/>
              <a:tblGrid>
                <a:gridCol w="2514600"/>
                <a:gridCol w="4846320"/>
                <a:gridCol w="1463040"/>
                <a:gridCol w="1097280"/>
                <a:gridCol w="1115568"/>
              </a:tblGrid>
              <a:tr h="0">
                <a:tc>
                  <a:txBody>
                    <a:bodyPr/>
                    <a:lstStyle/>
                    <a:p>
                      <a:pPr indent="0" marL="0">
                        <a:buNone/>
                      </a:pPr>
                      <a:r>
                        <a:rPr lang="en-US" sz="950" b="1" spc="150" kern="0" dirty="0">
                          <a:solidFill>
                            <a:srgbClr val="3D4852"/>
                          </a:solidFill>
                          <a:latin typeface="Calibri" pitchFamily="34" charset="0"/>
                          <a:ea typeface="Calibri" pitchFamily="34" charset="-122"/>
                          <a:cs typeface="Calibri" pitchFamily="34" charset="-120"/>
                        </a:rPr>
                        <a:t>OWNER</a:t>
                      </a:r>
                      <a:endParaRPr lang="en-US" sz="950" dirty="0">
                        <a:latin typeface="Calibri" charset="0"/>
                        <a:ea typeface="Calibri" charset="0"/>
                        <a:cs typeface="Calibri" charset="0"/>
                      </a:endParaRPr>
                    </a:p>
                  </a:txBody>
                  <a:tcPr marL="54864" marR="54864" marT="18288" marB="64008" anchor="b">
                    <a:lnL w="0" cap="flat" cmpd="sng" algn="ctr">
                      <a:noFill/>
                    </a:lnL>
                    <a:lnR w="0" cap="flat" cmpd="sng" algn="ctr">
                      <a:noFill/>
                    </a:lnR>
                    <a:lnT w="0" cap="flat" cmpd="sng" algn="ctr">
                      <a:noFill/>
                    </a:lnT>
                    <a:lnB w="15875" cap="flat" cmpd="sng" algn="ctr">
                      <a:solidFill>
                        <a:srgbClr val="111C24"/>
                      </a:solidFill>
                      <a:prstDash val="solid"/>
                      <a:round/>
                      <a:headEnd type="none" w="med" len="med"/>
                      <a:tailEnd type="none" w="med" len="med"/>
                    </a:lnB>
                  </a:tcPr>
                </a:tc>
                <a:tc>
                  <a:txBody>
                    <a:bodyPr/>
                    <a:lstStyle/>
                    <a:p>
                      <a:pPr indent="0" marL="0">
                        <a:buNone/>
                      </a:pPr>
                      <a:r>
                        <a:rPr lang="en-US" sz="950" b="1" spc="150" kern="0" dirty="0">
                          <a:solidFill>
                            <a:srgbClr val="3D4852"/>
                          </a:solidFill>
                          <a:latin typeface="Calibri" pitchFamily="34" charset="0"/>
                          <a:ea typeface="Calibri" pitchFamily="34" charset="-122"/>
                          <a:cs typeface="Calibri" pitchFamily="34" charset="-120"/>
                        </a:rPr>
                        <a:t>DIRECTION FOR THIS CYCLE</a:t>
                      </a:r>
                      <a:endParaRPr lang="en-US" sz="950" dirty="0">
                        <a:latin typeface="Calibri" charset="0"/>
                        <a:ea typeface="Calibri" charset="0"/>
                        <a:cs typeface="Calibri" charset="0"/>
                      </a:endParaRPr>
                    </a:p>
                  </a:txBody>
                  <a:tcPr marL="54864" marR="54864" marT="18288" marB="64008" anchor="b">
                    <a:lnL w="0" cap="flat" cmpd="sng" algn="ctr">
                      <a:noFill/>
                    </a:lnL>
                    <a:lnR w="0" cap="flat" cmpd="sng" algn="ctr">
                      <a:noFill/>
                    </a:lnR>
                    <a:lnT w="0" cap="flat" cmpd="sng" algn="ctr">
                      <a:noFill/>
                    </a:lnT>
                    <a:lnB w="15875" cap="flat" cmpd="sng" algn="ctr">
                      <a:solidFill>
                        <a:srgbClr val="111C24"/>
                      </a:solidFill>
                      <a:prstDash val="solid"/>
                      <a:round/>
                      <a:headEnd type="none" w="med" len="med"/>
                      <a:tailEnd type="none" w="med" len="med"/>
                    </a:lnB>
                  </a:tcPr>
                </a:tc>
                <a:tc>
                  <a:txBody>
                    <a:bodyPr/>
                    <a:lstStyle/>
                    <a:p>
                      <a:pPr indent="0" marL="0">
                        <a:buNone/>
                      </a:pPr>
                      <a:r>
                        <a:rPr lang="en-US" sz="950" b="1" spc="150" kern="0" dirty="0">
                          <a:solidFill>
                            <a:srgbClr val="3D4852"/>
                          </a:solidFill>
                          <a:latin typeface="Calibri" pitchFamily="34" charset="0"/>
                          <a:ea typeface="Calibri" pitchFamily="34" charset="-122"/>
                          <a:cs typeface="Calibri" pitchFamily="34" charset="-120"/>
                        </a:rPr>
                        <a:t>CADENCE</a:t>
                      </a:r>
                      <a:endParaRPr lang="en-US" sz="950" dirty="0">
                        <a:latin typeface="Calibri" charset="0"/>
                        <a:ea typeface="Calibri" charset="0"/>
                        <a:cs typeface="Calibri" charset="0"/>
                      </a:endParaRPr>
                    </a:p>
                  </a:txBody>
                  <a:tcPr marL="54864" marR="54864" marT="18288" marB="64008" anchor="b">
                    <a:lnL w="0" cap="flat" cmpd="sng" algn="ctr">
                      <a:noFill/>
                    </a:lnL>
                    <a:lnR w="0" cap="flat" cmpd="sng" algn="ctr">
                      <a:noFill/>
                    </a:lnR>
                    <a:lnT w="0" cap="flat" cmpd="sng" algn="ctr">
                      <a:noFill/>
                    </a:lnT>
                    <a:lnB w="15875" cap="flat" cmpd="sng" algn="ctr">
                      <a:solidFill>
                        <a:srgbClr val="111C24"/>
                      </a:solidFill>
                      <a:prstDash val="solid"/>
                      <a:round/>
                      <a:headEnd type="none" w="med" len="med"/>
                      <a:tailEnd type="none" w="med" len="med"/>
                    </a:lnB>
                  </a:tcPr>
                </a:tc>
                <a:tc>
                  <a:txBody>
                    <a:bodyPr/>
                    <a:lstStyle/>
                    <a:p>
                      <a:pPr indent="0" marL="0">
                        <a:buNone/>
                      </a:pPr>
                      <a:r>
                        <a:rPr lang="en-US" sz="950" b="1" spc="150" kern="0" dirty="0">
                          <a:solidFill>
                            <a:srgbClr val="3D4852"/>
                          </a:solidFill>
                          <a:latin typeface="Calibri" pitchFamily="34" charset="0"/>
                          <a:ea typeface="Calibri" pitchFamily="34" charset="-122"/>
                          <a:cs typeface="Calibri" pitchFamily="34" charset="-120"/>
                        </a:rPr>
                        <a:t>REPORTS TO</a:t>
                      </a:r>
                      <a:endParaRPr lang="en-US" sz="950" dirty="0">
                        <a:latin typeface="Calibri" charset="0"/>
                        <a:ea typeface="Calibri" charset="0"/>
                        <a:cs typeface="Calibri" charset="0"/>
                      </a:endParaRPr>
                    </a:p>
                  </a:txBody>
                  <a:tcPr marL="54864" marR="54864" marT="18288" marB="64008" anchor="b">
                    <a:lnL w="0" cap="flat" cmpd="sng" algn="ctr">
                      <a:noFill/>
                    </a:lnL>
                    <a:lnR w="0" cap="flat" cmpd="sng" algn="ctr">
                      <a:noFill/>
                    </a:lnR>
                    <a:lnT w="0" cap="flat" cmpd="sng" algn="ctr">
                      <a:noFill/>
                    </a:lnT>
                    <a:lnB w="15875" cap="flat" cmpd="sng" algn="ctr">
                      <a:solidFill>
                        <a:srgbClr val="111C24"/>
                      </a:solidFill>
                      <a:prstDash val="solid"/>
                      <a:round/>
                      <a:headEnd type="none" w="med" len="med"/>
                      <a:tailEnd type="none" w="med" len="med"/>
                    </a:lnB>
                  </a:tcPr>
                </a:tc>
                <a:tc>
                  <a:txBody>
                    <a:bodyPr/>
                    <a:lstStyle/>
                    <a:p>
                      <a:pPr indent="0" marL="0">
                        <a:buNone/>
                      </a:pPr>
                      <a:r>
                        <a:rPr lang="en-US" sz="950" b="1" spc="150" kern="0" dirty="0">
                          <a:solidFill>
                            <a:srgbClr val="3D4852"/>
                          </a:solidFill>
                          <a:latin typeface="Calibri" pitchFamily="34" charset="0"/>
                          <a:ea typeface="Calibri" pitchFamily="34" charset="-122"/>
                          <a:cs typeface="Calibri" pitchFamily="34" charset="-120"/>
                        </a:rPr>
                        <a:t>ESCALATES TO</a:t>
                      </a:r>
                      <a:endParaRPr lang="en-US" sz="950" dirty="0">
                        <a:latin typeface="Calibri" charset="0"/>
                        <a:ea typeface="Calibri" charset="0"/>
                        <a:cs typeface="Calibri" charset="0"/>
                      </a:endParaRPr>
                    </a:p>
                  </a:txBody>
                  <a:tcPr marL="54864" marR="54864" marT="18288" marB="64008" anchor="b">
                    <a:lnL w="0" cap="flat" cmpd="sng" algn="ctr">
                      <a:noFill/>
                    </a:lnL>
                    <a:lnR w="0" cap="flat" cmpd="sng" algn="ctr">
                      <a:noFill/>
                    </a:lnR>
                    <a:lnT w="0" cap="flat" cmpd="sng" algn="ctr">
                      <a:noFill/>
                    </a:lnT>
                    <a:lnB w="15875" cap="flat" cmpd="sng" algn="ctr">
                      <a:solidFill>
                        <a:srgbClr val="111C24"/>
                      </a:solidFill>
                      <a:prstDash val="solid"/>
                      <a:round/>
                      <a:headEnd type="none" w="med" len="med"/>
                      <a:tailEnd type="none" w="med" len="med"/>
                    </a:lnB>
                  </a:tcPr>
                </a:tc>
              </a:tr>
              <a:tr h="0">
                <a:tc>
                  <a:txBody>
                    <a:bodyPr/>
                    <a:lstStyle/>
                    <a:p>
                      <a:pPr indent="0" marL="0">
                        <a:buNone/>
                      </a:pPr>
                      <a:r>
                        <a:rPr lang="en-US" sz="1200" b="1" dirty="0">
                          <a:solidFill>
                            <a:srgbClr val="111C24"/>
                          </a:solidFill>
                          <a:latin typeface="Calibri" pitchFamily="34" charset="0"/>
                          <a:ea typeface="Calibri" pitchFamily="34" charset="-122"/>
                          <a:cs typeface="Calibri" pitchFamily="34" charset="-120"/>
                        </a:rPr>
                        <a:t>Shayan Taquie</a:t>
                      </a:r>
                      <a:endParaRPr lang="en-US" sz="1200" dirty="0">
                        <a:latin typeface="Calibri" charset="0"/>
                        <a:ea typeface="Calibri" charset="0"/>
                        <a:cs typeface="Calibri" charset="0"/>
                      </a:endParaRPr>
                    </a:p>
                    <a:p>
                      <a:pPr indent="0" marL="0">
                        <a:buNone/>
                      </a:pPr>
                      <a:r>
                        <a:rPr lang="en-US" sz="1100" dirty="0">
                          <a:solidFill>
                            <a:srgbClr val="4E5A64"/>
                          </a:solidFill>
                          <a:latin typeface="Calibri" pitchFamily="34" charset="0"/>
                          <a:ea typeface="Calibri" pitchFamily="34" charset="-122"/>
                          <a:cs typeface="Calibri" pitchFamily="34" charset="-120"/>
                        </a:rPr>
                        <a:t>Dept lead · Cooling · 2 lines</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Own the cycle and Joseph coordination, the campaign-type list, the ad-type framework, the proposal, Prime Day and the B4/B6 ranking push</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Daily + Mon + Fri</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Erik &amp; Joseph</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Erik</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r>
              <a:tr h="0">
                <a:tc>
                  <a:txBody>
                    <a:bodyPr/>
                    <a:lstStyle/>
                    <a:p>
                      <a:pPr indent="0" marL="0">
                        <a:buNone/>
                      </a:pPr>
                      <a:r>
                        <a:rPr lang="en-US" sz="1200" b="1" dirty="0">
                          <a:solidFill>
                            <a:srgbClr val="111C24"/>
                          </a:solidFill>
                          <a:latin typeface="Calibri" pitchFamily="34" charset="0"/>
                          <a:ea typeface="Calibri" pitchFamily="34" charset="-122"/>
                          <a:cs typeface="Calibri" pitchFamily="34" charset="-120"/>
                        </a:rPr>
                        <a:t>Shayan Rana</a:t>
                      </a:r>
                      <a:endParaRPr lang="en-US" sz="1200" dirty="0">
                        <a:latin typeface="Calibri" charset="0"/>
                        <a:ea typeface="Calibri" charset="0"/>
                        <a:cs typeface="Calibri" charset="0"/>
                      </a:endParaRPr>
                    </a:p>
                    <a:p>
                      <a:pPr indent="0" marL="0">
                        <a:buNone/>
                      </a:pPr>
                      <a:r>
                        <a:rPr lang="en-US" sz="1100" dirty="0">
                          <a:solidFill>
                            <a:srgbClr val="4E5A64"/>
                          </a:solidFill>
                          <a:latin typeface="Calibri" pitchFamily="34" charset="0"/>
                          <a:ea typeface="Calibri" pitchFamily="34" charset="-122"/>
                          <a:cs typeface="Calibri" pitchFamily="34" charset="-120"/>
                        </a:rPr>
                        <a:t>Bamboo · 3 lines</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Bamboo daily work and the Canada deals, app-side feedback Friday. Bamboo ownership is under review</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Daily + per cycle</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Shayan T</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Joseph</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r>
              <a:tr h="0">
                <a:tc>
                  <a:txBody>
                    <a:bodyPr/>
                    <a:lstStyle/>
                    <a:p>
                      <a:pPr indent="0" marL="0">
                        <a:buNone/>
                      </a:pPr>
                      <a:r>
                        <a:rPr lang="en-US" sz="1200" b="1" dirty="0">
                          <a:solidFill>
                            <a:srgbClr val="111C24"/>
                          </a:solidFill>
                          <a:latin typeface="Calibri" pitchFamily="34" charset="0"/>
                          <a:ea typeface="Calibri" pitchFamily="34" charset="-122"/>
                          <a:cs typeface="Calibri" pitchFamily="34" charset="-120"/>
                        </a:rPr>
                        <a:t>Zarlish</a:t>
                      </a:r>
                      <a:endParaRPr lang="en-US" sz="1200" dirty="0">
                        <a:latin typeface="Calibri" charset="0"/>
                        <a:ea typeface="Calibri" charset="0"/>
                        <a:cs typeface="Calibri" charset="0"/>
                      </a:endParaRPr>
                    </a:p>
                    <a:p>
                      <a:pPr indent="0" marL="0">
                        <a:buNone/>
                      </a:pPr>
                      <a:r>
                        <a:rPr lang="en-US" sz="1100" dirty="0">
                          <a:solidFill>
                            <a:srgbClr val="4E5A64"/>
                          </a:solidFill>
                          <a:latin typeface="Calibri" pitchFamily="34" charset="0"/>
                          <a:ea typeface="Calibri" pitchFamily="34" charset="-122"/>
                          <a:cs typeface="Calibri" pitchFamily="34" charset="-120"/>
                        </a:rPr>
                        <a:t>Satin · 4 lines</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Satin daily work, the consolidated engine register and the Friday read. Register goes changed-only</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Daily + Friday</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Shayan T</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Joseph</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r>
              <a:tr h="0">
                <a:tc>
                  <a:txBody>
                    <a:bodyPr/>
                    <a:lstStyle/>
                    <a:p>
                      <a:pPr indent="0" marL="0">
                        <a:buNone/>
                      </a:pPr>
                      <a:r>
                        <a:rPr lang="en-US" sz="1200" b="1" dirty="0">
                          <a:solidFill>
                            <a:srgbClr val="111C24"/>
                          </a:solidFill>
                          <a:latin typeface="Calibri" pitchFamily="34" charset="0"/>
                          <a:ea typeface="Calibri" pitchFamily="34" charset="-122"/>
                          <a:cs typeface="Calibri" pitchFamily="34" charset="-120"/>
                        </a:rPr>
                        <a:t>Joseph</a:t>
                      </a:r>
                      <a:endParaRPr lang="en-US" sz="1200" dirty="0">
                        <a:latin typeface="Calibri" charset="0"/>
                        <a:ea typeface="Calibri" charset="0"/>
                        <a:cs typeface="Calibri" charset="0"/>
                      </a:endParaRPr>
                    </a:p>
                    <a:p>
                      <a:pPr indent="0" marL="0">
                        <a:buNone/>
                      </a:pPr>
                      <a:r>
                        <a:rPr lang="en-US" sz="1100" dirty="0">
                          <a:solidFill>
                            <a:srgbClr val="4E5A64"/>
                          </a:solidFill>
                          <a:latin typeface="Calibri" pitchFamily="34" charset="0"/>
                          <a:ea typeface="Calibri" pitchFamily="34" charset="-122"/>
                          <a:cs typeface="Calibri" pitchFamily="34" charset="-120"/>
                        </a:rPr>
                        <a:t>Audit engine · outside PPC</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Run the nine audits, execute agreed changes through the app, sign off Section 7, Q1 and Q3, and write the Bamboo rank goals to Target Setting</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Per cycle</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Erik</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Erik</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r>
              <a:tr h="0">
                <a:tc>
                  <a:txBody>
                    <a:bodyPr/>
                    <a:lstStyle/>
                    <a:p>
                      <a:pPr indent="0" marL="0">
                        <a:buNone/>
                      </a:pPr>
                      <a:r>
                        <a:rPr lang="en-US" sz="1200" b="1" dirty="0">
                          <a:solidFill>
                            <a:srgbClr val="111C24"/>
                          </a:solidFill>
                          <a:latin typeface="Calibri" pitchFamily="34" charset="0"/>
                          <a:ea typeface="Calibri" pitchFamily="34" charset="-122"/>
                          <a:cs typeface="Calibri" pitchFamily="34" charset="-120"/>
                        </a:rPr>
                        <a:t>Ivan</a:t>
                      </a:r>
                      <a:endParaRPr lang="en-US" sz="1200" dirty="0">
                        <a:latin typeface="Calibri" charset="0"/>
                        <a:ea typeface="Calibri" charset="0"/>
                        <a:cs typeface="Calibri" charset="0"/>
                      </a:endParaRPr>
                    </a:p>
                    <a:p>
                      <a:pPr indent="0" marL="0">
                        <a:buNone/>
                      </a:pPr>
                      <a:r>
                        <a:rPr lang="en-US" sz="1100" dirty="0">
                          <a:solidFill>
                            <a:srgbClr val="4E5A64"/>
                          </a:solidFill>
                          <a:latin typeface="Calibri" pitchFamily="34" charset="0"/>
                          <a:ea typeface="Calibri" pitchFamily="34" charset="-122"/>
                          <a:cs typeface="Calibri" pitchFamily="34" charset="-120"/>
                        </a:rPr>
                        <a:t>Onboarding · from 2 Oct</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Foundation on catalog, products and process. EOD output daily: done, next, blockers, questions</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Daily EOD</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Shayan T</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Shayan T</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r>
              <a:tr h="0">
                <a:tc>
                  <a:txBody>
                    <a:bodyPr/>
                    <a:lstStyle/>
                    <a:p>
                      <a:pPr indent="0" marL="0">
                        <a:buNone/>
                      </a:pPr>
                      <a:r>
                        <a:rPr lang="en-US" sz="1200" b="1" dirty="0">
                          <a:solidFill>
                            <a:srgbClr val="111C24"/>
                          </a:solidFill>
                          <a:latin typeface="Calibri" pitchFamily="34" charset="0"/>
                          <a:ea typeface="Calibri" pitchFamily="34" charset="-122"/>
                          <a:cs typeface="Calibri" pitchFamily="34" charset="-120"/>
                        </a:rPr>
                        <a:t>Whole department</a:t>
                      </a:r>
                      <a:endParaRPr lang="en-US" sz="1200" dirty="0">
                        <a:latin typeface="Calibri" charset="0"/>
                        <a:ea typeface="Calibri" charset="0"/>
                        <a:cs typeface="Calibri" charset="0"/>
                      </a:endParaRPr>
                    </a:p>
                    <a:p>
                      <a:pPr indent="0" marL="0">
                        <a:buNone/>
                      </a:pPr>
                      <a:r>
                        <a:rPr lang="en-US" sz="1100" dirty="0">
                          <a:solidFill>
                            <a:srgbClr val="4E5A64"/>
                          </a:solidFill>
                          <a:latin typeface="Calibri" pitchFamily="34" charset="0"/>
                          <a:ea typeface="Calibri" pitchFamily="34" charset="-122"/>
                          <a:cs typeface="Calibri" pitchFamily="34" charset="-120"/>
                        </a:rPr>
                        <a:t>Standard for every audit</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All three review every audit in full. Nothing executes that a reviewer has not signed off</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Per cycle</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Shayan T</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c>
                  <a:txBody>
                    <a:bodyPr/>
                    <a:lstStyle/>
                    <a:p>
                      <a:pPr indent="0" marL="0">
                        <a:buNone/>
                      </a:pPr>
                      <a:r>
                        <a:rPr lang="en-US" sz="1200" dirty="0">
                          <a:solidFill>
                            <a:srgbClr val="111C24"/>
                          </a:solidFill>
                          <a:latin typeface="Calibri" pitchFamily="34" charset="0"/>
                          <a:ea typeface="Calibri" pitchFamily="34" charset="-122"/>
                          <a:cs typeface="Calibri" pitchFamily="34" charset="-120"/>
                        </a:rPr>
                        <a:t>Erik</a:t>
                      </a:r>
                      <a:endParaRPr lang="en-US" sz="1200" dirty="0">
                        <a:latin typeface="Calibri" charset="0"/>
                        <a:ea typeface="Calibri" charset="0"/>
                        <a:cs typeface="Calibri" charset="0"/>
                      </a:endParaRPr>
                    </a:p>
                  </a:txBody>
                  <a:tcPr marL="64008" marR="64008" marT="73152" marB="73152" anchor="ctr">
                    <a:lnL w="0" cap="flat" cmpd="sng" algn="ctr">
                      <a:noFill/>
                    </a:lnL>
                    <a:lnR w="0" cap="flat" cmpd="sng" algn="ctr">
                      <a:noFill/>
                    </a:lnR>
                    <a:lnT w="0" cap="flat" cmpd="sng" algn="ctr">
                      <a:noFill/>
                    </a:lnT>
                    <a:lnB w="9525" cap="flat" cmpd="sng" algn="ctr">
                      <a:solidFill>
                        <a:srgbClr val="BFCAD3"/>
                      </a:solidFill>
                      <a:prstDash val="solid"/>
                      <a:round/>
                      <a:headEnd type="none" w="med" len="med"/>
                      <a:tailEnd type="none" w="med" len="med"/>
                    </a:lnB>
                  </a:tcPr>
                </a:tc>
              </a:tr>
            </a:tbl>
          </a:graphicData>
        </a:graphic>
      </p:graphicFrame>
      <p:sp>
        <p:nvSpPr>
          <p:cNvPr id="7" name="Text 4"/>
          <p:cNvSpPr txBox="1"/>
          <p:nvPr/>
        </p:nvSpPr>
        <p:spPr>
          <a:xfrm>
            <a:off x="640080" y="6035040"/>
            <a:ext cx="11036808" cy="274320"/>
          </a:xfrm>
          <a:prstGeom prst="rect">
            <a:avLst/>
          </a:prstGeom>
          <a:noFill/>
          <a:ln/>
        </p:spPr>
        <p:txBody>
          <a:bodyPr wrap="square" lIns="0" tIns="0" rIns="0" bIns="0" rtlCol="0" anchor="t"/>
          <a:lstStyle/>
          <a:p>
            <a:pPr indent="0" marL="0">
              <a:buNone/>
            </a:pPr>
            <a:r>
              <a:rPr lang="en-US" sz="950" dirty="0">
                <a:solidFill>
                  <a:srgbClr val="4E5A64"/>
                </a:solidFill>
                <a:latin typeface="Calibri" pitchFamily="34" charset="0"/>
                <a:ea typeface="Calibri" pitchFamily="34" charset="-122"/>
                <a:cs typeface="Calibri" pitchFamily="34" charset="-120"/>
              </a:rPr>
              <a:t>Line counts are the daily-manual-work owners in the PPC Weekly Plan v5 of 28 Sep.   ·   Bamboo ownership is open with Joseph and Erik.</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Ecotero Brands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PPC Weekly Review, Sep 28 to Oct 2</dc:title>
  <dc:subject>PptxGenJS Presentation</dc:subject>
  <dc:creator>Zarlish</dc:creator>
  <cp:lastModifiedBy>Zarlish</cp:lastModifiedBy>
  <cp:revision>1</cp:revision>
  <dcterms:created xsi:type="dcterms:W3CDTF">2026-10-02T13:29:47Z</dcterms:created>
  <dcterms:modified xsi:type="dcterms:W3CDTF">2026-10-02T13:29:47Z</dcterms:modified>
</cp:coreProperties>
</file>