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
  </p:notesMasterIdLst>
  <p:sldIdLst>
    <p:sldId id="256" r:id="rId2"/>
    <p:sldId id="257" r:id="rId3"/>
    <p:sldId id="259" r:id="rId4"/>
    <p:sldId id="260" r:id="rId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85" d="100"/>
          <a:sy n="85" d="100"/>
        </p:scale>
        <p:origin x="562"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088271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 Hi everyone, this is the PPC weekly review for 28 September to 2 October, the first Friday review on the new cadence.</a:t>
            </a:r>
          </a:p>
          <a:p/>
          <a:p>
            <a:r>
              <a:t>Three headlines before we go into detail:</a:t>
            </a:r>
          </a:p>
          <a:p>
            <a:r>
              <a:t>1. The CooLinens Cooling Pillowcase goes live on Amazon today, and its PPC campaigns launch with it.</a:t>
            </a:r>
          </a:p>
          <a:p>
            <a:r>
              <a:t>2. The B4 and B6 bamboo ranking plans are final.</a:t>
            </a:r>
          </a:p>
          <a:p>
            <a:r>
              <a:t>3. Prime Big Deal Days on 6 and 7 October is the first test of next week.</a:t>
            </a:r>
          </a:p>
          <a:p/>
          <a:p>
            <a:r>
              <a:t>Across the six workstreams this week: four delivered, two in progress, and nothing at risk.</a:t>
            </a:r>
          </a:p>
          <a:p/>
          <a:p>
            <a:r>
              <a:t>I'll take you through progress against the plan, then the open blocker and items, then next week.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 min] Progress versus plan, one row at a time.</a:t>
            </a:r>
          </a:p>
          <a:p/>
          <a:p>
            <a:r>
              <a:t>Audit cycle: the plan was all nine products audited, reviewed by all three of us and executed through the app, Bamboo on Monday and the rest on Tuesday. Feedback is posted on six: B4, B6, S4, S6, Satin Fitted and SS-S4. The remaining three, Cooling Sheets 4-piece, Bamboo Fitted and Cooling Fitted, are being completed today, so the cycle closes today.</a:t>
            </a:r>
          </a:p>
          <a:p/>
          <a:p>
            <a:r>
              <a:t>Engine corrections and feedback: the B4 and B6 corrections were applied and re-audited on 29 September, and that was the first clean 218 out of 218 pass. The engine feedback doc and issue register are delivered. Zarlish prepared them, Shayan T is reviewing them now, and Zarlish shares them with Joseph next.</a:t>
            </a:r>
          </a:p>
          <a:p/>
          <a:p>
            <a:r>
              <a:t>Bamboo ranking push: Joseph's plan of attack came on 1 October, and the B4 and B6 ranking plans were finalised today. B4 follows the plan of attack on start dates and colours by size. B6 replaces the 30 September plan. Erik's points from 2 October are built into both.</a:t>
            </a:r>
          </a:p>
          <a:p/>
          <a:p>
            <a:r>
              <a:t>Process deliverables: on the 30 September call we agreed the ranking plan comes first. That went out on 1 October. The campaign-type list, the ad-type plan (Bamboo first), the frameworks and the stabilisation proposal are due by end of week, 3 to 4 October. The SB, SBV and SD campaigns are built but held for creative, so the 1 October API launch did not happen.</a:t>
            </a:r>
          </a:p>
          <a:p/>
          <a:p>
            <a:r>
              <a:t>LTSF products: the LTSF update went to Erik on 30 September, alongside the S6 review and the engine feedback.</a:t>
            </a:r>
          </a:p>
          <a:p/>
          <a:p>
            <a:r>
              <a:t>CooLinens Pillowcase: the launch workbook was shared on 28 September and revised with a strategy doc on Erik's feedback on the 29th. The listing goes live today, and Shayan T and Zarlish launch the campaigns with it.</a:t>
            </a:r>
          </a:p>
          <a:p/>
          <a:p>
            <a:r>
              <a:t>[Pause for questions on any row.]</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 min] One blocker this week, and it is time-sensitive.</a:t>
            </a:r>
          </a:p>
          <a:p/>
          <a:p>
            <a:r>
              <a:t>Prime Big Deal Days is four days out, and outside Bamboo we don't yet have a deal-day budget or a bid stance. Bamboo is covered: its plans set budgets at 1.5 times on deal days with bids held.</a:t>
            </a:r>
          </a:p>
          <a:p/>
          <a:p>
            <a:r>
              <a:t>Ask: Shayan T and Joseph set the plan by end of week, with everything in place by Monday 5 October.</a:t>
            </a:r>
          </a:p>
          <a:p/>
          <a:p>
            <a:r>
              <a:t>Five open items carry into next week: the ad-type framework document, the stabilisation proposal, the Canada Bamboo audits, the Prime Day plan, and the daily manual changes.</a:t>
            </a:r>
          </a:p>
          <a:p/>
          <a:p>
            <a:r>
              <a:t>[Ask: does anyone need anything from Erik or Joseph to close these?]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 min] Next week, 5 to 9 October.</a:t>
            </a:r>
          </a:p>
          <a:p/>
          <a:p>
            <a:r>
              <a:t>Prime Big Deal Days, all three of us with Joseph: deal-day plan and budgets set by end of week, the S4 deal issues cleared and budgets live by Monday, then we run the 6 to 7 October event with Amazon's own budget rules stripped.</a:t>
            </a:r>
          </a:p>
          <a:p/>
          <a:p>
            <a:r>
              <a:t>CooLinens Pillowcase, Shayan T with Zarlish: the first live week. Daily spend, search-term and conversion checks, PAT additions from Shayan R, and a launch read at the Friday close on 9 October.</a:t>
            </a:r>
          </a:p>
          <a:p/>
          <a:p>
            <a:r>
              <a:t>Audit cycle, all three: the next cycle on all nine, Bamboo on Monday and the rest on Tuesday.</a:t>
            </a:r>
          </a:p>
          <a:p/>
          <a:p>
            <a:r>
              <a:t>Engine feedback and register, Zarlish with Shayan T: Shayan T reviews and Zarlish shares it with Joseph. This runs weekly.</a:t>
            </a:r>
          </a:p>
          <a:p/>
          <a:p>
            <a:r>
              <a:t>Other campaign types, Shayan T: send the campaign-type list, the ad-type plan for Bamboo and the frameworks for the other products by end of week, brief creative for the held SB, SBV and SD campaigns, then launch them through the API.</a:t>
            </a:r>
          </a:p>
          <a:p/>
          <a:p>
            <a:r>
              <a:t>LTSF products, Zarlish: act on Erik's reply to the 30 September update and keep the per-SKU actions running. This is ongoing, P1.</a:t>
            </a:r>
          </a:p>
          <a:p/>
          <a:p>
            <a:r>
              <a:t>Stabilisation proposal, Shayan T, by end of week: catalog prioritisation, team structure, the finalised cadence and the development list, with priorities and due dates as Erik asked on 30 September.</a:t>
            </a:r>
          </a:p>
          <a:p/>
          <a:p>
            <a:r>
              <a:t>Everything marked P0 fails the cycle if it slips.</a:t>
            </a:r>
          </a:p>
          <a:p/>
          <a:p>
            <a:r>
              <a:t>[Close] To recap what we need: the Prime Big Deal Days plan from Shayan T and Joseph by end of week and Monday. Thanks, everyone. Questions?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4F7FA"/>
        </a:solidFill>
        <a:effectLst/>
      </p:bgPr>
    </p:bg>
    <p:spTree>
      <p:nvGrpSpPr>
        <p:cNvPr id="1" name=""/>
        <p:cNvGrpSpPr/>
        <p:nvPr/>
      </p:nvGrpSpPr>
      <p:grpSpPr>
        <a:xfrm>
          <a:off x="0" y="0"/>
          <a:ext cx="0" cy="0"/>
          <a:chOff x="0" y="0"/>
          <a:chExt cx="0" cy="0"/>
        </a:xfrm>
      </p:grpSpPr>
      <p:sp>
        <p:nvSpPr>
          <p:cNvPr id="2" name="Text 0"/>
          <p:cNvSpPr/>
          <p:nvPr/>
        </p:nvSpPr>
        <p:spPr>
          <a:xfrm>
            <a:off x="640080" y="6382512"/>
            <a:ext cx="3657600" cy="274320"/>
          </a:xfrm>
          <a:prstGeom prst="rect">
            <a:avLst/>
          </a:prstGeom>
          <a:noFill/>
          <a:ln/>
        </p:spPr>
        <p:txBody>
          <a:bodyPr wrap="square" lIns="0" tIns="0" rIns="0" bIns="0" rtlCol="0" anchor="ctr"/>
          <a:lstStyle/>
          <a:p>
            <a:pPr marL="0" indent="0">
              <a:buNone/>
            </a:pPr>
            <a:r>
              <a:rPr lang="en-US" sz="1000" b="1" kern="0" spc="200" dirty="0">
                <a:solidFill>
                  <a:srgbClr val="3D4852"/>
                </a:solidFill>
                <a:latin typeface="Calibri" pitchFamily="34" charset="0"/>
                <a:ea typeface="Calibri" pitchFamily="34" charset="-122"/>
                <a:cs typeface="Calibri" pitchFamily="34" charset="-120"/>
              </a:rPr>
              <a:t>ECOTERO BRANDS</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E44"/>
        </a:solidFill>
        <a:effectLst/>
      </p:bgPr>
    </p:bg>
    <p:spTree>
      <p:nvGrpSpPr>
        <p:cNvPr id="1" name=""/>
        <p:cNvGrpSpPr/>
        <p:nvPr/>
      </p:nvGrpSpPr>
      <p:grpSpPr>
        <a:xfrm>
          <a:off x="0" y="0"/>
          <a:ext cx="0" cy="0"/>
          <a:chOff x="0" y="0"/>
          <a:chExt cx="0" cy="0"/>
        </a:xfrm>
      </p:grpSpPr>
      <p:sp>
        <p:nvSpPr>
          <p:cNvPr id="2" name="Text 0"/>
          <p:cNvSpPr txBox="1"/>
          <p:nvPr/>
        </p:nvSpPr>
        <p:spPr>
          <a:xfrm>
            <a:off x="868680" y="603504"/>
            <a:ext cx="8229600" cy="329184"/>
          </a:xfrm>
          <a:prstGeom prst="rect">
            <a:avLst/>
          </a:prstGeom>
          <a:noFill/>
          <a:ln/>
        </p:spPr>
        <p:txBody>
          <a:bodyPr wrap="square" lIns="0" tIns="0" rIns="0" bIns="0" rtlCol="0" anchor="ctr"/>
          <a:lstStyle/>
          <a:p>
            <a:pPr marL="0" indent="0">
              <a:buNone/>
            </a:pPr>
            <a:r>
              <a:rPr lang="en-US" sz="1600" b="1" kern="0" spc="400" dirty="0">
                <a:solidFill>
                  <a:srgbClr val="D3B184"/>
                </a:solidFill>
                <a:latin typeface="Calibri" pitchFamily="34" charset="0"/>
                <a:ea typeface="Calibri" pitchFamily="34" charset="-122"/>
                <a:cs typeface="Calibri" pitchFamily="34" charset="-120"/>
              </a:rPr>
              <a:t>AMAZON OPERATIONS   ·   WEEKLY REVIEW</a:t>
            </a:r>
            <a:endParaRPr lang="en-US" sz="1600" dirty="0"/>
          </a:p>
        </p:txBody>
      </p:sp>
      <p:sp>
        <p:nvSpPr>
          <p:cNvPr id="3" name="Text 1"/>
          <p:cNvSpPr txBox="1"/>
          <p:nvPr/>
        </p:nvSpPr>
        <p:spPr>
          <a:xfrm>
            <a:off x="7863840" y="566928"/>
            <a:ext cx="3474720" cy="274320"/>
          </a:xfrm>
          <a:prstGeom prst="rect">
            <a:avLst/>
          </a:prstGeom>
          <a:noFill/>
          <a:ln/>
        </p:spPr>
        <p:txBody>
          <a:bodyPr wrap="square" lIns="0" tIns="0" rIns="0" bIns="0" rtlCol="0" anchor="ctr"/>
          <a:lstStyle/>
          <a:p>
            <a:pPr marL="0" indent="0" algn="r">
              <a:buNone/>
            </a:pPr>
            <a:r>
              <a:rPr lang="en-US" sz="1400" dirty="0">
                <a:solidFill>
                  <a:srgbClr val="FFFFFF"/>
                </a:solidFill>
                <a:latin typeface="Calibri" pitchFamily="34" charset="0"/>
                <a:ea typeface="Calibri" pitchFamily="34" charset="-122"/>
                <a:cs typeface="Calibri" pitchFamily="34" charset="-120"/>
              </a:rPr>
              <a:t>Presented by Zarlish</a:t>
            </a:r>
            <a:endParaRPr lang="en-US" sz="1400" dirty="0"/>
          </a:p>
        </p:txBody>
      </p:sp>
      <p:sp>
        <p:nvSpPr>
          <p:cNvPr id="4" name="Text 2"/>
          <p:cNvSpPr txBox="1"/>
          <p:nvPr/>
        </p:nvSpPr>
        <p:spPr>
          <a:xfrm>
            <a:off x="7863840" y="859536"/>
            <a:ext cx="3474720" cy="274320"/>
          </a:xfrm>
          <a:prstGeom prst="rect">
            <a:avLst/>
          </a:prstGeom>
          <a:noFill/>
          <a:ln/>
        </p:spPr>
        <p:txBody>
          <a:bodyPr wrap="square" lIns="0" tIns="0" rIns="0" bIns="0" rtlCol="0" anchor="ctr"/>
          <a:lstStyle/>
          <a:p>
            <a:pPr marL="0" indent="0" algn="r">
              <a:buNone/>
            </a:pPr>
            <a:r>
              <a:rPr lang="en-US" sz="1200" dirty="0">
                <a:solidFill>
                  <a:srgbClr val="C6D3DD"/>
                </a:solidFill>
                <a:latin typeface="Calibri" pitchFamily="34" charset="0"/>
                <a:ea typeface="Calibri" pitchFamily="34" charset="-122"/>
                <a:cs typeface="Calibri" pitchFamily="34" charset="-120"/>
              </a:rPr>
              <a:t>Cadence week 1 · Friday review</a:t>
            </a:r>
            <a:endParaRPr lang="en-US" sz="1200" dirty="0"/>
          </a:p>
        </p:txBody>
      </p:sp>
      <p:sp>
        <p:nvSpPr>
          <p:cNvPr id="5" name="Text 3"/>
          <p:cNvSpPr txBox="1"/>
          <p:nvPr/>
        </p:nvSpPr>
        <p:spPr>
          <a:xfrm>
            <a:off x="868680" y="969264"/>
            <a:ext cx="9601200" cy="1143000"/>
          </a:xfrm>
          <a:prstGeom prst="rect">
            <a:avLst/>
          </a:prstGeom>
          <a:noFill/>
          <a:ln/>
        </p:spPr>
        <p:txBody>
          <a:bodyPr wrap="square" lIns="0" tIns="0" rIns="0" bIns="0" rtlCol="0" anchor="ctr"/>
          <a:lstStyle/>
          <a:p>
            <a:pPr marL="0" indent="0">
              <a:buNone/>
            </a:pPr>
            <a:r>
              <a:rPr lang="en-US" sz="6400" b="1" dirty="0">
                <a:solidFill>
                  <a:srgbClr val="FFFFFF"/>
                </a:solidFill>
                <a:latin typeface="Cambria" pitchFamily="34" charset="0"/>
                <a:ea typeface="Cambria" pitchFamily="34" charset="-122"/>
                <a:cs typeface="Cambria" pitchFamily="34" charset="-120"/>
              </a:rPr>
              <a:t>PPC</a:t>
            </a:r>
            <a:endParaRPr lang="en-US" sz="6400" dirty="0"/>
          </a:p>
        </p:txBody>
      </p:sp>
      <p:sp>
        <p:nvSpPr>
          <p:cNvPr id="6" name="Text 4"/>
          <p:cNvSpPr txBox="1"/>
          <p:nvPr/>
        </p:nvSpPr>
        <p:spPr>
          <a:xfrm>
            <a:off x="868680" y="2157984"/>
            <a:ext cx="9601200" cy="457200"/>
          </a:xfrm>
          <a:prstGeom prst="rect">
            <a:avLst/>
          </a:prstGeom>
          <a:noFill/>
          <a:ln/>
        </p:spPr>
        <p:txBody>
          <a:bodyPr wrap="square" lIns="0" tIns="0" rIns="0" bIns="0" rtlCol="0" anchor="ctr"/>
          <a:lstStyle/>
          <a:p>
            <a:pPr marL="0" indent="0">
              <a:buNone/>
            </a:pPr>
            <a:r>
              <a:rPr lang="en-US" sz="2600" dirty="0">
                <a:solidFill>
                  <a:srgbClr val="D3B184"/>
                </a:solidFill>
                <a:latin typeface="Calibri" pitchFamily="34" charset="0"/>
                <a:ea typeface="Calibri" pitchFamily="34" charset="-122"/>
                <a:cs typeface="Calibri" pitchFamily="34" charset="-120"/>
              </a:rPr>
              <a:t>Week of September 28 to October 2</a:t>
            </a:r>
            <a:endParaRPr lang="en-US" sz="2600" dirty="0"/>
          </a:p>
        </p:txBody>
      </p:sp>
      <p:sp>
        <p:nvSpPr>
          <p:cNvPr id="7" name="Text 5"/>
          <p:cNvSpPr txBox="1"/>
          <p:nvPr/>
        </p:nvSpPr>
        <p:spPr>
          <a:xfrm>
            <a:off x="868680" y="2926080"/>
            <a:ext cx="9692640" cy="731520"/>
          </a:xfrm>
          <a:prstGeom prst="rect">
            <a:avLst/>
          </a:prstGeom>
          <a:noFill/>
          <a:ln/>
        </p:spPr>
        <p:txBody>
          <a:bodyPr wrap="square" lIns="0" tIns="0" rIns="0" bIns="0" rtlCol="0" anchor="t"/>
          <a:lstStyle/>
          <a:p>
            <a:pPr marL="0" indent="0">
              <a:buNone/>
            </a:pPr>
            <a:r>
              <a:rPr lang="en-US" sz="1600" dirty="0">
                <a:solidFill>
                  <a:srgbClr val="C6D3DD"/>
                </a:solidFill>
                <a:latin typeface="Calibri" pitchFamily="34" charset="0"/>
                <a:ea typeface="Calibri" pitchFamily="34" charset="-122"/>
                <a:cs typeface="Calibri" pitchFamily="34" charset="-120"/>
              </a:rPr>
              <a:t>CooLinens Cooling Pillowcase goes live on Amazon today with its PPC launch. Bamboo ranking plans for B4 and B6 are final. Prime Big Deal Days on 6–7 Oct is the first test of the week ahead.</a:t>
            </a:r>
            <a:endParaRPr lang="en-US" sz="1600" dirty="0"/>
          </a:p>
        </p:txBody>
      </p:sp>
      <p:sp>
        <p:nvSpPr>
          <p:cNvPr id="8" name="Shape 6"/>
          <p:cNvSpPr/>
          <p:nvPr/>
        </p:nvSpPr>
        <p:spPr>
          <a:xfrm>
            <a:off x="868680" y="4114800"/>
            <a:ext cx="10469880" cy="1207008"/>
          </a:xfrm>
          <a:prstGeom prst="rect">
            <a:avLst/>
          </a:prstGeom>
          <a:solidFill>
            <a:srgbClr val="1B3E57"/>
          </a:solidFill>
          <a:ln/>
        </p:spPr>
        <p:txBody>
          <a:bodyPr/>
          <a:p/>
        </p:txBody>
      </p:sp>
      <p:sp>
        <p:nvSpPr>
          <p:cNvPr id="9" name="Text 7"/>
          <p:cNvSpPr txBox="1"/>
          <p:nvPr/>
        </p:nvSpPr>
        <p:spPr>
          <a:xfrm>
            <a:off x="1143000" y="4261104"/>
            <a:ext cx="1783080" cy="548640"/>
          </a:xfrm>
          <a:prstGeom prst="rect">
            <a:avLst/>
          </a:prstGeom>
          <a:noFill/>
          <a:ln/>
        </p:spPr>
        <p:txBody>
          <a:bodyPr wrap="square" lIns="0" tIns="0" rIns="0" bIns="0" rtlCol="0" anchor="ctr"/>
          <a:lstStyle/>
          <a:p>
            <a:pPr marL="0" indent="0">
              <a:buNone/>
            </a:pPr>
            <a:r>
              <a:rPr lang="en-US" sz="3600" b="1" dirty="0">
                <a:solidFill>
                  <a:srgbClr val="7FC4E8"/>
                </a:solidFill>
                <a:latin typeface="Cambria" pitchFamily="34" charset="0"/>
                <a:ea typeface="Cambria" pitchFamily="34" charset="-122"/>
                <a:cs typeface="Cambria" pitchFamily="34" charset="-120"/>
              </a:rPr>
              <a:t>6</a:t>
            </a:r>
            <a:endParaRPr lang="en-US" sz="3600" dirty="0"/>
          </a:p>
        </p:txBody>
      </p:sp>
      <p:sp>
        <p:nvSpPr>
          <p:cNvPr id="10" name="Text 8"/>
          <p:cNvSpPr txBox="1"/>
          <p:nvPr/>
        </p:nvSpPr>
        <p:spPr>
          <a:xfrm>
            <a:off x="1143000" y="4846320"/>
            <a:ext cx="1783080" cy="292608"/>
          </a:xfrm>
          <a:prstGeom prst="rect">
            <a:avLst/>
          </a:prstGeom>
          <a:noFill/>
          <a:ln/>
        </p:spPr>
        <p:txBody>
          <a:bodyPr wrap="square" lIns="0" tIns="0" rIns="0" bIns="0" rtlCol="0" anchor="ctr"/>
          <a:lstStyle/>
          <a:p>
            <a:pPr marL="0" indent="0">
              <a:buNone/>
            </a:pPr>
            <a:r>
              <a:rPr lang="en-US" sz="1300" b="1" dirty="0">
                <a:solidFill>
                  <a:srgbClr val="C6D3DD"/>
                </a:solidFill>
                <a:latin typeface="Calibri" pitchFamily="34" charset="0"/>
                <a:ea typeface="Calibri" pitchFamily="34" charset="-122"/>
                <a:cs typeface="Calibri" pitchFamily="34" charset="-120"/>
              </a:rPr>
              <a:t>Workstreams</a:t>
            </a:r>
            <a:endParaRPr lang="en-US" sz="1300" dirty="0"/>
          </a:p>
        </p:txBody>
      </p:sp>
      <p:sp>
        <p:nvSpPr>
          <p:cNvPr id="11" name="Text 9"/>
          <p:cNvSpPr txBox="1"/>
          <p:nvPr/>
        </p:nvSpPr>
        <p:spPr>
          <a:xfrm>
            <a:off x="3758184" y="4261104"/>
            <a:ext cx="1783080" cy="548640"/>
          </a:xfrm>
          <a:prstGeom prst="rect">
            <a:avLst/>
          </a:prstGeom>
          <a:noFill/>
          <a:ln/>
        </p:spPr>
        <p:txBody>
          <a:bodyPr wrap="square" lIns="0" tIns="0" rIns="0" bIns="0" rtlCol="0" anchor="ctr"/>
          <a:lstStyle/>
          <a:p>
            <a:pPr marL="0" indent="0">
              <a:buNone/>
            </a:pPr>
            <a:r>
              <a:rPr lang="en-US" sz="3600" b="1" dirty="0">
                <a:solidFill>
                  <a:srgbClr val="6FD39F"/>
                </a:solidFill>
                <a:latin typeface="Cambria" pitchFamily="34" charset="0"/>
                <a:ea typeface="Cambria" pitchFamily="34" charset="-122"/>
                <a:cs typeface="Cambria" pitchFamily="34" charset="-120"/>
              </a:rPr>
              <a:t>4</a:t>
            </a:r>
            <a:endParaRPr lang="en-US" sz="3600" dirty="0"/>
          </a:p>
        </p:txBody>
      </p:sp>
      <p:sp>
        <p:nvSpPr>
          <p:cNvPr id="12" name="Text 10"/>
          <p:cNvSpPr txBox="1"/>
          <p:nvPr/>
        </p:nvSpPr>
        <p:spPr>
          <a:xfrm>
            <a:off x="3758184" y="4846320"/>
            <a:ext cx="1783080" cy="292608"/>
          </a:xfrm>
          <a:prstGeom prst="rect">
            <a:avLst/>
          </a:prstGeom>
          <a:noFill/>
          <a:ln/>
        </p:spPr>
        <p:txBody>
          <a:bodyPr wrap="square" lIns="0" tIns="0" rIns="0" bIns="0" rtlCol="0" anchor="ctr"/>
          <a:lstStyle/>
          <a:p>
            <a:pPr marL="0" indent="0">
              <a:buNone/>
            </a:pPr>
            <a:r>
              <a:rPr lang="en-US" sz="1300" b="1" dirty="0">
                <a:solidFill>
                  <a:srgbClr val="C6D3DD"/>
                </a:solidFill>
                <a:latin typeface="Calibri" pitchFamily="34" charset="0"/>
                <a:ea typeface="Calibri" pitchFamily="34" charset="-122"/>
                <a:cs typeface="Calibri" pitchFamily="34" charset="-120"/>
              </a:rPr>
              <a:t>Delivered</a:t>
            </a:r>
            <a:endParaRPr lang="en-US" sz="1300" dirty="0"/>
          </a:p>
        </p:txBody>
      </p:sp>
      <p:sp>
        <p:nvSpPr>
          <p:cNvPr id="13" name="Shape 11"/>
          <p:cNvSpPr/>
          <p:nvPr/>
        </p:nvSpPr>
        <p:spPr>
          <a:xfrm>
            <a:off x="3483864" y="4370832"/>
            <a:ext cx="9144" cy="694944"/>
          </a:xfrm>
          <a:prstGeom prst="rect">
            <a:avLst/>
          </a:prstGeom>
          <a:solidFill>
            <a:srgbClr val="2C5A78"/>
          </a:solidFill>
          <a:ln/>
        </p:spPr>
        <p:txBody>
          <a:bodyPr/>
          <a:p/>
        </p:txBody>
      </p:sp>
      <p:sp>
        <p:nvSpPr>
          <p:cNvPr id="14" name="Text 12"/>
          <p:cNvSpPr txBox="1"/>
          <p:nvPr/>
        </p:nvSpPr>
        <p:spPr>
          <a:xfrm>
            <a:off x="6373368" y="4261104"/>
            <a:ext cx="1783080" cy="548640"/>
          </a:xfrm>
          <a:prstGeom prst="rect">
            <a:avLst/>
          </a:prstGeom>
          <a:noFill/>
          <a:ln/>
        </p:spPr>
        <p:txBody>
          <a:bodyPr wrap="square" lIns="0" tIns="0" rIns="0" bIns="0" rtlCol="0" anchor="ctr"/>
          <a:lstStyle/>
          <a:p>
            <a:pPr marL="0" indent="0">
              <a:buNone/>
            </a:pPr>
            <a:r>
              <a:rPr lang="en-US" sz="3600" b="1" dirty="0">
                <a:solidFill>
                  <a:srgbClr val="F2C078"/>
                </a:solidFill>
                <a:latin typeface="Cambria" pitchFamily="34" charset="0"/>
                <a:ea typeface="Cambria" pitchFamily="34" charset="-122"/>
                <a:cs typeface="Cambria" pitchFamily="34" charset="-120"/>
              </a:rPr>
              <a:t>2</a:t>
            </a:r>
            <a:endParaRPr lang="en-US" sz="3600" dirty="0"/>
          </a:p>
        </p:txBody>
      </p:sp>
      <p:sp>
        <p:nvSpPr>
          <p:cNvPr id="15" name="Text 13"/>
          <p:cNvSpPr txBox="1"/>
          <p:nvPr/>
        </p:nvSpPr>
        <p:spPr>
          <a:xfrm>
            <a:off x="6373368" y="4846320"/>
            <a:ext cx="1783080" cy="292608"/>
          </a:xfrm>
          <a:prstGeom prst="rect">
            <a:avLst/>
          </a:prstGeom>
          <a:noFill/>
          <a:ln/>
        </p:spPr>
        <p:txBody>
          <a:bodyPr wrap="square" lIns="0" tIns="0" rIns="0" bIns="0" rtlCol="0" anchor="ctr"/>
          <a:lstStyle/>
          <a:p>
            <a:pPr marL="0" indent="0">
              <a:buNone/>
            </a:pPr>
            <a:r>
              <a:rPr lang="en-US" sz="1300" b="1" dirty="0">
                <a:solidFill>
                  <a:srgbClr val="C6D3DD"/>
                </a:solidFill>
                <a:latin typeface="Calibri" pitchFamily="34" charset="0"/>
                <a:ea typeface="Calibri" pitchFamily="34" charset="-122"/>
                <a:cs typeface="Calibri" pitchFamily="34" charset="-120"/>
              </a:rPr>
              <a:t>In progress</a:t>
            </a:r>
            <a:endParaRPr lang="en-US" sz="1300" dirty="0"/>
          </a:p>
        </p:txBody>
      </p:sp>
      <p:sp>
        <p:nvSpPr>
          <p:cNvPr id="16" name="Shape 14"/>
          <p:cNvSpPr/>
          <p:nvPr/>
        </p:nvSpPr>
        <p:spPr>
          <a:xfrm>
            <a:off x="6099048" y="4370832"/>
            <a:ext cx="9144" cy="694944"/>
          </a:xfrm>
          <a:prstGeom prst="rect">
            <a:avLst/>
          </a:prstGeom>
          <a:solidFill>
            <a:srgbClr val="2C5A78"/>
          </a:solidFill>
          <a:ln/>
        </p:spPr>
        <p:txBody>
          <a:bodyPr/>
          <a:p/>
        </p:txBody>
      </p:sp>
      <p:sp>
        <p:nvSpPr>
          <p:cNvPr id="17" name="Text 15"/>
          <p:cNvSpPr txBox="1"/>
          <p:nvPr/>
        </p:nvSpPr>
        <p:spPr>
          <a:xfrm>
            <a:off x="8988552" y="4261104"/>
            <a:ext cx="1783080" cy="548640"/>
          </a:xfrm>
          <a:prstGeom prst="rect">
            <a:avLst/>
          </a:prstGeom>
          <a:noFill/>
          <a:ln/>
        </p:spPr>
        <p:txBody>
          <a:bodyPr wrap="square" lIns="0" tIns="0" rIns="0" bIns="0" rtlCol="0" anchor="ctr"/>
          <a:lstStyle/>
          <a:p>
            <a:pPr marL="0" indent="0">
              <a:buNone/>
            </a:pPr>
            <a:r>
              <a:rPr lang="en-US" sz="3600" b="1" dirty="0">
                <a:solidFill>
                  <a:srgbClr val="F0907F"/>
                </a:solidFill>
                <a:latin typeface="Cambria" pitchFamily="34" charset="0"/>
                <a:ea typeface="Cambria" pitchFamily="34" charset="-122"/>
                <a:cs typeface="Cambria" pitchFamily="34" charset="-120"/>
              </a:rPr>
              <a:t>0</a:t>
            </a:r>
            <a:endParaRPr lang="en-US" sz="3600" dirty="0"/>
          </a:p>
        </p:txBody>
      </p:sp>
      <p:sp>
        <p:nvSpPr>
          <p:cNvPr id="18" name="Text 16"/>
          <p:cNvSpPr txBox="1"/>
          <p:nvPr/>
        </p:nvSpPr>
        <p:spPr>
          <a:xfrm>
            <a:off x="8988552" y="4846320"/>
            <a:ext cx="1783080" cy="292608"/>
          </a:xfrm>
          <a:prstGeom prst="rect">
            <a:avLst/>
          </a:prstGeom>
          <a:noFill/>
          <a:ln/>
        </p:spPr>
        <p:txBody>
          <a:bodyPr wrap="square" lIns="0" tIns="0" rIns="0" bIns="0" rtlCol="0" anchor="ctr"/>
          <a:lstStyle/>
          <a:p>
            <a:pPr marL="0" indent="0">
              <a:buNone/>
            </a:pPr>
            <a:r>
              <a:rPr lang="en-US" sz="1300" b="1" dirty="0">
                <a:solidFill>
                  <a:srgbClr val="C6D3DD"/>
                </a:solidFill>
                <a:latin typeface="Calibri" pitchFamily="34" charset="0"/>
                <a:ea typeface="Calibri" pitchFamily="34" charset="-122"/>
                <a:cs typeface="Calibri" pitchFamily="34" charset="-120"/>
              </a:rPr>
              <a:t>At risk</a:t>
            </a:r>
            <a:endParaRPr lang="en-US" sz="1300" dirty="0"/>
          </a:p>
        </p:txBody>
      </p:sp>
      <p:sp>
        <p:nvSpPr>
          <p:cNvPr id="19" name="Shape 17"/>
          <p:cNvSpPr/>
          <p:nvPr/>
        </p:nvSpPr>
        <p:spPr>
          <a:xfrm>
            <a:off x="8714232" y="4370832"/>
            <a:ext cx="9144" cy="694944"/>
          </a:xfrm>
          <a:prstGeom prst="rect">
            <a:avLst/>
          </a:prstGeom>
          <a:solidFill>
            <a:srgbClr val="2C5A78"/>
          </a:solidFill>
          <a:ln/>
        </p:spPr>
        <p:txBody>
          <a:bodyPr/>
          <a:p/>
        </p:txBody>
      </p:sp>
      <p:sp>
        <p:nvSpPr>
          <p:cNvPr id="20" name="Shape 18"/>
          <p:cNvSpPr/>
          <p:nvPr/>
        </p:nvSpPr>
        <p:spPr>
          <a:xfrm>
            <a:off x="868680" y="5577840"/>
            <a:ext cx="10469880" cy="859536"/>
          </a:xfrm>
          <a:prstGeom prst="roundRect">
            <a:avLst>
              <a:gd name="adj" fmla="val 5319"/>
            </a:avLst>
          </a:prstGeom>
          <a:solidFill>
            <a:srgbClr val="FFFFFF"/>
          </a:solidFill>
          <a:ln/>
        </p:spPr>
        <p:txBody>
          <a:bodyPr/>
          <a:p/>
        </p:txBody>
      </p:sp>
      <p:pic>
        <p:nvPicPr>
          <p:cNvPr id="21" name="Image 0" descr="preencoded.png"/>
          <p:cNvPicPr>
            <a:picLocks noChangeAspect="1"/>
          </p:cNvPicPr>
          <p:nvPr/>
        </p:nvPicPr>
        <p:blipFill>
          <a:blip r:embed="rId3"/>
          <a:stretch>
            <a:fillRect/>
          </a:stretch>
        </p:blipFill>
        <p:spPr>
          <a:xfrm>
            <a:off x="1133856" y="5824728"/>
            <a:ext cx="1572768" cy="374904"/>
          </a:xfrm>
          <a:prstGeom prst="rect">
            <a:avLst/>
          </a:prstGeom>
        </p:spPr>
      </p:pic>
      <p:pic>
        <p:nvPicPr>
          <p:cNvPr id="22" name="Image 1" descr="preencoded.png"/>
          <p:cNvPicPr>
            <a:picLocks noChangeAspect="1"/>
          </p:cNvPicPr>
          <p:nvPr/>
        </p:nvPicPr>
        <p:blipFill>
          <a:blip r:embed="rId4"/>
          <a:stretch>
            <a:fillRect/>
          </a:stretch>
        </p:blipFill>
        <p:spPr>
          <a:xfrm>
            <a:off x="3145536" y="5824728"/>
            <a:ext cx="1719072" cy="374904"/>
          </a:xfrm>
          <a:prstGeom prst="rect">
            <a:avLst/>
          </a:prstGeom>
        </p:spPr>
      </p:pic>
      <p:pic>
        <p:nvPicPr>
          <p:cNvPr id="23" name="Image 2" descr="preencoded.png"/>
          <p:cNvPicPr>
            <a:picLocks noChangeAspect="1"/>
          </p:cNvPicPr>
          <p:nvPr/>
        </p:nvPicPr>
        <p:blipFill>
          <a:blip r:embed="rId5"/>
          <a:stretch>
            <a:fillRect/>
          </a:stretch>
        </p:blipFill>
        <p:spPr>
          <a:xfrm>
            <a:off x="5294376" y="5879592"/>
            <a:ext cx="1609344" cy="256032"/>
          </a:xfrm>
          <a:prstGeom prst="rect">
            <a:avLst/>
          </a:prstGeom>
        </p:spPr>
      </p:pic>
      <p:pic>
        <p:nvPicPr>
          <p:cNvPr id="24" name="Image 3" descr="preencoded.png"/>
          <p:cNvPicPr>
            <a:picLocks noChangeAspect="1"/>
          </p:cNvPicPr>
          <p:nvPr/>
        </p:nvPicPr>
        <p:blipFill>
          <a:blip r:embed="rId6"/>
          <a:stretch>
            <a:fillRect/>
          </a:stretch>
        </p:blipFill>
        <p:spPr>
          <a:xfrm>
            <a:off x="7827264" y="5696712"/>
            <a:ext cx="731520" cy="612648"/>
          </a:xfrm>
          <a:prstGeom prst="rect">
            <a:avLst/>
          </a:prstGeom>
        </p:spPr>
      </p:pic>
      <p:pic>
        <p:nvPicPr>
          <p:cNvPr id="25" name="Image 4" descr="preencoded.png"/>
          <p:cNvPicPr>
            <a:picLocks noChangeAspect="1"/>
          </p:cNvPicPr>
          <p:nvPr/>
        </p:nvPicPr>
        <p:blipFill>
          <a:blip r:embed="rId7"/>
          <a:stretch>
            <a:fillRect/>
          </a:stretch>
        </p:blipFill>
        <p:spPr>
          <a:xfrm>
            <a:off x="10003536" y="5696712"/>
            <a:ext cx="576072" cy="62179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marL="0" indent="0">
              <a:buNone/>
            </a:pPr>
            <a:r>
              <a:rPr lang="en-US" sz="1100" b="1" kern="0" spc="300" dirty="0">
                <a:solidFill>
                  <a:srgbClr val="3D4852"/>
                </a:solidFill>
                <a:latin typeface="Calibri" pitchFamily="34" charset="0"/>
                <a:ea typeface="Calibri" pitchFamily="34" charset="-122"/>
                <a:cs typeface="Calibri" pitchFamily="34" charset="-120"/>
              </a:rPr>
              <a:t>PPC   ·   ALL BRANDS   ·   WEEK OF SEPTEMBER 28 TO OCTOBER 2</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marL="0" indent="0">
              <a:buNone/>
            </a:pPr>
            <a:r>
              <a:rPr lang="en-US" sz="3000" b="1" dirty="0">
                <a:solidFill>
                  <a:srgbClr val="111C24"/>
                </a:solidFill>
                <a:latin typeface="Cambria" pitchFamily="34" charset="0"/>
                <a:ea typeface="Cambria" pitchFamily="34" charset="-122"/>
                <a:cs typeface="Cambria" pitchFamily="34" charset="-120"/>
              </a:rPr>
              <a:t>Progress versus plan</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marL="0" indent="0" algn="r">
              <a:buNone/>
            </a:pPr>
            <a:r>
              <a:rPr lang="en-US" sz="5400" b="1" dirty="0">
                <a:solidFill>
                  <a:srgbClr val="DCE4EA"/>
                </a:solidFill>
                <a:latin typeface="Cambria" pitchFamily="34" charset="0"/>
                <a:ea typeface="Cambria" pitchFamily="34" charset="-122"/>
                <a:cs typeface="Cambria" pitchFamily="34" charset="-120"/>
              </a:rPr>
              <a:t>01</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marL="0" indent="0" algn="r">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3381077537"/>
              </p:ext>
            </p:extLst>
          </p:nvPr>
        </p:nvGraphicFramePr>
        <p:xfrm>
          <a:off x="640080" y="1417320"/>
          <a:ext cx="11036808" cy="4434840"/>
        </p:xfrm>
        <a:graphic>
          <a:graphicData uri="http://schemas.openxmlformats.org/drawingml/2006/table">
            <a:tbl>
              <a:tblPr/>
              <a:tblGrid>
                <a:gridCol w="274320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995928">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0">
                <a:tc>
                  <a:txBody>
                    <a:bodyPr/>
                    <a:lstStyle/>
                    <a:p>
                      <a:pPr marL="0" indent="0">
                        <a:buNone/>
                      </a:pPr>
                      <a:r>
                        <a:rPr lang="en-US" sz="950" b="1" kern="0" spc="150" dirty="0">
                          <a:solidFill>
                            <a:srgbClr val="3D4852"/>
                          </a:solidFill>
                          <a:latin typeface="Calibri" pitchFamily="34" charset="0"/>
                          <a:ea typeface="Calibri" pitchFamily="34" charset="-122"/>
                          <a:cs typeface="Calibri" pitchFamily="34" charset="-120"/>
                        </a:rPr>
                        <a:t>WORKSTREAM</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marL="0" indent="0">
                        <a:buNone/>
                      </a:pPr>
                      <a:r>
                        <a:rPr lang="en-US" sz="950" b="1" kern="0" spc="150" dirty="0">
                          <a:solidFill>
                            <a:srgbClr val="3D4852"/>
                          </a:solidFill>
                          <a:latin typeface="Calibri" pitchFamily="34" charset="0"/>
                          <a:ea typeface="Calibri" pitchFamily="34" charset="-122"/>
                          <a:cs typeface="Calibri" pitchFamily="34" charset="-120"/>
                        </a:rPr>
                        <a:t>WHAT WAS PLANNED</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marL="0" indent="0">
                        <a:buNone/>
                      </a:pPr>
                      <a:r>
                        <a:rPr lang="en-US" sz="950" b="1" kern="0" spc="150" dirty="0">
                          <a:solidFill>
                            <a:srgbClr val="3D4852"/>
                          </a:solidFill>
                          <a:latin typeface="Calibri" pitchFamily="34" charset="0"/>
                          <a:ea typeface="Calibri" pitchFamily="34" charset="-122"/>
                          <a:cs typeface="Calibri" pitchFamily="34" charset="-120"/>
                        </a:rPr>
                        <a:t>WHAT ACTUALLY HAPPENED</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marL="0" indent="0">
                        <a:buNone/>
                      </a:pPr>
                      <a:r>
                        <a:rPr lang="en-US" sz="950" b="1" kern="0" spc="150" dirty="0">
                          <a:solidFill>
                            <a:srgbClr val="3D4852"/>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marL="0" indent="0">
                        <a:buNone/>
                      </a:pPr>
                      <a:r>
                        <a:rPr lang="en-US" sz="1150" b="1" dirty="0">
                          <a:solidFill>
                            <a:srgbClr val="111C24"/>
                          </a:solidFill>
                          <a:latin typeface="Calibri" pitchFamily="34" charset="0"/>
                          <a:ea typeface="Calibri" pitchFamily="34" charset="-122"/>
                          <a:cs typeface="Calibri" pitchFamily="34" charset="-120"/>
                        </a:rPr>
                        <a:t>Nine-product audit cycle</a:t>
                      </a:r>
                      <a:endParaRPr lang="en-US" sz="1150" dirty="0">
                        <a:latin typeface="Calibri" charset="0"/>
                        <a:ea typeface="Calibri" charset="0"/>
                        <a:cs typeface="Calibri" charset="0"/>
                      </a:endParaRPr>
                    </a:p>
                    <a:p>
                      <a:pPr marL="0" indent="0">
                        <a:buNone/>
                      </a:pPr>
                      <a:r>
                        <a:rPr lang="en-US" sz="1050" dirty="0">
                          <a:solidFill>
                            <a:srgbClr val="4E5A64"/>
                          </a:solidFill>
                          <a:latin typeface="Calibri" pitchFamily="34" charset="0"/>
                          <a:ea typeface="Calibri" pitchFamily="34" charset="-122"/>
                          <a:cs typeface="Calibri" pitchFamily="34" charset="-120"/>
                        </a:rPr>
                        <a:t>All three · weekly cycle · 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15875" cap="flat" cmpd="sng" algn="ctr">
                      <a:solidFill>
                        <a:srgbClr val="111C24"/>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50" dirty="0">
                          <a:solidFill>
                            <a:srgbClr val="111C24"/>
                          </a:solidFill>
                          <a:latin typeface="Calibri" pitchFamily="34" charset="0"/>
                          <a:ea typeface="Calibri" pitchFamily="34" charset="-122"/>
                          <a:cs typeface="Calibri" pitchFamily="34" charset="-120"/>
                        </a:rPr>
                        <a:t>All nine audited, reviewed by all three and executed through the app. Bamboo Monday, the rest Tuesday</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15875" cap="flat" cmpd="sng" algn="ctr">
                      <a:solidFill>
                        <a:srgbClr val="111C24"/>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50" dirty="0">
                          <a:solidFill>
                            <a:srgbClr val="111C24"/>
                          </a:solidFill>
                          <a:latin typeface="Calibri" pitchFamily="34" charset="0"/>
                          <a:ea typeface="Calibri" pitchFamily="34" charset="-122"/>
                          <a:cs typeface="Calibri" pitchFamily="34" charset="-120"/>
                        </a:rPr>
                        <a:t>Feedback posted on six: B4, B6, S4, S6, Satin Fitted, SS-S4. The remaining three, Cooling Sheets 4-PC, Bamboo Fitted and Cooling Fitted, are being completed today</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15875" cap="flat" cmpd="sng" algn="ctr">
                      <a:solidFill>
                        <a:srgbClr val="111C24"/>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50" b="1" dirty="0">
                          <a:solidFill>
                            <a:srgbClr val="6E4A0F"/>
                          </a:solidFill>
                          <a:latin typeface="Calibri" pitchFamily="34" charset="0"/>
                          <a:ea typeface="Calibri" pitchFamily="34" charset="-122"/>
                          <a:cs typeface="Calibri" pitchFamily="34" charset="-120"/>
                        </a:rPr>
                        <a:t>6 of 9 · 3 today</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15875" cap="flat" cmpd="sng" algn="ctr">
                      <a:solidFill>
                        <a:srgbClr val="111C24"/>
                      </a:solidFill>
                      <a:prstDash val="solid"/>
                      <a:round/>
                      <a:headEnd type="none" w="med" len="med"/>
                      <a:tailEnd type="none" w="med" len="med"/>
                    </a:lnT>
                    <a:lnB w="9525" cap="flat" cmpd="sng" algn="ctr">
                      <a:solidFill>
                        <a:srgbClr val="BFCAD3"/>
                      </a:solidFill>
                      <a:prstDash val="solid"/>
                      <a:round/>
                      <a:headEnd type="none" w="med" len="med"/>
                      <a:tailEnd type="none" w="med" len="med"/>
                    </a:lnB>
                    <a:solidFill>
                      <a:srgbClr val="FBF0DC"/>
                    </a:solidFill>
                  </a:tcPr>
                </a:tc>
                <a:extLst>
                  <a:ext uri="{0D108BD9-81ED-4DB2-BD59-A6C34878D82A}">
                    <a16:rowId xmlns:a16="http://schemas.microsoft.com/office/drawing/2014/main" val="10001"/>
                  </a:ext>
                </a:extLst>
              </a:tr>
              <a:tr h="0">
                <a:tc>
                  <a:txBody>
                    <a:bodyPr/>
                    <a:lstStyle/>
                    <a:p>
                      <a:pPr marL="0" indent="0">
                        <a:buNone/>
                      </a:pPr>
                      <a:r>
                        <a:rPr lang="en-US" sz="1150" b="1" dirty="0">
                          <a:solidFill>
                            <a:srgbClr val="111C24"/>
                          </a:solidFill>
                          <a:latin typeface="Calibri" pitchFamily="34" charset="0"/>
                          <a:ea typeface="Calibri" pitchFamily="34" charset="-122"/>
                          <a:cs typeface="Calibri" pitchFamily="34" charset="-120"/>
                        </a:rPr>
                        <a:t>Engine corrections &amp; feedback</a:t>
                      </a:r>
                      <a:endParaRPr lang="en-US" sz="1150" dirty="0">
                        <a:latin typeface="Calibri" charset="0"/>
                        <a:ea typeface="Calibri" charset="0"/>
                        <a:cs typeface="Calibri" charset="0"/>
                      </a:endParaRPr>
                    </a:p>
                    <a:p>
                      <a:pPr marL="0" indent="0">
                        <a:buNone/>
                      </a:pPr>
                      <a:r>
                        <a:rPr lang="en-US" sz="1050" dirty="0">
                          <a:solidFill>
                            <a:srgbClr val="4E5A64"/>
                          </a:solidFill>
                          <a:latin typeface="Calibri" pitchFamily="34" charset="0"/>
                          <a:ea typeface="Calibri" pitchFamily="34" charset="-122"/>
                          <a:cs typeface="Calibri" pitchFamily="34" charset="-120"/>
                        </a:rPr>
                        <a:t>Joseph with PPC review · 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50" dirty="0">
                          <a:solidFill>
                            <a:srgbClr val="111C24"/>
                          </a:solidFill>
                          <a:latin typeface="Calibri" pitchFamily="34" charset="0"/>
                          <a:ea typeface="Calibri" pitchFamily="34" charset="-122"/>
                          <a:cs typeface="Calibri" pitchFamily="34" charset="-120"/>
                        </a:rPr>
                        <a:t>One consolidated note per product to Joseph, engine fixed and the audits re-run on the corrections</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50" dirty="0">
                          <a:solidFill>
                            <a:srgbClr val="111C24"/>
                          </a:solidFill>
                          <a:latin typeface="Calibri" pitchFamily="34" charset="0"/>
                          <a:ea typeface="Calibri" pitchFamily="34" charset="-122"/>
                          <a:cs typeface="Calibri" pitchFamily="34" charset="-120"/>
                        </a:rPr>
                        <a:t>B4 and B6 corrections applied and re-audited 29 Sep, the first clean 218/218 pass. Engine feedback doc and issue register delivered by Zarlish today; Shayan T is reviewing them and Zarlish shares them with Joseph next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50" b="1" dirty="0">
                          <a:solidFill>
                            <a:srgbClr val="176B41"/>
                          </a:solidFill>
                          <a:latin typeface="Calibri" pitchFamily="34" charset="0"/>
                          <a:ea typeface="Calibri" pitchFamily="34" charset="-122"/>
                          <a:cs typeface="Calibri" pitchFamily="34" charset="-120"/>
                        </a:rPr>
                        <a:t>Delivered · in review</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solidFill>
                      <a:srgbClr val="E6F4EC"/>
                    </a:solidFill>
                  </a:tcPr>
                </a:tc>
                <a:extLst>
                  <a:ext uri="{0D108BD9-81ED-4DB2-BD59-A6C34878D82A}">
                    <a16:rowId xmlns:a16="http://schemas.microsoft.com/office/drawing/2014/main" val="10002"/>
                  </a:ext>
                </a:extLst>
              </a:tr>
              <a:tr h="0">
                <a:tc>
                  <a:txBody>
                    <a:bodyPr/>
                    <a:lstStyle/>
                    <a:p>
                      <a:pPr marL="0" indent="0">
                        <a:buNone/>
                      </a:pPr>
                      <a:r>
                        <a:rPr lang="en-US" sz="1150" b="1" dirty="0">
                          <a:solidFill>
                            <a:srgbClr val="111C24"/>
                          </a:solidFill>
                          <a:latin typeface="Calibri" pitchFamily="34" charset="0"/>
                          <a:ea typeface="Calibri" pitchFamily="34" charset="-122"/>
                          <a:cs typeface="Calibri" pitchFamily="34" charset="-120"/>
                        </a:rPr>
                        <a:t>Bamboo ranking push (B4, B6)</a:t>
                      </a:r>
                      <a:endParaRPr lang="en-US" sz="1150" dirty="0">
                        <a:latin typeface="Calibri" charset="0"/>
                        <a:ea typeface="Calibri" charset="0"/>
                        <a:cs typeface="Calibri" charset="0"/>
                      </a:endParaRPr>
                    </a:p>
                    <a:p>
                      <a:pPr marL="0" indent="0">
                        <a:buNone/>
                      </a:pPr>
                      <a:r>
                        <a:rPr lang="en-US" sz="1050" dirty="0">
                          <a:solidFill>
                            <a:srgbClr val="4E5A64"/>
                          </a:solidFill>
                          <a:latin typeface="Calibri" pitchFamily="34" charset="0"/>
                          <a:ea typeface="Calibri" pitchFamily="34" charset="-122"/>
                          <a:cs typeface="Calibri" pitchFamily="34" charset="-120"/>
                        </a:rPr>
                        <a:t>Shayan T with Joseph · 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50" dirty="0">
                          <a:solidFill>
                            <a:srgbClr val="111C24"/>
                          </a:solidFill>
                          <a:latin typeface="Calibri" pitchFamily="34" charset="0"/>
                          <a:ea typeface="Calibri" pitchFamily="34" charset="-122"/>
                          <a:cs typeface="Calibri" pitchFamily="34" charset="-120"/>
                        </a:rPr>
                        <a:t>One ranking plan per listing, matched to Joseph's keyword story and plan of attack, before the pushes start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50" dirty="0">
                          <a:solidFill>
                            <a:srgbClr val="111C24"/>
                          </a:solidFill>
                          <a:latin typeface="Calibri" pitchFamily="34" charset="0"/>
                          <a:ea typeface="Calibri" pitchFamily="34" charset="-122"/>
                          <a:cs typeface="Calibri" pitchFamily="34" charset="-120"/>
                        </a:rPr>
                        <a:t>Plan of attack shared 1 Oct. B4 and B6 plans finalised 2 Oct: B4 follows its start dates and colours by size; B6 replaces the 30 Sep plan. Erik's 2 Oct points built in</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50" b="1" dirty="0">
                          <a:solidFill>
                            <a:srgbClr val="176B41"/>
                          </a:solidFill>
                          <a:latin typeface="Calibri" pitchFamily="34" charset="0"/>
                          <a:ea typeface="Calibri" pitchFamily="34" charset="-122"/>
                          <a:cs typeface="Calibri" pitchFamily="34" charset="-120"/>
                        </a:rPr>
                        <a:t>Plans final</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solidFill>
                      <a:srgbClr val="E6F4EC"/>
                    </a:solidFill>
                  </a:tcPr>
                </a:tc>
                <a:extLst>
                  <a:ext uri="{0D108BD9-81ED-4DB2-BD59-A6C34878D82A}">
                    <a16:rowId xmlns:a16="http://schemas.microsoft.com/office/drawing/2014/main" val="10003"/>
                  </a:ext>
                </a:extLst>
              </a:tr>
              <a:tr h="0">
                <a:tc>
                  <a:txBody>
                    <a:bodyPr/>
                    <a:lstStyle/>
                    <a:p>
                      <a:pPr marL="0" indent="0">
                        <a:buNone/>
                      </a:pPr>
                      <a:r>
                        <a:rPr lang="en-US" sz="1150" b="1" dirty="0">
                          <a:solidFill>
                            <a:srgbClr val="111C24"/>
                          </a:solidFill>
                          <a:latin typeface="Calibri" pitchFamily="34" charset="0"/>
                          <a:ea typeface="Calibri" pitchFamily="34" charset="-122"/>
                          <a:cs typeface="Calibri" pitchFamily="34" charset="-120"/>
                        </a:rPr>
                        <a:t>Process deliverables</a:t>
                      </a:r>
                      <a:endParaRPr lang="en-US" sz="1150" dirty="0">
                        <a:latin typeface="Calibri" charset="0"/>
                        <a:ea typeface="Calibri" charset="0"/>
                        <a:cs typeface="Calibri" charset="0"/>
                      </a:endParaRPr>
                    </a:p>
                    <a:p>
                      <a:pPr marL="0" indent="0">
                        <a:buNone/>
                      </a:pPr>
                      <a:r>
                        <a:rPr lang="en-US" sz="1050" dirty="0">
                          <a:solidFill>
                            <a:srgbClr val="4E5A64"/>
                          </a:solidFill>
                          <a:latin typeface="Calibri" pitchFamily="34" charset="0"/>
                          <a:ea typeface="Calibri" pitchFamily="34" charset="-122"/>
                          <a:cs typeface="Calibri" pitchFamily="34" charset="-120"/>
                        </a:rPr>
                        <a:t>Shayan T · one-off · 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50" dirty="0">
                          <a:solidFill>
                            <a:srgbClr val="111C24"/>
                          </a:solidFill>
                          <a:latin typeface="Calibri" pitchFamily="34" charset="0"/>
                          <a:ea typeface="Calibri" pitchFamily="34" charset="-122"/>
                          <a:cs typeface="Calibri" pitchFamily="34" charset="-120"/>
                        </a:rPr>
                        <a:t>Campaign-type list, ad-type framework, stabilisation proposal by end of week. Re-set on the 30 Sep call: ranking plan first, the rest by end of week</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50" dirty="0">
                          <a:solidFill>
                            <a:srgbClr val="111C24"/>
                          </a:solidFill>
                          <a:latin typeface="Calibri" pitchFamily="34" charset="0"/>
                          <a:ea typeface="Calibri" pitchFamily="34" charset="-122"/>
                          <a:cs typeface="Calibri" pitchFamily="34" charset="-120"/>
                        </a:rPr>
                        <a:t>Ranking plan sent 1 Oct as agreed. Campaign-type list, ad-type plan (Bamboo first), frameworks and stabilisation proposal due end of week, 3–4 Oct. SB, SBV and SD held for creative, so the 1 Oct API launch did not happen</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50" b="1" dirty="0">
                          <a:solidFill>
                            <a:srgbClr val="6E4A0F"/>
                          </a:solidFill>
                          <a:latin typeface="Calibri" pitchFamily="34" charset="0"/>
                          <a:ea typeface="Calibri" pitchFamily="34" charset="-122"/>
                          <a:cs typeface="Calibri" pitchFamily="34" charset="-120"/>
                        </a:rPr>
                        <a:t>Due end of week</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solidFill>
                      <a:srgbClr val="FBF0DC"/>
                    </a:solidFill>
                  </a:tcPr>
                </a:tc>
                <a:extLst>
                  <a:ext uri="{0D108BD9-81ED-4DB2-BD59-A6C34878D82A}">
                    <a16:rowId xmlns:a16="http://schemas.microsoft.com/office/drawing/2014/main" val="10004"/>
                  </a:ext>
                </a:extLst>
              </a:tr>
              <a:tr h="0">
                <a:tc>
                  <a:txBody>
                    <a:bodyPr/>
                    <a:lstStyle/>
                    <a:p>
                      <a:pPr marL="0" indent="0">
                        <a:buNone/>
                      </a:pPr>
                      <a:r>
                        <a:rPr lang="en-US" sz="1150" b="1" dirty="0">
                          <a:solidFill>
                            <a:srgbClr val="111C24"/>
                          </a:solidFill>
                          <a:latin typeface="Calibri" pitchFamily="34" charset="0"/>
                          <a:ea typeface="Calibri" pitchFamily="34" charset="-122"/>
                          <a:cs typeface="Calibri" pitchFamily="34" charset="-120"/>
                        </a:rPr>
                        <a:t>LTSF products</a:t>
                      </a:r>
                      <a:endParaRPr lang="en-US" sz="1150" dirty="0">
                        <a:latin typeface="Calibri" charset="0"/>
                        <a:ea typeface="Calibri" charset="0"/>
                        <a:cs typeface="Calibri" charset="0"/>
                      </a:endParaRPr>
                    </a:p>
                    <a:p>
                      <a:pPr marL="0" indent="0">
                        <a:buNone/>
                      </a:pPr>
                      <a:r>
                        <a:rPr lang="en-US" sz="1050" dirty="0">
                          <a:solidFill>
                            <a:srgbClr val="4E5A64"/>
                          </a:solidFill>
                          <a:latin typeface="Calibri" pitchFamily="34" charset="0"/>
                          <a:ea typeface="Calibri" pitchFamily="34" charset="-122"/>
                          <a:cs typeface="Calibri" pitchFamily="34" charset="-120"/>
                        </a:rPr>
                        <a:t>Zarlish · ongoing · P1</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50" dirty="0">
                          <a:solidFill>
                            <a:srgbClr val="111C24"/>
                          </a:solidFill>
                          <a:latin typeface="Calibri" pitchFamily="34" charset="0"/>
                          <a:ea typeface="Calibri" pitchFamily="34" charset="-122"/>
                          <a:cs typeface="Calibri" pitchFamily="34" charset="-120"/>
                        </a:rPr>
                        <a:t>Per-SKU PPC actions on the products carrying long-term storage fees, alongside the audit cycle</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50" dirty="0">
                          <a:solidFill>
                            <a:srgbClr val="111C24"/>
                          </a:solidFill>
                          <a:latin typeface="Calibri" pitchFamily="34" charset="0"/>
                          <a:ea typeface="Calibri" pitchFamily="34" charset="-122"/>
                          <a:cs typeface="Calibri" pitchFamily="34" charset="-120"/>
                        </a:rPr>
                        <a:t>LTSF update sent to Erik on 30 Sep, alongside the S6 review and the engine feedback</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50" b="1" dirty="0">
                          <a:solidFill>
                            <a:srgbClr val="176B41"/>
                          </a:solidFill>
                          <a:latin typeface="Calibri" pitchFamily="34" charset="0"/>
                          <a:ea typeface="Calibri" pitchFamily="34" charset="-122"/>
                          <a:cs typeface="Calibri" pitchFamily="34" charset="-120"/>
                        </a:rPr>
                        <a:t>Update sent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solidFill>
                      <a:srgbClr val="E6F4EC"/>
                    </a:solidFill>
                  </a:tcPr>
                </a:tc>
                <a:extLst>
                  <a:ext uri="{0D108BD9-81ED-4DB2-BD59-A6C34878D82A}">
                    <a16:rowId xmlns:a16="http://schemas.microsoft.com/office/drawing/2014/main" val="10005"/>
                  </a:ext>
                </a:extLst>
              </a:tr>
              <a:tr h="0">
                <a:tc>
                  <a:txBody>
                    <a:bodyPr/>
                    <a:lstStyle/>
                    <a:p>
                      <a:pPr marL="0" indent="0">
                        <a:buNone/>
                      </a:pPr>
                      <a:r>
                        <a:rPr lang="en-US" sz="1150" b="1" dirty="0">
                          <a:solidFill>
                            <a:srgbClr val="111C24"/>
                          </a:solidFill>
                          <a:latin typeface="Calibri" pitchFamily="34" charset="0"/>
                          <a:ea typeface="Calibri" pitchFamily="34" charset="-122"/>
                          <a:cs typeface="Calibri" pitchFamily="34" charset="-120"/>
                        </a:rPr>
                        <a:t>CooLinens Pillowcase launch</a:t>
                      </a:r>
                      <a:endParaRPr lang="en-US" sz="1150" dirty="0">
                        <a:latin typeface="Calibri" charset="0"/>
                        <a:ea typeface="Calibri" charset="0"/>
                        <a:cs typeface="Calibri" charset="0"/>
                      </a:endParaRPr>
                    </a:p>
                    <a:p>
                      <a:pPr marL="0" indent="0">
                        <a:buNone/>
                      </a:pPr>
                      <a:r>
                        <a:rPr lang="en-US" sz="1050" dirty="0">
                          <a:solidFill>
                            <a:srgbClr val="4E5A64"/>
                          </a:solidFill>
                          <a:latin typeface="Calibri" pitchFamily="34" charset="0"/>
                          <a:ea typeface="Calibri" pitchFamily="34" charset="-122"/>
                          <a:cs typeface="Calibri" pitchFamily="34" charset="-120"/>
                        </a:rPr>
                        <a:t>Shayan T with Zarlish · one-off · 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50" dirty="0">
                          <a:solidFill>
                            <a:srgbClr val="111C24"/>
                          </a:solidFill>
                          <a:latin typeface="Calibri" pitchFamily="34" charset="0"/>
                          <a:ea typeface="Calibri" pitchFamily="34" charset="-122"/>
                          <a:cs typeface="Calibri" pitchFamily="34" charset="-120"/>
                        </a:rPr>
                        <a:t>PPC launch strategy delivered Monday 28 Sep, campaigns live with the listing</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50" dirty="0">
                          <a:solidFill>
                            <a:srgbClr val="111C24"/>
                          </a:solidFill>
                          <a:latin typeface="Calibri" pitchFamily="34" charset="0"/>
                          <a:ea typeface="Calibri" pitchFamily="34" charset="-122"/>
                          <a:cs typeface="Calibri" pitchFamily="34" charset="-120"/>
                        </a:rPr>
                        <a:t>Launch workbook shared 28 Sep, revised with a strategy doc on Erik's feedback 29 Sep. Listing goes live on Amazon today, 2 Oct; Shayan T and Zarlish launch the campaigns with it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50" b="1" dirty="0">
                          <a:solidFill>
                            <a:srgbClr val="176B41"/>
                          </a:solidFill>
                          <a:latin typeface="Calibri" pitchFamily="34" charset="0"/>
                          <a:ea typeface="Calibri" pitchFamily="34" charset="-122"/>
                          <a:cs typeface="Calibri" pitchFamily="34" charset="-120"/>
                        </a:rPr>
                        <a:t>Launching today</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solidFill>
                      <a:srgbClr val="E6F4EC"/>
                    </a:solidFill>
                  </a:tcPr>
                </a:tc>
                <a:extLst>
                  <a:ext uri="{0D108BD9-81ED-4DB2-BD59-A6C34878D82A}">
                    <a16:rowId xmlns:a16="http://schemas.microsoft.com/office/drawing/2014/main" val="10006"/>
                  </a:ext>
                </a:extLst>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marL="0" indent="0">
              <a:buNone/>
            </a:pPr>
            <a:r>
              <a:rPr lang="en-US" sz="950" dirty="0">
                <a:solidFill>
                  <a:srgbClr val="4E5A64"/>
                </a:solidFill>
                <a:latin typeface="Calibri" pitchFamily="34" charset="0"/>
                <a:ea typeface="Calibri" pitchFamily="34" charset="-122"/>
                <a:cs typeface="Calibri" pitchFamily="34" charset="-120"/>
              </a:rPr>
              <a:t>Source: #ppc-internal-channel, #ppc-managers-only, #amazon-ppc (Keyword Story thread), #ppc-leadership and the 30 Sep call with Erik and Joseph, 28 Sep to 2 Oct, read against the PPC Weekly Plan v5 of 28 Sep · pulled 2026-10-02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marL="0" indent="0">
              <a:buNone/>
            </a:pPr>
            <a:r>
              <a:rPr lang="en-US" sz="1100" b="1" kern="0" spc="300" dirty="0">
                <a:solidFill>
                  <a:srgbClr val="3D4852"/>
                </a:solidFill>
                <a:latin typeface="Calibri" pitchFamily="34" charset="0"/>
                <a:ea typeface="Calibri" pitchFamily="34" charset="-122"/>
                <a:cs typeface="Calibri" pitchFamily="34" charset="-120"/>
              </a:rPr>
              <a:t>PPC   ·   WEEK OF SEPTEMBER 28 TO OCTOBER 2</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marL="0" indent="0">
              <a:buNone/>
            </a:pPr>
            <a:r>
              <a:rPr lang="en-US" sz="3000" b="1" dirty="0">
                <a:solidFill>
                  <a:srgbClr val="111C24"/>
                </a:solidFill>
                <a:latin typeface="Cambria" pitchFamily="34" charset="0"/>
                <a:ea typeface="Cambria" pitchFamily="34" charset="-122"/>
                <a:cs typeface="Cambria" pitchFamily="34" charset="-120"/>
              </a:rPr>
              <a:t>Blockers and Open Items</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marL="0" indent="0" algn="r">
              <a:buNone/>
            </a:pPr>
            <a:r>
              <a:rPr lang="en-US" sz="5400" b="1" dirty="0">
                <a:solidFill>
                  <a:srgbClr val="DCE4EA"/>
                </a:solidFill>
                <a:latin typeface="Cambria" pitchFamily="34" charset="0"/>
                <a:ea typeface="Cambria" pitchFamily="34" charset="-122"/>
                <a:cs typeface="Cambria" pitchFamily="34" charset="-120"/>
              </a:rPr>
              <a:t>02</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marL="0" indent="0" algn="r">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3823327388"/>
              </p:ext>
            </p:extLst>
          </p:nvPr>
        </p:nvGraphicFramePr>
        <p:xfrm>
          <a:off x="640080" y="1417320"/>
          <a:ext cx="11036808" cy="708660"/>
        </p:xfrm>
        <a:graphic>
          <a:graphicData uri="http://schemas.openxmlformats.org/drawingml/2006/table">
            <a:tbl>
              <a:tblPr/>
              <a:tblGrid>
                <a:gridCol w="2628452">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3081528">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tblGrid>
              <a:tr h="0">
                <a:tc>
                  <a:txBody>
                    <a:bodyPr/>
                    <a:lstStyle/>
                    <a:p>
                      <a:pPr marL="0" indent="0">
                        <a:buNone/>
                      </a:pPr>
                      <a:r>
                        <a:rPr lang="en-US" sz="950" b="1" kern="0" spc="150" dirty="0">
                          <a:solidFill>
                            <a:srgbClr val="3D4852"/>
                          </a:solidFill>
                          <a:latin typeface="Calibri" pitchFamily="34" charset="0"/>
                          <a:ea typeface="Calibri" pitchFamily="34" charset="-122"/>
                          <a:cs typeface="Calibri" pitchFamily="34" charset="-120"/>
                        </a:rPr>
                        <a:t>BLOCKER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marL="0" indent="0">
                        <a:buNone/>
                      </a:pPr>
                      <a:r>
                        <a:rPr lang="en-US" sz="950" b="1" kern="0" spc="150" dirty="0">
                          <a:solidFill>
                            <a:srgbClr val="3D4852"/>
                          </a:solidFill>
                          <a:latin typeface="Calibri" pitchFamily="34" charset="0"/>
                          <a:ea typeface="Calibri" pitchFamily="34" charset="-122"/>
                          <a:cs typeface="Calibri" pitchFamily="34" charset="-120"/>
                        </a:rPr>
                        <a:t>WHAT IT IS COSTING</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marL="0" indent="0">
                        <a:buNone/>
                      </a:pPr>
                      <a:r>
                        <a:rPr lang="en-US" sz="950" b="1" kern="0" spc="150" dirty="0">
                          <a:solidFill>
                            <a:srgbClr val="3D4852"/>
                          </a:solidFill>
                          <a:latin typeface="Calibri" pitchFamily="34" charset="0"/>
                          <a:ea typeface="Calibri" pitchFamily="34" charset="-122"/>
                          <a:cs typeface="Calibri" pitchFamily="34" charset="-120"/>
                        </a:rPr>
                        <a:t>WHO MUST ACT</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marL="0" indent="0">
                        <a:buNone/>
                      </a:pPr>
                      <a:r>
                        <a:rPr lang="en-US" sz="950" b="1" kern="0" spc="150" dirty="0">
                          <a:solidFill>
                            <a:srgbClr val="3D4852"/>
                          </a:solidFill>
                          <a:latin typeface="Calibri" pitchFamily="34" charset="0"/>
                          <a:ea typeface="Calibri" pitchFamily="34" charset="-122"/>
                          <a:cs typeface="Calibri" pitchFamily="34" charset="-120"/>
                        </a:rPr>
                        <a:t>RECOMMENDATION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marL="0" indent="0">
                        <a:buNone/>
                      </a:pPr>
                      <a:r>
                        <a:rPr lang="en-US" sz="950" b="1" kern="0" spc="150" dirty="0">
                          <a:solidFill>
                            <a:srgbClr val="3D4852"/>
                          </a:solidFill>
                          <a:latin typeface="Calibri" pitchFamily="34" charset="0"/>
                          <a:ea typeface="Calibri" pitchFamily="34" charset="-122"/>
                          <a:cs typeface="Calibri" pitchFamily="34" charset="-120"/>
                        </a:rPr>
                        <a:t>DECISION BY</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marL="0" indent="0">
                        <a:buNone/>
                      </a:pPr>
                      <a:r>
                        <a:rPr lang="en-US" sz="1300" dirty="0">
                          <a:solidFill>
                            <a:srgbClr val="111C24"/>
                          </a:solidFill>
                          <a:latin typeface="Calibri" pitchFamily="34" charset="0"/>
                          <a:ea typeface="Calibri" pitchFamily="34" charset="-122"/>
                          <a:cs typeface="Calibri" pitchFamily="34" charset="-120"/>
                        </a:rPr>
                        <a:t>Prime Big Deal Days is four days out with no PPC plan outside Bamboo</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15875" cap="flat" cmpd="sng" algn="ctr">
                      <a:solidFill>
                        <a:srgbClr val="111C24"/>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300" dirty="0">
                          <a:solidFill>
                            <a:srgbClr val="111C24"/>
                          </a:solidFill>
                          <a:latin typeface="Calibri" pitchFamily="34" charset="0"/>
                          <a:ea typeface="Calibri" pitchFamily="34" charset="-122"/>
                          <a:cs typeface="Calibri" pitchFamily="34" charset="-120"/>
                        </a:rPr>
                        <a:t>No deal-day budget or bid stance; Bamboo plans set theirs: budgets 1.5×, bids hold</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15875" cap="flat" cmpd="sng" algn="ctr">
                      <a:solidFill>
                        <a:srgbClr val="111C24"/>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300" dirty="0">
                          <a:solidFill>
                            <a:srgbClr val="111C24"/>
                          </a:solidFill>
                          <a:latin typeface="Calibri" pitchFamily="34" charset="0"/>
                          <a:ea typeface="Calibri" pitchFamily="34" charset="-122"/>
                          <a:cs typeface="Calibri" pitchFamily="34" charset="-120"/>
                        </a:rPr>
                        <a:t>Shayan T, Joseph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15875" cap="flat" cmpd="sng" algn="ctr">
                      <a:solidFill>
                        <a:srgbClr val="111C24"/>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300" dirty="0">
                          <a:solidFill>
                            <a:srgbClr val="111C24"/>
                          </a:solidFill>
                          <a:latin typeface="Calibri" pitchFamily="34" charset="0"/>
                          <a:ea typeface="Calibri" pitchFamily="34" charset="-122"/>
                          <a:cs typeface="Calibri" pitchFamily="34" charset="-120"/>
                        </a:rPr>
                        <a:t>Set the plan by end of week/Monday</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15875" cap="flat" cmpd="sng" algn="ctr">
                      <a:solidFill>
                        <a:srgbClr val="111C24"/>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300" dirty="0">
                          <a:solidFill>
                            <a:srgbClr val="111C24"/>
                          </a:solidFill>
                          <a:latin typeface="Calibri" pitchFamily="34" charset="0"/>
                          <a:ea typeface="Calibri" pitchFamily="34" charset="-122"/>
                          <a:cs typeface="Calibri" pitchFamily="34" charset="-120"/>
                        </a:rPr>
                        <a:t>End of week · 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15875" cap="flat" cmpd="sng" algn="ctr">
                      <a:solidFill>
                        <a:srgbClr val="111C24"/>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7" name="Shape 4"/>
          <p:cNvSpPr/>
          <p:nvPr/>
        </p:nvSpPr>
        <p:spPr>
          <a:xfrm>
            <a:off x="640080" y="2743200"/>
            <a:ext cx="11036808" cy="1188720"/>
          </a:xfrm>
          <a:prstGeom prst="roundRect">
            <a:avLst>
              <a:gd name="adj" fmla="val 5085"/>
            </a:avLst>
          </a:prstGeom>
          <a:solidFill>
            <a:srgbClr val="FBF3E4"/>
          </a:solidFill>
          <a:ln w="9525">
            <a:solidFill>
              <a:srgbClr val="D2B885"/>
            </a:solidFill>
            <a:prstDash val="solid"/>
          </a:ln>
        </p:spPr>
        <p:txBody>
          <a:bodyPr/>
          <a:p/>
        </p:txBody>
      </p:sp>
      <p:sp>
        <p:nvSpPr>
          <p:cNvPr id="8" name="Text 5"/>
          <p:cNvSpPr txBox="1"/>
          <p:nvPr/>
        </p:nvSpPr>
        <p:spPr>
          <a:xfrm>
            <a:off x="868680" y="2880360"/>
            <a:ext cx="10515600" cy="237744"/>
          </a:xfrm>
          <a:prstGeom prst="rect">
            <a:avLst/>
          </a:prstGeom>
          <a:noFill/>
          <a:ln/>
        </p:spPr>
        <p:txBody>
          <a:bodyPr wrap="square" lIns="0" tIns="0" rIns="0" bIns="0" rtlCol="0" anchor="ctr"/>
          <a:lstStyle/>
          <a:p>
            <a:pPr marL="0" indent="0">
              <a:buNone/>
            </a:pPr>
            <a:r>
              <a:rPr lang="en-US" sz="1050" b="1" kern="0" spc="200" dirty="0">
                <a:solidFill>
                  <a:srgbClr val="6E4A0F"/>
                </a:solidFill>
                <a:latin typeface="Calibri" pitchFamily="34" charset="0"/>
                <a:ea typeface="Calibri" pitchFamily="34" charset="-122"/>
                <a:cs typeface="Calibri" pitchFamily="34" charset="-120"/>
              </a:rPr>
              <a:t>THE 5 OPEN ITEMS CARRIED INTO NEXT WEEK</a:t>
            </a:r>
            <a:endParaRPr lang="en-US" sz="1050" dirty="0"/>
          </a:p>
        </p:txBody>
      </p:sp>
      <p:sp>
        <p:nvSpPr>
          <p:cNvPr id="9" name="Text 6"/>
          <p:cNvSpPr txBox="1"/>
          <p:nvPr/>
        </p:nvSpPr>
        <p:spPr>
          <a:xfrm>
            <a:off x="868680" y="3227832"/>
            <a:ext cx="10515600" cy="640080"/>
          </a:xfrm>
          <a:prstGeom prst="rect">
            <a:avLst/>
          </a:prstGeom>
          <a:noFill/>
          <a:ln/>
        </p:spPr>
        <p:txBody>
          <a:bodyPr wrap="square" lIns="0" tIns="0" rIns="0" bIns="0" rtlCol="0" anchor="t" numCol="3" spcCol="274320"/>
          <a:lstStyle/>
          <a:p>
            <a:pPr marL="0" indent="0">
              <a:buNone/>
            </a:pPr>
            <a:r>
              <a:rPr lang="en-US" sz="1250" dirty="0">
                <a:solidFill>
                  <a:srgbClr val="6E4A0F"/>
                </a:solidFill>
                <a:latin typeface="Calibri" pitchFamily="34" charset="0"/>
                <a:ea typeface="Calibri" pitchFamily="34" charset="-122"/>
                <a:cs typeface="Calibri" pitchFamily="34" charset="-120"/>
              </a:rPr>
              <a:t>Ad-type framework document</a:t>
            </a:r>
            <a:endParaRPr lang="en-US" sz="900" dirty="0"/>
          </a:p>
          <a:p>
            <a:pPr marL="0" indent="0">
              <a:buNone/>
            </a:pPr>
            <a:r>
              <a:rPr lang="en-US" sz="1250" dirty="0" err="1">
                <a:solidFill>
                  <a:srgbClr val="6E4A0F"/>
                </a:solidFill>
                <a:latin typeface="Calibri" pitchFamily="34" charset="0"/>
                <a:ea typeface="Calibri" pitchFamily="34" charset="-122"/>
                <a:cs typeface="Calibri" pitchFamily="34" charset="-120"/>
              </a:rPr>
              <a:t>Stabilisation</a:t>
            </a:r>
            <a:r>
              <a:rPr lang="en-US" sz="1250" dirty="0">
                <a:solidFill>
                  <a:srgbClr val="6E4A0F"/>
                </a:solidFill>
                <a:latin typeface="Calibri" pitchFamily="34" charset="0"/>
                <a:ea typeface="Calibri" pitchFamily="34" charset="-122"/>
                <a:cs typeface="Calibri" pitchFamily="34" charset="-120"/>
              </a:rPr>
              <a:t> proposal</a:t>
            </a:r>
          </a:p>
          <a:p>
            <a:r>
              <a:rPr lang="en-US" sz="1250" dirty="0">
                <a:solidFill>
                  <a:srgbClr val="6E4A0F"/>
                </a:solidFill>
                <a:latin typeface="Calibri" pitchFamily="34" charset="0"/>
                <a:ea typeface="Calibri" pitchFamily="34" charset="-122"/>
                <a:cs typeface="Calibri" pitchFamily="34" charset="-120"/>
              </a:rPr>
              <a:t>Canada Bamboo audits</a:t>
            </a:r>
            <a:endParaRPr lang="en-US" sz="900" dirty="0"/>
          </a:p>
          <a:p>
            <a:r>
              <a:rPr lang="en-US" sz="1250" dirty="0">
                <a:solidFill>
                  <a:srgbClr val="6E4A0F"/>
                </a:solidFill>
                <a:latin typeface="Calibri" pitchFamily="34" charset="0"/>
                <a:ea typeface="Calibri" pitchFamily="34" charset="-122"/>
                <a:cs typeface="Calibri" pitchFamily="34" charset="-120"/>
              </a:rPr>
              <a:t>Prime Day plan</a:t>
            </a:r>
          </a:p>
          <a:p>
            <a:r>
              <a:rPr lang="en-US" sz="1250" dirty="0">
                <a:solidFill>
                  <a:srgbClr val="6E4A0F"/>
                </a:solidFill>
                <a:latin typeface="Calibri" pitchFamily="34" charset="0"/>
                <a:ea typeface="Calibri" pitchFamily="34" charset="-122"/>
                <a:cs typeface="Calibri" pitchFamily="34" charset="-120"/>
              </a:rPr>
              <a:t>Daily Manual Changes</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marL="0" indent="0">
              <a:buNone/>
            </a:pPr>
            <a:r>
              <a:rPr lang="en-US" sz="1100" b="1" kern="0" spc="300" dirty="0">
                <a:solidFill>
                  <a:srgbClr val="3D4852"/>
                </a:solidFill>
                <a:latin typeface="Calibri" pitchFamily="34" charset="0"/>
                <a:ea typeface="Calibri" pitchFamily="34" charset="-122"/>
                <a:cs typeface="Calibri" pitchFamily="34" charset="-120"/>
              </a:rPr>
              <a:t>PPC   ·   WEEK OF OCTOBER 5 TO 9</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marL="0" indent="0">
              <a:buNone/>
            </a:pPr>
            <a:r>
              <a:rPr lang="en-US" sz="3000" b="1" dirty="0">
                <a:solidFill>
                  <a:srgbClr val="111C24"/>
                </a:solidFill>
                <a:latin typeface="Cambria" pitchFamily="34" charset="0"/>
                <a:ea typeface="Cambria" pitchFamily="34" charset="-122"/>
                <a:cs typeface="Cambria" pitchFamily="34" charset="-120"/>
              </a:rPr>
              <a:t>Next week</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marL="0" indent="0" algn="r">
              <a:buNone/>
            </a:pPr>
            <a:r>
              <a:rPr lang="en-US" sz="5400" b="1" dirty="0">
                <a:solidFill>
                  <a:srgbClr val="DCE4EA"/>
                </a:solidFill>
                <a:latin typeface="Cambria" pitchFamily="34" charset="0"/>
                <a:ea typeface="Cambria" pitchFamily="34" charset="-122"/>
                <a:cs typeface="Cambria" pitchFamily="34" charset="-120"/>
              </a:rPr>
              <a:t>03</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marL="0" indent="0" algn="r">
              <a:buNone/>
            </a:pPr>
            <a:r>
              <a:rPr lang="en-US" sz="1000" dirty="0">
                <a:solidFill>
                  <a:srgbClr val="4E5A64"/>
                </a:solidFill>
                <a:latin typeface="Calibri" pitchFamily="34" charset="0"/>
                <a:ea typeface="Calibri" pitchFamily="34" charset="-122"/>
                <a:cs typeface="Calibri" pitchFamily="34" charset="-120"/>
              </a:rPr>
              <a:t>PPC · Oct 5–9</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459824178"/>
              </p:ext>
            </p:extLst>
          </p:nvPr>
        </p:nvGraphicFramePr>
        <p:xfrm>
          <a:off x="640080" y="1417320"/>
          <a:ext cx="11036808" cy="3750564"/>
        </p:xfrm>
        <a:graphic>
          <a:graphicData uri="http://schemas.openxmlformats.org/drawingml/2006/table">
            <a:tbl>
              <a:tblPr/>
              <a:tblGrid>
                <a:gridCol w="2514600">
                  <a:extLst>
                    <a:ext uri="{9D8B030D-6E8A-4147-A177-3AD203B41FA5}">
                      <a16:colId xmlns:a16="http://schemas.microsoft.com/office/drawing/2014/main" val="20000"/>
                    </a:ext>
                  </a:extLst>
                </a:gridCol>
                <a:gridCol w="484632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777240">
                  <a:extLst>
                    <a:ext uri="{9D8B030D-6E8A-4147-A177-3AD203B41FA5}">
                      <a16:colId xmlns:a16="http://schemas.microsoft.com/office/drawing/2014/main" val="20003"/>
                    </a:ext>
                  </a:extLst>
                </a:gridCol>
                <a:gridCol w="1298448">
                  <a:extLst>
                    <a:ext uri="{9D8B030D-6E8A-4147-A177-3AD203B41FA5}">
                      <a16:colId xmlns:a16="http://schemas.microsoft.com/office/drawing/2014/main" val="20004"/>
                    </a:ext>
                  </a:extLst>
                </a:gridCol>
              </a:tblGrid>
              <a:tr h="0">
                <a:tc>
                  <a:txBody>
                    <a:bodyPr/>
                    <a:lstStyle/>
                    <a:p>
                      <a:pPr marL="0" indent="0">
                        <a:buNone/>
                      </a:pPr>
                      <a:r>
                        <a:rPr lang="en-US" sz="950" b="1" kern="0" spc="150" dirty="0">
                          <a:solidFill>
                            <a:srgbClr val="3D4852"/>
                          </a:solidFill>
                          <a:latin typeface="Calibri" pitchFamily="34" charset="0"/>
                          <a:ea typeface="Calibri" pitchFamily="34" charset="-122"/>
                          <a:cs typeface="Calibri" pitchFamily="34" charset="-120"/>
                        </a:rPr>
                        <a:t>WORKSTREAM</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marL="0" indent="0">
                        <a:buNone/>
                      </a:pPr>
                      <a:r>
                        <a:rPr lang="en-US" sz="950" b="1" kern="0" spc="150" dirty="0">
                          <a:solidFill>
                            <a:srgbClr val="3D4852"/>
                          </a:solidFill>
                          <a:latin typeface="Calibri" pitchFamily="34" charset="0"/>
                          <a:ea typeface="Calibri" pitchFamily="34" charset="-122"/>
                          <a:cs typeface="Calibri" pitchFamily="34" charset="-120"/>
                        </a:rPr>
                        <a:t>WHAT WE WILL DO</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marL="0" indent="0">
                        <a:buNone/>
                      </a:pPr>
                      <a:r>
                        <a:rPr lang="en-US" sz="950" b="1" kern="0" spc="150" dirty="0">
                          <a:solidFill>
                            <a:srgbClr val="3D4852"/>
                          </a:solidFill>
                          <a:latin typeface="Calibri" pitchFamily="34" charset="0"/>
                          <a:ea typeface="Calibri" pitchFamily="34" charset="-122"/>
                          <a:cs typeface="Calibri" pitchFamily="34" charset="-120"/>
                        </a:rPr>
                        <a:t>BY WHEN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marL="0" indent="0">
                        <a:buNone/>
                      </a:pPr>
                      <a:r>
                        <a:rPr lang="en-US" sz="950" b="1" kern="0" spc="150" dirty="0">
                          <a:solidFill>
                            <a:srgbClr val="3D4852"/>
                          </a:solidFill>
                          <a:latin typeface="Calibri" pitchFamily="34" charset="0"/>
                          <a:ea typeface="Calibri" pitchFamily="34" charset="-122"/>
                          <a:cs typeface="Calibri" pitchFamily="34" charset="-120"/>
                        </a:rPr>
                        <a:t>PRIORITY</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marL="0" indent="0">
                        <a:buNone/>
                      </a:pPr>
                      <a:r>
                        <a:rPr lang="en-US" sz="950" b="1" kern="0" spc="150" dirty="0">
                          <a:solidFill>
                            <a:srgbClr val="3D4852"/>
                          </a:solidFill>
                          <a:latin typeface="Calibri" pitchFamily="34" charset="0"/>
                          <a:ea typeface="Calibri" pitchFamily="34" charset="-122"/>
                          <a:cs typeface="Calibri" pitchFamily="34" charset="-120"/>
                        </a:rPr>
                        <a:t>CARRYOVER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marL="0" indent="0">
                        <a:buNone/>
                      </a:pPr>
                      <a:r>
                        <a:rPr lang="en-US" sz="1100" b="1" dirty="0">
                          <a:solidFill>
                            <a:srgbClr val="111C24"/>
                          </a:solidFill>
                          <a:latin typeface="Calibri" pitchFamily="34" charset="0"/>
                          <a:ea typeface="Calibri" pitchFamily="34" charset="-122"/>
                          <a:cs typeface="Calibri" pitchFamily="34" charset="-120"/>
                        </a:rPr>
                        <a:t>Prime Big Deal Days</a:t>
                      </a:r>
                      <a:endParaRPr lang="en-US" sz="1100" dirty="0">
                        <a:latin typeface="Calibri" charset="0"/>
                        <a:ea typeface="Calibri" charset="0"/>
                        <a:cs typeface="Calibri" charset="0"/>
                      </a:endParaRPr>
                    </a:p>
                    <a:p>
                      <a:pPr marL="0" indent="0">
                        <a:buNone/>
                      </a:pPr>
                      <a:r>
                        <a:rPr lang="en-US" sz="1000" dirty="0">
                          <a:solidFill>
                            <a:srgbClr val="4E5A64"/>
                          </a:solidFill>
                          <a:latin typeface="Calibri" pitchFamily="34" charset="0"/>
                          <a:ea typeface="Calibri" pitchFamily="34" charset="-122"/>
                          <a:cs typeface="Calibri" pitchFamily="34" charset="-120"/>
                        </a:rPr>
                        <a:t>All three with Joseph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15875" cap="flat" cmpd="sng" algn="ctr">
                      <a:solidFill>
                        <a:srgbClr val="111C24"/>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Deal-day plan and budgets set by end of week; S4 deal issues cleared and budgets live by Monday; run the Oct 6–7 event with Amazon's own budget rules stripped</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15875" cap="flat" cmpd="sng" algn="ctr">
                      <a:solidFill>
                        <a:srgbClr val="111C24"/>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End of week · 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15875" cap="flat" cmpd="sng" algn="ctr">
                      <a:solidFill>
                        <a:srgbClr val="111C24"/>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P0</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15875" cap="flat" cmpd="sng" algn="ctr">
                      <a:solidFill>
                        <a:srgbClr val="111C24"/>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N — new</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15875" cap="flat" cmpd="sng" algn="ctr">
                      <a:solidFill>
                        <a:srgbClr val="111C24"/>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100" b="1" dirty="0">
                          <a:solidFill>
                            <a:srgbClr val="111C24"/>
                          </a:solidFill>
                          <a:latin typeface="Calibri" pitchFamily="34" charset="0"/>
                          <a:ea typeface="Calibri" pitchFamily="34" charset="-122"/>
                          <a:cs typeface="Calibri" pitchFamily="34" charset="-120"/>
                        </a:rPr>
                        <a:t>CooLinens Pillowcase</a:t>
                      </a:r>
                      <a:endParaRPr lang="en-US" sz="1100" dirty="0">
                        <a:latin typeface="Calibri" charset="0"/>
                        <a:ea typeface="Calibri" charset="0"/>
                        <a:cs typeface="Calibri" charset="0"/>
                      </a:endParaRPr>
                    </a:p>
                    <a:p>
                      <a:pPr marL="0" indent="0">
                        <a:buNone/>
                      </a:pPr>
                      <a:r>
                        <a:rPr lang="en-US" sz="1000" dirty="0">
                          <a:solidFill>
                            <a:srgbClr val="4E5A64"/>
                          </a:solidFill>
                          <a:latin typeface="Calibri" pitchFamily="34" charset="0"/>
                          <a:ea typeface="Calibri" pitchFamily="34" charset="-122"/>
                          <a:cs typeface="Calibri" pitchFamily="34" charset="-120"/>
                        </a:rPr>
                        <a:t>Shayan T with Zarlish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First live week: daily spend, search-term and conversion checks, PAT additions from Shayan R, launch read at the Friday close</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Daily · read Fri, Oct 9</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P0</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N — new</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100" b="1" dirty="0">
                          <a:solidFill>
                            <a:srgbClr val="111C24"/>
                          </a:solidFill>
                          <a:latin typeface="Calibri" pitchFamily="34" charset="0"/>
                          <a:ea typeface="Calibri" pitchFamily="34" charset="-122"/>
                          <a:cs typeface="Calibri" pitchFamily="34" charset="-120"/>
                        </a:rPr>
                        <a:t>Audit cycle</a:t>
                      </a:r>
                      <a:endParaRPr lang="en-US" sz="1100" dirty="0">
                        <a:latin typeface="Calibri" charset="0"/>
                        <a:ea typeface="Calibri" charset="0"/>
                        <a:cs typeface="Calibri" charset="0"/>
                      </a:endParaRPr>
                    </a:p>
                    <a:p>
                      <a:pPr marL="0" indent="0">
                        <a:buNone/>
                      </a:pPr>
                      <a:r>
                        <a:rPr lang="en-US" sz="1000" dirty="0">
                          <a:solidFill>
                            <a:srgbClr val="4E5A64"/>
                          </a:solidFill>
                          <a:latin typeface="Calibri" pitchFamily="34" charset="0"/>
                          <a:ea typeface="Calibri" pitchFamily="34" charset="-122"/>
                          <a:cs typeface="Calibri" pitchFamily="34" charset="-120"/>
                        </a:rPr>
                        <a:t>All three</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Run the next cycle on all nine, Bamboo Monday and the rest Tuesday. This cycle closes today with the last three feedbacks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P0</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N — new cycle</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buNone/>
                      </a:pPr>
                      <a:r>
                        <a:rPr lang="en-US" sz="1100" b="1" dirty="0">
                          <a:solidFill>
                            <a:srgbClr val="111C24"/>
                          </a:solidFill>
                          <a:latin typeface="Calibri" pitchFamily="34" charset="0"/>
                          <a:ea typeface="Calibri" pitchFamily="34" charset="-122"/>
                          <a:cs typeface="Calibri" pitchFamily="34" charset="-120"/>
                        </a:rPr>
                        <a:t>Engine feedback &amp; register</a:t>
                      </a:r>
                      <a:endParaRPr lang="en-US" sz="1100" dirty="0">
                        <a:latin typeface="Calibri" charset="0"/>
                        <a:ea typeface="Calibri" charset="0"/>
                        <a:cs typeface="Calibri" charset="0"/>
                      </a:endParaRPr>
                    </a:p>
                    <a:p>
                      <a:pPr marL="0" indent="0">
                        <a:buNone/>
                      </a:pPr>
                      <a:r>
                        <a:rPr lang="en-US" sz="1000" dirty="0">
                          <a:solidFill>
                            <a:srgbClr val="4E5A64"/>
                          </a:solidFill>
                          <a:latin typeface="Calibri" pitchFamily="34" charset="0"/>
                          <a:ea typeface="Calibri" pitchFamily="34" charset="-122"/>
                          <a:cs typeface="Calibri" pitchFamily="34" charset="-120"/>
                        </a:rPr>
                        <a:t>Zarlish with Shayan T</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Shayan T reviews, Zarlish shares the feedback and register with Joseph.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Weekly</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P0</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Y — since Oct 2</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buNone/>
                      </a:pPr>
                      <a:r>
                        <a:rPr lang="en-US" sz="1100" b="1" dirty="0">
                          <a:solidFill>
                            <a:srgbClr val="111C24"/>
                          </a:solidFill>
                          <a:latin typeface="Calibri" pitchFamily="34" charset="0"/>
                          <a:ea typeface="Calibri" pitchFamily="34" charset="-122"/>
                          <a:cs typeface="Calibri" pitchFamily="34" charset="-120"/>
                        </a:rPr>
                        <a:t>Other campaign types</a:t>
                      </a:r>
                      <a:endParaRPr lang="en-US" sz="1100" dirty="0">
                        <a:latin typeface="Calibri" charset="0"/>
                        <a:ea typeface="Calibri" charset="0"/>
                        <a:cs typeface="Calibri" charset="0"/>
                      </a:endParaRPr>
                    </a:p>
                    <a:p>
                      <a:pPr marL="0" indent="0">
                        <a:buNone/>
                      </a:pPr>
                      <a:r>
                        <a:rPr lang="en-US" sz="1000" dirty="0">
                          <a:solidFill>
                            <a:srgbClr val="4E5A64"/>
                          </a:solidFill>
                          <a:latin typeface="Calibri" pitchFamily="34" charset="0"/>
                          <a:ea typeface="Calibri" pitchFamily="34" charset="-122"/>
                          <a:cs typeface="Calibri" pitchFamily="34" charset="-120"/>
                        </a:rPr>
                        <a:t>Shayan T</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Send the campaign-type list, the ad-type plan for Bamboo and the frameworks for the other products (agreed on the 30 Sep call), brief creative for the held SB, SBV and SD campaigns, then launch them through the API</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End of week, Oct 3–4</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P0</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Y — since Sep 30</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buNone/>
                      </a:pPr>
                      <a:r>
                        <a:rPr lang="en-US" sz="1100" b="1" dirty="0">
                          <a:solidFill>
                            <a:srgbClr val="111C24"/>
                          </a:solidFill>
                          <a:latin typeface="Calibri" pitchFamily="34" charset="0"/>
                          <a:ea typeface="Calibri" pitchFamily="34" charset="-122"/>
                          <a:cs typeface="Calibri" pitchFamily="34" charset="-120"/>
                        </a:rPr>
                        <a:t>LTSF products</a:t>
                      </a:r>
                      <a:endParaRPr lang="en-US" sz="1100" dirty="0">
                        <a:latin typeface="Calibri" charset="0"/>
                        <a:ea typeface="Calibri" charset="0"/>
                        <a:cs typeface="Calibri" charset="0"/>
                      </a:endParaRPr>
                    </a:p>
                    <a:p>
                      <a:pPr marL="0" indent="0">
                        <a:buNone/>
                      </a:pPr>
                      <a:r>
                        <a:rPr lang="en-US" sz="1000" dirty="0">
                          <a:solidFill>
                            <a:srgbClr val="4E5A64"/>
                          </a:solidFill>
                          <a:latin typeface="Calibri" pitchFamily="34" charset="0"/>
                          <a:ea typeface="Calibri" pitchFamily="34" charset="-122"/>
                          <a:cs typeface="Calibri" pitchFamily="34" charset="-120"/>
                        </a:rPr>
                        <a:t>Zarlish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Act on Erik's reply to the 30 Sep LTSF update and keep the per-SKU actions running on the LTSF products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Ongoing</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P1</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Y — since Sep 30</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extLst>
                  <a:ext uri="{0D108BD9-81ED-4DB2-BD59-A6C34878D82A}">
                    <a16:rowId xmlns:a16="http://schemas.microsoft.com/office/drawing/2014/main" val="10007"/>
                  </a:ext>
                </a:extLst>
              </a:tr>
              <a:tr h="0">
                <a:tc>
                  <a:txBody>
                    <a:bodyPr/>
                    <a:lstStyle/>
                    <a:p>
                      <a:pPr marL="0" indent="0">
                        <a:buNone/>
                      </a:pPr>
                      <a:r>
                        <a:rPr lang="en-US" sz="1100" b="1" dirty="0">
                          <a:solidFill>
                            <a:srgbClr val="111C24"/>
                          </a:solidFill>
                          <a:latin typeface="Calibri" pitchFamily="34" charset="0"/>
                          <a:ea typeface="Calibri" pitchFamily="34" charset="-122"/>
                          <a:cs typeface="Calibri" pitchFamily="34" charset="-120"/>
                        </a:rPr>
                        <a:t>Stabilisation proposal</a:t>
                      </a:r>
                      <a:endParaRPr lang="en-US" sz="1100" dirty="0">
                        <a:latin typeface="Calibri" charset="0"/>
                        <a:ea typeface="Calibri" charset="0"/>
                        <a:cs typeface="Calibri" charset="0"/>
                      </a:endParaRPr>
                    </a:p>
                    <a:p>
                      <a:pPr marL="0" indent="0">
                        <a:buNone/>
                      </a:pPr>
                      <a:r>
                        <a:rPr lang="en-US" sz="1000" dirty="0">
                          <a:solidFill>
                            <a:srgbClr val="4E5A64"/>
                          </a:solidFill>
                          <a:latin typeface="Calibri" pitchFamily="34" charset="0"/>
                          <a:ea typeface="Calibri" pitchFamily="34" charset="-122"/>
                          <a:cs typeface="Calibri" pitchFamily="34" charset="-120"/>
                        </a:rPr>
                        <a:t>Shayan T</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Deliver catalog prioritisation, team structure, the finalised cadence and the development list, with priorities and due dates as Erik asked on 30 Sep</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End of week, Oct 3–4</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P0</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tc>
                  <a:txBody>
                    <a:bodyPr/>
                    <a:lstStyle/>
                    <a:p>
                      <a:pPr marL="0" indent="0">
                        <a:buNone/>
                      </a:pPr>
                      <a:r>
                        <a:rPr lang="en-US" sz="1100" dirty="0">
                          <a:solidFill>
                            <a:srgbClr val="111C24"/>
                          </a:solidFill>
                          <a:latin typeface="Calibri" pitchFamily="34" charset="0"/>
                          <a:ea typeface="Calibri" pitchFamily="34" charset="-122"/>
                          <a:cs typeface="Calibri" pitchFamily="34" charset="-120"/>
                        </a:rPr>
                        <a:t>Y — since Oct 2</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9525" cap="flat" cmpd="sng" algn="ctr">
                      <a:solidFill>
                        <a:srgbClr val="BFCAD3"/>
                      </a:solidFill>
                      <a:prstDash val="solid"/>
                      <a:round/>
                      <a:headEnd type="none" w="med" len="med"/>
                      <a:tailEnd type="none" w="med" len="med"/>
                    </a:lnT>
                    <a:lnB w="9525" cap="flat" cmpd="sng" algn="ctr">
                      <a:solidFill>
                        <a:srgbClr val="BFCAD3"/>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marL="0" indent="0">
              <a:buNone/>
            </a:pPr>
            <a:r>
              <a:rPr lang="en-US" sz="950" dirty="0">
                <a:solidFill>
                  <a:srgbClr val="4E5A64"/>
                </a:solidFill>
                <a:latin typeface="Calibri" pitchFamily="34" charset="0"/>
                <a:ea typeface="Calibri" pitchFamily="34" charset="-122"/>
                <a:cs typeface="Calibri" pitchFamily="34" charset="-120"/>
              </a:rPr>
              <a:t>P0 fails the cycle if it slips.</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TotalTime>
  <Words>1025</Words>
  <Application>Microsoft Office PowerPoint</Application>
  <PresentationFormat>Widescreen</PresentationFormat>
  <Paragraphs>129</Paragraphs>
  <Slides>4</Slides>
  <Notes>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Office Theme</vt:lpstr>
      <vt:lpstr>PowerPoint Presentation</vt:lpstr>
      <vt:lpstr>PowerPoint Presentation</vt:lpstr>
      <vt:lpstr>PowerPoint Presentation</vt:lpstr>
      <vt:lpstr>PowerPoint Presentation</vt:lpstr>
    </vt:vector>
  </TitlesOfParts>
  <Company>Ecotero Brands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PPC Weekly Review, Sep 28 to Oct 2</dc:title>
  <dc:subject>PptxGenJS Presentation</dc:subject>
  <dc:creator>Zarlish</dc:creator>
  <cp:lastModifiedBy>Shayan Taquie</cp:lastModifiedBy>
  <cp:revision>2</cp:revision>
  <dcterms:created xsi:type="dcterms:W3CDTF">2026-10-02T13:53:44Z</dcterms:created>
  <dcterms:modified xsi:type="dcterms:W3CDTF">2026-10-02T14:03:14Z</dcterms:modified>
</cp:coreProperties>
</file>