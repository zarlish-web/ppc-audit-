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640080" y="6382512"/>
            <a:ext cx="3657600" cy="274320"/>
          </a:xfrm>
          <a:prstGeom prst="rect">
            <a:avLst/>
          </a:prstGeom>
          <a:noFill/>
          <a:ln/>
        </p:spPr>
        <p:txBody>
          <a:bodyPr wrap="square" lIns="0" tIns="0" rIns="0" bIns="0" rtlCol="0" anchor="ctr"/>
          <a:lstStyle/>
          <a:p>
            <a:pPr indent="0" marL="0">
              <a:buNone/>
            </a:pPr>
            <a:r>
              <a:rPr lang="en-US" sz="1000" b="1" spc="200" kern="0" dirty="0">
                <a:solidFill>
                  <a:srgbClr val="3D4852"/>
                </a:solidFill>
                <a:latin typeface="Calibri" pitchFamily="34" charset="0"/>
                <a:ea typeface="Calibri" pitchFamily="34" charset="-122"/>
                <a:cs typeface="Calibri" pitchFamily="34" charset="-120"/>
              </a:rPr>
              <a:t>ECOTERO BRANDS</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4"/>
        </a:solidFill>
      </p:bgPr>
    </p:bg>
    <p:spTree>
      <p:nvGrpSpPr>
        <p:cNvPr id="1" name=""/>
        <p:cNvGrpSpPr/>
        <p:nvPr/>
      </p:nvGrpSpPr>
      <p:grpSpPr>
        <a:xfrm>
          <a:off x="0" y="0"/>
          <a:ext cx="0" cy="0"/>
          <a:chOff x="0" y="0"/>
          <a:chExt cx="0" cy="0"/>
        </a:xfrm>
      </p:grpSpPr>
      <p:sp>
        <p:nvSpPr>
          <p:cNvPr id="2" name="Text 0"/>
          <p:cNvSpPr txBox="1"/>
          <p:nvPr/>
        </p:nvSpPr>
        <p:spPr>
          <a:xfrm>
            <a:off x="868680" y="603504"/>
            <a:ext cx="8229600" cy="329184"/>
          </a:xfrm>
          <a:prstGeom prst="rect">
            <a:avLst/>
          </a:prstGeom>
          <a:noFill/>
          <a:ln/>
        </p:spPr>
        <p:txBody>
          <a:bodyPr wrap="square" lIns="0" tIns="0" rIns="0" bIns="0" rtlCol="0" anchor="ctr"/>
          <a:lstStyle/>
          <a:p>
            <a:pPr indent="0" marL="0">
              <a:buNone/>
            </a:pPr>
            <a:r>
              <a:rPr lang="en-US" sz="1600" b="1" spc="400" kern="0" dirty="0">
                <a:solidFill>
                  <a:srgbClr val="D3B184"/>
                </a:solidFill>
                <a:latin typeface="Calibri" pitchFamily="34" charset="0"/>
                <a:ea typeface="Calibri" pitchFamily="34" charset="-122"/>
                <a:cs typeface="Calibri" pitchFamily="34" charset="-120"/>
              </a:rPr>
              <a:t>AMAZON OPERATIONS   ·   WEEKLY REVIEW</a:t>
            </a:r>
            <a:endParaRPr lang="en-US" sz="1600" dirty="0"/>
          </a:p>
        </p:txBody>
      </p:sp>
      <p:sp>
        <p:nvSpPr>
          <p:cNvPr id="3" name="Text 1"/>
          <p:cNvSpPr txBox="1"/>
          <p:nvPr/>
        </p:nvSpPr>
        <p:spPr>
          <a:xfrm>
            <a:off x="7863840" y="566928"/>
            <a:ext cx="3474720" cy="27432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Presented by Zarlish</a:t>
            </a:r>
            <a:endParaRPr lang="en-US" sz="1400" dirty="0"/>
          </a:p>
        </p:txBody>
      </p:sp>
      <p:sp>
        <p:nvSpPr>
          <p:cNvPr id="4" name="Text 2"/>
          <p:cNvSpPr txBox="1"/>
          <p:nvPr/>
        </p:nvSpPr>
        <p:spPr>
          <a:xfrm>
            <a:off x="7863840" y="859536"/>
            <a:ext cx="3474720" cy="274320"/>
          </a:xfrm>
          <a:prstGeom prst="rect">
            <a:avLst/>
          </a:prstGeom>
          <a:noFill/>
          <a:ln/>
        </p:spPr>
        <p:txBody>
          <a:bodyPr wrap="square" lIns="0" tIns="0" rIns="0" bIns="0" rtlCol="0" anchor="ctr"/>
          <a:lstStyle/>
          <a:p>
            <a:pPr algn="r" indent="0" marL="0">
              <a:buNone/>
            </a:pPr>
            <a:r>
              <a:rPr lang="en-US" sz="1200" dirty="0">
                <a:solidFill>
                  <a:srgbClr val="C6D3DD"/>
                </a:solidFill>
                <a:latin typeface="Calibri" pitchFamily="34" charset="0"/>
                <a:ea typeface="Calibri" pitchFamily="34" charset="-122"/>
                <a:cs typeface="Calibri" pitchFamily="34" charset="-120"/>
              </a:rPr>
              <a:t>Cadence week 1 · Friday review</a:t>
            </a:r>
            <a:endParaRPr lang="en-US" sz="1200" dirty="0"/>
          </a:p>
        </p:txBody>
      </p:sp>
      <p:sp>
        <p:nvSpPr>
          <p:cNvPr id="5" name="Text 3"/>
          <p:cNvSpPr txBox="1"/>
          <p:nvPr/>
        </p:nvSpPr>
        <p:spPr>
          <a:xfrm>
            <a:off x="868680" y="969264"/>
            <a:ext cx="9601200" cy="114300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PPC</a:t>
            </a:r>
            <a:endParaRPr lang="en-US" sz="6400" dirty="0"/>
          </a:p>
        </p:txBody>
      </p:sp>
      <p:sp>
        <p:nvSpPr>
          <p:cNvPr id="6" name="Text 4"/>
          <p:cNvSpPr txBox="1"/>
          <p:nvPr/>
        </p:nvSpPr>
        <p:spPr>
          <a:xfrm>
            <a:off x="868680" y="2157984"/>
            <a:ext cx="9601200" cy="457200"/>
          </a:xfrm>
          <a:prstGeom prst="rect">
            <a:avLst/>
          </a:prstGeom>
          <a:noFill/>
          <a:ln/>
        </p:spPr>
        <p:txBody>
          <a:bodyPr wrap="square" lIns="0" tIns="0" rIns="0" bIns="0" rtlCol="0" anchor="ctr"/>
          <a:lstStyle/>
          <a:p>
            <a:pPr indent="0" marL="0">
              <a:buNone/>
            </a:pPr>
            <a:r>
              <a:rPr lang="en-US" sz="2600" dirty="0">
                <a:solidFill>
                  <a:srgbClr val="D3B184"/>
                </a:solidFill>
                <a:latin typeface="Calibri" pitchFamily="34" charset="0"/>
                <a:ea typeface="Calibri" pitchFamily="34" charset="-122"/>
                <a:cs typeface="Calibri" pitchFamily="34" charset="-120"/>
              </a:rPr>
              <a:t>Week of September 28 to October 2</a:t>
            </a:r>
            <a:endParaRPr lang="en-US" sz="2600" dirty="0"/>
          </a:p>
        </p:txBody>
      </p:sp>
      <p:sp>
        <p:nvSpPr>
          <p:cNvPr id="7" name="Text 5"/>
          <p:cNvSpPr txBox="1"/>
          <p:nvPr/>
        </p:nvSpPr>
        <p:spPr>
          <a:xfrm>
            <a:off x="868680" y="2926080"/>
            <a:ext cx="9692640" cy="731520"/>
          </a:xfrm>
          <a:prstGeom prst="rect">
            <a:avLst/>
          </a:prstGeom>
          <a:noFill/>
          <a:ln/>
        </p:spPr>
        <p:txBody>
          <a:bodyPr wrap="square" lIns="0" tIns="0" rIns="0" bIns="0" rtlCol="0" anchor="t"/>
          <a:lstStyle/>
          <a:p>
            <a:pPr indent="0" marL="0">
              <a:buNone/>
            </a:pPr>
            <a:r>
              <a:rPr lang="en-US" sz="1600" dirty="0">
                <a:solidFill>
                  <a:srgbClr val="C6D3DD"/>
                </a:solidFill>
                <a:latin typeface="Calibri" pitchFamily="34" charset="0"/>
                <a:ea typeface="Calibri" pitchFamily="34" charset="-122"/>
                <a:cs typeface="Calibri" pitchFamily="34" charset="-120"/>
              </a:rPr>
              <a:t>CooLinens Cooling Pillowcase goes live on Amazon today with its PPC launch. Bamboo ranking plans for B4 and B6 are final and wait on three sign-offs. Prime Big Deal Days on 6–7 Oct is the first test of the week ahead.</a:t>
            </a:r>
            <a:endParaRPr lang="en-US" sz="1600" dirty="0"/>
          </a:p>
        </p:txBody>
      </p:sp>
      <p:sp>
        <p:nvSpPr>
          <p:cNvPr id="8" name="Shape 6"/>
          <p:cNvSpPr/>
          <p:nvPr/>
        </p:nvSpPr>
        <p:spPr>
          <a:xfrm>
            <a:off x="868680" y="4114800"/>
            <a:ext cx="10469880" cy="1207008"/>
          </a:xfrm>
          <a:prstGeom prst="rect">
            <a:avLst/>
          </a:prstGeom>
          <a:solidFill>
            <a:srgbClr val="1B3E57"/>
          </a:solidFill>
          <a:ln/>
        </p:spPr>
      </p:sp>
      <p:sp>
        <p:nvSpPr>
          <p:cNvPr id="9" name="Text 7"/>
          <p:cNvSpPr txBox="1"/>
          <p:nvPr/>
        </p:nvSpPr>
        <p:spPr>
          <a:xfrm>
            <a:off x="1143000" y="4261104"/>
            <a:ext cx="1783080" cy="548640"/>
          </a:xfrm>
          <a:prstGeom prst="rect">
            <a:avLst/>
          </a:prstGeom>
          <a:noFill/>
          <a:ln/>
        </p:spPr>
        <p:txBody>
          <a:bodyPr wrap="square" lIns="0" tIns="0" rIns="0" bIns="0" rtlCol="0" anchor="ctr"/>
          <a:lstStyle/>
          <a:p>
            <a:pPr indent="0" marL="0">
              <a:buNone/>
            </a:pPr>
            <a:r>
              <a:rPr lang="en-US" sz="3600" b="1" dirty="0">
                <a:solidFill>
                  <a:srgbClr val="7FC4E8"/>
                </a:solidFill>
                <a:latin typeface="Cambria" pitchFamily="34" charset="0"/>
                <a:ea typeface="Cambria" pitchFamily="34" charset="-122"/>
                <a:cs typeface="Cambria" pitchFamily="34" charset="-120"/>
              </a:rPr>
              <a:t>5</a:t>
            </a:r>
            <a:endParaRPr lang="en-US" sz="3600" dirty="0"/>
          </a:p>
        </p:txBody>
      </p:sp>
      <p:sp>
        <p:nvSpPr>
          <p:cNvPr id="10" name="Text 8"/>
          <p:cNvSpPr txBox="1"/>
          <p:nvPr/>
        </p:nvSpPr>
        <p:spPr>
          <a:xfrm>
            <a:off x="1143000"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Workstreams</a:t>
            </a:r>
            <a:endParaRPr lang="en-US" sz="1300" dirty="0"/>
          </a:p>
        </p:txBody>
      </p:sp>
      <p:sp>
        <p:nvSpPr>
          <p:cNvPr id="11" name="Text 9"/>
          <p:cNvSpPr txBox="1"/>
          <p:nvPr/>
        </p:nvSpPr>
        <p:spPr>
          <a:xfrm>
            <a:off x="3758184" y="4261104"/>
            <a:ext cx="1783080" cy="548640"/>
          </a:xfrm>
          <a:prstGeom prst="rect">
            <a:avLst/>
          </a:prstGeom>
          <a:noFill/>
          <a:ln/>
        </p:spPr>
        <p:txBody>
          <a:bodyPr wrap="square" lIns="0" tIns="0" rIns="0" bIns="0" rtlCol="0" anchor="ctr"/>
          <a:lstStyle/>
          <a:p>
            <a:pPr indent="0" marL="0">
              <a:buNone/>
            </a:pPr>
            <a:r>
              <a:rPr lang="en-US" sz="3600" b="1" dirty="0">
                <a:solidFill>
                  <a:srgbClr val="6FD39F"/>
                </a:solidFill>
                <a:latin typeface="Cambria" pitchFamily="34" charset="0"/>
                <a:ea typeface="Cambria" pitchFamily="34" charset="-122"/>
                <a:cs typeface="Cambria" pitchFamily="34" charset="-120"/>
              </a:rPr>
              <a:t>3</a:t>
            </a:r>
            <a:endParaRPr lang="en-US" sz="3600" dirty="0"/>
          </a:p>
        </p:txBody>
      </p:sp>
      <p:sp>
        <p:nvSpPr>
          <p:cNvPr id="12" name="Text 10"/>
          <p:cNvSpPr txBox="1"/>
          <p:nvPr/>
        </p:nvSpPr>
        <p:spPr>
          <a:xfrm>
            <a:off x="3758184"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Delivered</a:t>
            </a:r>
            <a:endParaRPr lang="en-US" sz="1300" dirty="0"/>
          </a:p>
        </p:txBody>
      </p:sp>
      <p:sp>
        <p:nvSpPr>
          <p:cNvPr id="13" name="Shape 11"/>
          <p:cNvSpPr/>
          <p:nvPr/>
        </p:nvSpPr>
        <p:spPr>
          <a:xfrm>
            <a:off x="3483864" y="4370832"/>
            <a:ext cx="9144" cy="694944"/>
          </a:xfrm>
          <a:prstGeom prst="rect">
            <a:avLst/>
          </a:prstGeom>
          <a:solidFill>
            <a:srgbClr val="2C5A78"/>
          </a:solidFill>
          <a:ln/>
        </p:spPr>
      </p:sp>
      <p:sp>
        <p:nvSpPr>
          <p:cNvPr id="14" name="Text 12"/>
          <p:cNvSpPr txBox="1"/>
          <p:nvPr/>
        </p:nvSpPr>
        <p:spPr>
          <a:xfrm>
            <a:off x="6373368" y="4261104"/>
            <a:ext cx="1783080" cy="548640"/>
          </a:xfrm>
          <a:prstGeom prst="rect">
            <a:avLst/>
          </a:prstGeom>
          <a:noFill/>
          <a:ln/>
        </p:spPr>
        <p:txBody>
          <a:bodyPr wrap="square" lIns="0" tIns="0" rIns="0" bIns="0" rtlCol="0" anchor="ctr"/>
          <a:lstStyle/>
          <a:p>
            <a:pPr indent="0" marL="0">
              <a:buNone/>
            </a:pPr>
            <a:r>
              <a:rPr lang="en-US" sz="3600" b="1" dirty="0">
                <a:solidFill>
                  <a:srgbClr val="F2C078"/>
                </a:solidFill>
                <a:latin typeface="Cambria" pitchFamily="34" charset="0"/>
                <a:ea typeface="Cambria" pitchFamily="34" charset="-122"/>
                <a:cs typeface="Cambria" pitchFamily="34" charset="-120"/>
              </a:rPr>
              <a:t>2</a:t>
            </a:r>
            <a:endParaRPr lang="en-US" sz="3600" dirty="0"/>
          </a:p>
        </p:txBody>
      </p:sp>
      <p:sp>
        <p:nvSpPr>
          <p:cNvPr id="15" name="Text 13"/>
          <p:cNvSpPr txBox="1"/>
          <p:nvPr/>
        </p:nvSpPr>
        <p:spPr>
          <a:xfrm>
            <a:off x="6373368"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In progress</a:t>
            </a:r>
            <a:endParaRPr lang="en-US" sz="1300" dirty="0"/>
          </a:p>
        </p:txBody>
      </p:sp>
      <p:sp>
        <p:nvSpPr>
          <p:cNvPr id="16" name="Shape 14"/>
          <p:cNvSpPr/>
          <p:nvPr/>
        </p:nvSpPr>
        <p:spPr>
          <a:xfrm>
            <a:off x="6099048" y="4370832"/>
            <a:ext cx="9144" cy="694944"/>
          </a:xfrm>
          <a:prstGeom prst="rect">
            <a:avLst/>
          </a:prstGeom>
          <a:solidFill>
            <a:srgbClr val="2C5A78"/>
          </a:solidFill>
          <a:ln/>
        </p:spPr>
      </p:sp>
      <p:sp>
        <p:nvSpPr>
          <p:cNvPr id="17" name="Text 15"/>
          <p:cNvSpPr txBox="1"/>
          <p:nvPr/>
        </p:nvSpPr>
        <p:spPr>
          <a:xfrm>
            <a:off x="8988552" y="4261104"/>
            <a:ext cx="1783080" cy="548640"/>
          </a:xfrm>
          <a:prstGeom prst="rect">
            <a:avLst/>
          </a:prstGeom>
          <a:noFill/>
          <a:ln/>
        </p:spPr>
        <p:txBody>
          <a:bodyPr wrap="square" lIns="0" tIns="0" rIns="0" bIns="0" rtlCol="0" anchor="ctr"/>
          <a:lstStyle/>
          <a:p>
            <a:pPr indent="0" marL="0">
              <a:buNone/>
            </a:pPr>
            <a:r>
              <a:rPr lang="en-US" sz="3600" b="1" dirty="0">
                <a:solidFill>
                  <a:srgbClr val="F0907F"/>
                </a:solidFill>
                <a:latin typeface="Cambria" pitchFamily="34" charset="0"/>
                <a:ea typeface="Cambria" pitchFamily="34" charset="-122"/>
                <a:cs typeface="Cambria" pitchFamily="34" charset="-120"/>
              </a:rPr>
              <a:t>0</a:t>
            </a:r>
            <a:endParaRPr lang="en-US" sz="3600" dirty="0"/>
          </a:p>
        </p:txBody>
      </p:sp>
      <p:sp>
        <p:nvSpPr>
          <p:cNvPr id="18" name="Text 16"/>
          <p:cNvSpPr txBox="1"/>
          <p:nvPr/>
        </p:nvSpPr>
        <p:spPr>
          <a:xfrm>
            <a:off x="8988552"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At risk</a:t>
            </a:r>
            <a:endParaRPr lang="en-US" sz="1300" dirty="0"/>
          </a:p>
        </p:txBody>
      </p:sp>
      <p:sp>
        <p:nvSpPr>
          <p:cNvPr id="19" name="Shape 17"/>
          <p:cNvSpPr/>
          <p:nvPr/>
        </p:nvSpPr>
        <p:spPr>
          <a:xfrm>
            <a:off x="8714232" y="4370832"/>
            <a:ext cx="9144" cy="694944"/>
          </a:xfrm>
          <a:prstGeom prst="rect">
            <a:avLst/>
          </a:prstGeom>
          <a:solidFill>
            <a:srgbClr val="2C5A78"/>
          </a:solidFill>
          <a:ln/>
        </p:spPr>
      </p:sp>
      <p:sp>
        <p:nvSpPr>
          <p:cNvPr id="20" name="Shape 18"/>
          <p:cNvSpPr/>
          <p:nvPr/>
        </p:nvSpPr>
        <p:spPr>
          <a:xfrm>
            <a:off x="868680" y="5577840"/>
            <a:ext cx="10469880" cy="859536"/>
          </a:xfrm>
          <a:prstGeom prst="roundRect">
            <a:avLst>
              <a:gd name="adj" fmla="val 5319"/>
            </a:avLst>
          </a:prstGeom>
          <a:solidFill>
            <a:srgbClr val="FFFFFF"/>
          </a:solidFill>
          <a:ln/>
        </p:spPr>
      </p:sp>
      <p:pic>
        <p:nvPicPr>
          <p:cNvPr id="21" name="Image 0" descr="preencoded.png">    </p:cNvPr>
          <p:cNvPicPr>
            <a:picLocks noChangeAspect="1"/>
          </p:cNvPicPr>
          <p:nvPr/>
        </p:nvPicPr>
        <p:blipFill>
          <a:blip r:embed="rId1"/>
          <a:stretch>
            <a:fillRect/>
          </a:stretch>
        </p:blipFill>
        <p:spPr>
          <a:xfrm>
            <a:off x="1133856" y="5824728"/>
            <a:ext cx="1572768" cy="374904"/>
          </a:xfrm>
          <a:prstGeom prst="rect">
            <a:avLst/>
          </a:prstGeom>
        </p:spPr>
      </p:pic>
      <p:pic>
        <p:nvPicPr>
          <p:cNvPr id="22" name="Image 1" descr="preencoded.png">    </p:cNvPr>
          <p:cNvPicPr>
            <a:picLocks noChangeAspect="1"/>
          </p:cNvPicPr>
          <p:nvPr/>
        </p:nvPicPr>
        <p:blipFill>
          <a:blip r:embed="rId2"/>
          <a:stretch>
            <a:fillRect/>
          </a:stretch>
        </p:blipFill>
        <p:spPr>
          <a:xfrm>
            <a:off x="3145536" y="5824728"/>
            <a:ext cx="1719072" cy="374904"/>
          </a:xfrm>
          <a:prstGeom prst="rect">
            <a:avLst/>
          </a:prstGeom>
        </p:spPr>
      </p:pic>
      <p:pic>
        <p:nvPicPr>
          <p:cNvPr id="23" name="Image 2" descr="preencoded.png">    </p:cNvPr>
          <p:cNvPicPr>
            <a:picLocks noChangeAspect="1"/>
          </p:cNvPicPr>
          <p:nvPr/>
        </p:nvPicPr>
        <p:blipFill>
          <a:blip r:embed="rId3"/>
          <a:stretch>
            <a:fillRect/>
          </a:stretch>
        </p:blipFill>
        <p:spPr>
          <a:xfrm>
            <a:off x="5294376" y="5879592"/>
            <a:ext cx="1609344" cy="256032"/>
          </a:xfrm>
          <a:prstGeom prst="rect">
            <a:avLst/>
          </a:prstGeom>
        </p:spPr>
      </p:pic>
      <p:pic>
        <p:nvPicPr>
          <p:cNvPr id="24" name="Image 3" descr="preencoded.png">    </p:cNvPr>
          <p:cNvPicPr>
            <a:picLocks noChangeAspect="1"/>
          </p:cNvPicPr>
          <p:nvPr/>
        </p:nvPicPr>
        <p:blipFill>
          <a:blip r:embed="rId4"/>
          <a:stretch>
            <a:fillRect/>
          </a:stretch>
        </p:blipFill>
        <p:spPr>
          <a:xfrm>
            <a:off x="7827264" y="5696712"/>
            <a:ext cx="731520" cy="612648"/>
          </a:xfrm>
          <a:prstGeom prst="rect">
            <a:avLst/>
          </a:prstGeom>
        </p:spPr>
      </p:pic>
      <p:pic>
        <p:nvPicPr>
          <p:cNvPr id="25" name="Image 4" descr="preencoded.png">    </p:cNvPr>
          <p:cNvPicPr>
            <a:picLocks noChangeAspect="1"/>
          </p:cNvPicPr>
          <p:nvPr/>
        </p:nvPicPr>
        <p:blipFill>
          <a:blip r:embed="rId5"/>
          <a:stretch>
            <a:fillRect/>
          </a:stretch>
        </p:blipFill>
        <p:spPr>
          <a:xfrm>
            <a:off x="10003536" y="5696712"/>
            <a:ext cx="576072" cy="621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ALL BRANDS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Progress versus plan</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01</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743200"/>
                <a:gridCol w="3017520"/>
                <a:gridCol w="3995928"/>
                <a:gridCol w="128016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WAS PLANNED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ACTUALLY HAPPENED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Nine-product audit cycle</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All three · weekly cycle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All nine audited, reviewed by all three and executed through the app. Bamboo Monday, the rest Tuesday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Feedback posted on six: B4, B6, S4, S6, Satin Fitted, SS-S4. The remaining three, Cooling Sheets 4-PC, Bamboo Fitted and Cooling Fitted, are being completed today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6E4A0F"/>
                          </a:solidFill>
                          <a:latin typeface="Calibri" pitchFamily="34" charset="0"/>
                          <a:ea typeface="Calibri" pitchFamily="34" charset="-122"/>
                          <a:cs typeface="Calibri" pitchFamily="34" charset="-120"/>
                        </a:rPr>
                        <a:t>6 of 9 · 3 today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Engine corrections &amp; feedback</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Joseph with PPC review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One consolidated note per product to Joseph, engine fixed and the audits re-run on the corrections</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B4 and B6 corrections applied and re-audited 29 Sep, the first clean 218/218 pass. Engine feedback doc and issue register delivered today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176B41"/>
                          </a:solidFill>
                          <a:latin typeface="Calibri" pitchFamily="34" charset="0"/>
                          <a:ea typeface="Calibri" pitchFamily="34" charset="-122"/>
                          <a:cs typeface="Calibri" pitchFamily="34" charset="-120"/>
                        </a:rPr>
                        <a:t>Done</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Bamboo ranking push (B4, B6)</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Shayan T with Joseph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One ranking plan per listing, matched to Joseph's keyword story and plan of attack, before the pushes start</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Plan of attack shared 1 Oct. B4 and B6 plans finalised 2 Oct: B4 follows its start dates and colours by size; B6 replaces the 30 Sep plan. Erik's 2 Oct points built in</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176B41"/>
                          </a:solidFill>
                          <a:latin typeface="Calibri" pitchFamily="34" charset="0"/>
                          <a:ea typeface="Calibri" pitchFamily="34" charset="-122"/>
                          <a:cs typeface="Calibri" pitchFamily="34" charset="-120"/>
                        </a:rPr>
                        <a:t>Plans final</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Process deliverables</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Shayan T · one-off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Campaign-type list Wednesday, ad-type framework Friday, stabilisation proposal by end of week. Re-set on the 30 Sep call: ranking plan first, the rest by end of week</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Ranking plan sent 1 Oct as agreed. Campaign-type list, ad-type plan (Bamboo first), frameworks and stabilisation proposal due end of week, 3–4 Oct. SB, SBV and SD held for creative, so the 1 Oct API launch did not happen</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6E4A0F"/>
                          </a:solidFill>
                          <a:latin typeface="Calibri" pitchFamily="34" charset="0"/>
                          <a:ea typeface="Calibri" pitchFamily="34" charset="-122"/>
                          <a:cs typeface="Calibri" pitchFamily="34" charset="-120"/>
                        </a:rPr>
                        <a:t>Due end of week</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CooLinens Pillowcase launch</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Shayan T · one-off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PPC launch strategy delivered Monday 28 Sep, campaigns live with the listing</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Launch workbook shared 28 Sep, revised with a strategy doc on Erik's feedback 29 Sep. Listing goes live on Amazon today, 2 Oct, and PPC launches with it</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176B41"/>
                          </a:solidFill>
                          <a:latin typeface="Calibri" pitchFamily="34" charset="0"/>
                          <a:ea typeface="Calibri" pitchFamily="34" charset="-122"/>
                          <a:cs typeface="Calibri" pitchFamily="34" charset="-120"/>
                        </a:rPr>
                        <a:t>Launching today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Source: #ppc-internal-channel, #ppc-managers-only, #amazon-ppc (Keyword Story thread), #ppc-leadership and the 30 Sep call with Erik and Joseph, 28 Sep to 2 Oct, read against the PPC Weekly Plan v5 of 28 Sep · pulled 2026-10-02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BAMBOO   ·   B4 AND B6 RANKING PLANS</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Bamboo ranking push: done and next</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02</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sp>
        <p:nvSpPr>
          <p:cNvPr id="6" name="Shape 4"/>
          <p:cNvSpPr/>
          <p:nvPr/>
        </p:nvSpPr>
        <p:spPr>
          <a:xfrm>
            <a:off x="640080" y="1481328"/>
            <a:ext cx="5321808" cy="3017520"/>
          </a:xfrm>
          <a:prstGeom prst="roundRect">
            <a:avLst>
              <a:gd name="adj" fmla="val 1818"/>
            </a:avLst>
          </a:prstGeom>
          <a:solidFill>
            <a:srgbClr val="FFFFFF"/>
          </a:solidFill>
          <a:ln w="9525">
            <a:solidFill>
              <a:srgbClr val="BFCAD3"/>
            </a:solidFill>
            <a:prstDash val="solid"/>
          </a:ln>
        </p:spPr>
      </p:sp>
      <p:sp>
        <p:nvSpPr>
          <p:cNvPr id="7" name="Text 5"/>
          <p:cNvSpPr txBox="1"/>
          <p:nvPr/>
        </p:nvSpPr>
        <p:spPr>
          <a:xfrm>
            <a:off x="868680"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B4  </a:t>
            </a:r>
            <a:pPr indent="0" marL="0">
              <a:buNone/>
            </a:pPr>
            <a:r>
              <a:rPr lang="en-US" sz="1400" dirty="0">
                <a:solidFill>
                  <a:srgbClr val="3D4852"/>
                </a:solidFill>
                <a:latin typeface="Calibri" pitchFamily="34" charset="0"/>
                <a:ea typeface="Calibri" pitchFamily="34" charset="-122"/>
                <a:cs typeface="Calibri" pitchFamily="34" charset="-120"/>
              </a:rPr>
              <a:t>Bamboo Sheets, 4 Piece</a:t>
            </a:r>
            <a:endParaRPr lang="en-US" sz="1400" dirty="0"/>
          </a:p>
        </p:txBody>
      </p:sp>
      <p:sp>
        <p:nvSpPr>
          <p:cNvPr id="8" name="Text 6"/>
          <p:cNvSpPr txBox="1"/>
          <p:nvPr/>
        </p:nvSpPr>
        <p:spPr>
          <a:xfrm>
            <a:off x="868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29</a:t>
            </a:r>
            <a:endParaRPr lang="en-US" sz="2200" dirty="0"/>
          </a:p>
        </p:txBody>
      </p:sp>
      <p:sp>
        <p:nvSpPr>
          <p:cNvPr id="9" name="Text 7"/>
          <p:cNvSpPr txBox="1"/>
          <p:nvPr/>
        </p:nvSpPr>
        <p:spPr>
          <a:xfrm>
            <a:off x="868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10" name="Text 8"/>
          <p:cNvSpPr txBox="1"/>
          <p:nvPr/>
        </p:nvSpPr>
        <p:spPr>
          <a:xfrm>
            <a:off x="2130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$1,200</a:t>
            </a:r>
            <a:endParaRPr lang="en-US" sz="2200" dirty="0"/>
          </a:p>
        </p:txBody>
      </p:sp>
      <p:sp>
        <p:nvSpPr>
          <p:cNvPr id="11" name="Text 9"/>
          <p:cNvSpPr txBox="1"/>
          <p:nvPr/>
        </p:nvSpPr>
        <p:spPr>
          <a:xfrm>
            <a:off x="2130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12" name="Text 10"/>
          <p:cNvSpPr txBox="1"/>
          <p:nvPr/>
        </p:nvSpPr>
        <p:spPr>
          <a:xfrm>
            <a:off x="3392424"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$59.8K</a:t>
            </a:r>
            <a:endParaRPr lang="en-US" sz="2200" dirty="0"/>
          </a:p>
        </p:txBody>
      </p:sp>
      <p:sp>
        <p:nvSpPr>
          <p:cNvPr id="13" name="Text 11"/>
          <p:cNvSpPr txBox="1"/>
          <p:nvPr/>
        </p:nvSpPr>
        <p:spPr>
          <a:xfrm>
            <a:off x="3392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14" name="Text 12"/>
          <p:cNvSpPr txBox="1"/>
          <p:nvPr/>
        </p:nvSpPr>
        <p:spPr>
          <a:xfrm>
            <a:off x="4654296" y="1993392"/>
            <a:ext cx="1225296" cy="457200"/>
          </a:xfrm>
          <a:prstGeom prst="rect">
            <a:avLst/>
          </a:prstGeom>
          <a:noFill/>
          <a:ln/>
        </p:spPr>
        <p:txBody>
          <a:bodyPr wrap="square" lIns="0" tIns="0" rIns="0" bIns="0" rtlCol="0" anchor="ctr"/>
          <a:lstStyle/>
          <a:p>
            <a:pPr indent="0" marL="0">
              <a:buNone/>
            </a:pPr>
            <a:r>
              <a:rPr lang="en-US" sz="2200" b="1" dirty="0">
                <a:solidFill>
                  <a:srgbClr val="9C3D31"/>
                </a:solidFill>
                <a:latin typeface="Cambria" pitchFamily="34" charset="0"/>
                <a:ea typeface="Cambria" pitchFamily="34" charset="-122"/>
                <a:cs typeface="Cambria" pitchFamily="34" charset="-120"/>
              </a:rPr>
              <a:t>−$1,975</a:t>
            </a:r>
            <a:endParaRPr lang="en-US" sz="2200" dirty="0"/>
          </a:p>
        </p:txBody>
      </p:sp>
      <p:sp>
        <p:nvSpPr>
          <p:cNvPr id="15" name="Text 13"/>
          <p:cNvSpPr txBox="1"/>
          <p:nvPr/>
        </p:nvSpPr>
        <p:spPr>
          <a:xfrm>
            <a:off x="4654296"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16" name="Text 14"/>
          <p:cNvSpPr txBox="1"/>
          <p:nvPr/>
        </p:nvSpPr>
        <p:spPr>
          <a:xfrm>
            <a:off x="868680"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Starts by size as in the plan of attack: Queen and general 2 Oct, Full about 9 Oct, King about 13 Oct; head terms from the 16 Oct deal (Queen head 27 Oct)</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16–25% of sales; about $440 a day of organic profit at goal repays the ad loss in about 4 days</a:t>
            </a:r>
            <a:endParaRPr lang="en-US" sz="1250" dirty="0"/>
          </a:p>
        </p:txBody>
      </p:sp>
      <p:sp>
        <p:nvSpPr>
          <p:cNvPr id="17" name="Shape 15"/>
          <p:cNvSpPr/>
          <p:nvPr/>
        </p:nvSpPr>
        <p:spPr>
          <a:xfrm>
            <a:off x="6236208" y="1481328"/>
            <a:ext cx="5321808" cy="3017520"/>
          </a:xfrm>
          <a:prstGeom prst="roundRect">
            <a:avLst>
              <a:gd name="adj" fmla="val 1818"/>
            </a:avLst>
          </a:prstGeom>
          <a:solidFill>
            <a:srgbClr val="FFFFFF"/>
          </a:solidFill>
          <a:ln w="9525">
            <a:solidFill>
              <a:srgbClr val="BFCAD3"/>
            </a:solidFill>
            <a:prstDash val="solid"/>
          </a:ln>
        </p:spPr>
      </p:sp>
      <p:sp>
        <p:nvSpPr>
          <p:cNvPr id="18" name="Text 16"/>
          <p:cNvSpPr txBox="1"/>
          <p:nvPr/>
        </p:nvSpPr>
        <p:spPr>
          <a:xfrm>
            <a:off x="6464808"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B6  </a:t>
            </a:r>
            <a:pPr indent="0" marL="0">
              <a:buNone/>
            </a:pPr>
            <a:r>
              <a:rPr lang="en-US" sz="1400" dirty="0">
                <a:solidFill>
                  <a:srgbClr val="3D4852"/>
                </a:solidFill>
                <a:latin typeface="Calibri" pitchFamily="34" charset="0"/>
                <a:ea typeface="Calibri" pitchFamily="34" charset="-122"/>
                <a:cs typeface="Calibri" pitchFamily="34" charset="-120"/>
              </a:rPr>
              <a:t>Bamboo Sheets, 6 Piece</a:t>
            </a:r>
            <a:endParaRPr lang="en-US" sz="1400" dirty="0"/>
          </a:p>
        </p:txBody>
      </p:sp>
      <p:sp>
        <p:nvSpPr>
          <p:cNvPr id="19" name="Text 17"/>
          <p:cNvSpPr txBox="1"/>
          <p:nvPr/>
        </p:nvSpPr>
        <p:spPr>
          <a:xfrm>
            <a:off x="6464808"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23</a:t>
            </a:r>
            <a:endParaRPr lang="en-US" sz="2200" dirty="0"/>
          </a:p>
        </p:txBody>
      </p:sp>
      <p:sp>
        <p:nvSpPr>
          <p:cNvPr id="20" name="Text 18"/>
          <p:cNvSpPr txBox="1"/>
          <p:nvPr/>
        </p:nvSpPr>
        <p:spPr>
          <a:xfrm>
            <a:off x="6464808"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21" name="Text 19"/>
          <p:cNvSpPr txBox="1"/>
          <p:nvPr/>
        </p:nvSpPr>
        <p:spPr>
          <a:xfrm>
            <a:off x="7726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$830</a:t>
            </a:r>
            <a:endParaRPr lang="en-US" sz="2200" dirty="0"/>
          </a:p>
        </p:txBody>
      </p:sp>
      <p:sp>
        <p:nvSpPr>
          <p:cNvPr id="22" name="Text 20"/>
          <p:cNvSpPr txBox="1"/>
          <p:nvPr/>
        </p:nvSpPr>
        <p:spPr>
          <a:xfrm>
            <a:off x="7726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23" name="Text 21"/>
          <p:cNvSpPr txBox="1"/>
          <p:nvPr/>
        </p:nvSpPr>
        <p:spPr>
          <a:xfrm>
            <a:off x="8988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$50.3K</a:t>
            </a:r>
            <a:endParaRPr lang="en-US" sz="2200" dirty="0"/>
          </a:p>
        </p:txBody>
      </p:sp>
      <p:sp>
        <p:nvSpPr>
          <p:cNvPr id="24" name="Text 22"/>
          <p:cNvSpPr txBox="1"/>
          <p:nvPr/>
        </p:nvSpPr>
        <p:spPr>
          <a:xfrm>
            <a:off x="8988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25" name="Text 23"/>
          <p:cNvSpPr txBox="1"/>
          <p:nvPr/>
        </p:nvSpPr>
        <p:spPr>
          <a:xfrm>
            <a:off x="10250424" y="1993392"/>
            <a:ext cx="1225296" cy="457200"/>
          </a:xfrm>
          <a:prstGeom prst="rect">
            <a:avLst/>
          </a:prstGeom>
          <a:noFill/>
          <a:ln/>
        </p:spPr>
        <p:txBody>
          <a:bodyPr wrap="square" lIns="0" tIns="0" rIns="0" bIns="0" rtlCol="0" anchor="ctr"/>
          <a:lstStyle/>
          <a:p>
            <a:pPr indent="0" marL="0">
              <a:buNone/>
            </a:pPr>
            <a:r>
              <a:rPr lang="en-US" sz="2200" b="1" dirty="0">
                <a:solidFill>
                  <a:srgbClr val="176B41"/>
                </a:solidFill>
                <a:latin typeface="Cambria" pitchFamily="34" charset="0"/>
                <a:ea typeface="Cambria" pitchFamily="34" charset="-122"/>
                <a:cs typeface="Cambria" pitchFamily="34" charset="-120"/>
              </a:rPr>
              <a:t>+$3,011</a:t>
            </a:r>
            <a:endParaRPr lang="en-US" sz="2200" dirty="0"/>
          </a:p>
        </p:txBody>
      </p:sp>
      <p:sp>
        <p:nvSpPr>
          <p:cNvPr id="26" name="Text 24"/>
          <p:cNvSpPr txBox="1"/>
          <p:nvPr/>
        </p:nvSpPr>
        <p:spPr>
          <a:xfrm>
            <a:off x="10250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27" name="Text 25"/>
          <p:cNvSpPr txBox="1"/>
          <p:nvPr/>
        </p:nvSpPr>
        <p:spPr>
          <a:xfrm>
            <a:off x="6464808"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Batch 1 (King and Queen compounds) 1 Oct; Batch 2 18 Oct if Batch 1 holds; Queen head when Queen White is receiving (30 Oct cautious, 9 Oct if early)</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12–17% of sales, under B6's 25% ceiling; replaces the 30 Sep B6 plan</a:t>
            </a:r>
            <a:endParaRPr lang="en-US" sz="1250" dirty="0"/>
          </a:p>
        </p:txBody>
      </p:sp>
      <p:sp>
        <p:nvSpPr>
          <p:cNvPr id="28" name="Text 26"/>
          <p:cNvSpPr txBox="1"/>
          <p:nvPr/>
        </p:nvSpPr>
        <p:spPr>
          <a:xfrm>
            <a:off x="640080" y="4681728"/>
            <a:ext cx="3657600" cy="256032"/>
          </a:xfrm>
          <a:prstGeom prst="rect">
            <a:avLst/>
          </a:prstGeom>
          <a:noFill/>
          <a:ln/>
        </p:spPr>
        <p:txBody>
          <a:bodyPr wrap="square" lIns="0" tIns="0" rIns="0" bIns="0" rtlCol="0" anchor="ctr"/>
          <a:lstStyle/>
          <a:p>
            <a:pPr indent="0" marL="0">
              <a:buNone/>
            </a:pPr>
            <a:r>
              <a:rPr lang="en-US" sz="950" b="1" spc="200" kern="0" dirty="0">
                <a:solidFill>
                  <a:srgbClr val="3D4852"/>
                </a:solidFill>
                <a:latin typeface="Calibri" pitchFamily="34" charset="0"/>
                <a:ea typeface="Calibri" pitchFamily="34" charset="-122"/>
                <a:cs typeface="Calibri" pitchFamily="34" charset="-120"/>
              </a:rPr>
              <a:t>KEY DATES</a:t>
            </a:r>
            <a:endParaRPr lang="en-US" sz="950" dirty="0"/>
          </a:p>
        </p:txBody>
      </p:sp>
      <p:sp>
        <p:nvSpPr>
          <p:cNvPr id="29" name="Shape 27"/>
          <p:cNvSpPr/>
          <p:nvPr/>
        </p:nvSpPr>
        <p:spPr>
          <a:xfrm>
            <a:off x="640080" y="5029200"/>
            <a:ext cx="146304" cy="146304"/>
          </a:xfrm>
          <a:prstGeom prst="ellipse">
            <a:avLst/>
          </a:prstGeom>
          <a:solidFill>
            <a:srgbClr val="176B41"/>
          </a:solidFill>
          <a:ln/>
        </p:spPr>
      </p:sp>
      <p:sp>
        <p:nvSpPr>
          <p:cNvPr id="30" name="Shape 28"/>
          <p:cNvSpPr/>
          <p:nvPr/>
        </p:nvSpPr>
        <p:spPr>
          <a:xfrm>
            <a:off x="822960" y="5102352"/>
            <a:ext cx="2002536" cy="0"/>
          </a:xfrm>
          <a:prstGeom prst="line">
            <a:avLst/>
          </a:prstGeom>
          <a:noFill/>
          <a:ln w="12700">
            <a:solidFill>
              <a:srgbClr val="BFCAD3"/>
            </a:solidFill>
            <a:prstDash val="solid"/>
          </a:ln>
        </p:spPr>
      </p:sp>
      <p:sp>
        <p:nvSpPr>
          <p:cNvPr id="31" name="Text 29"/>
          <p:cNvSpPr txBox="1"/>
          <p:nvPr/>
        </p:nvSpPr>
        <p:spPr>
          <a:xfrm>
            <a:off x="640080"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6–7 Oct</a:t>
            </a:r>
            <a:endParaRPr lang="en-US" sz="1200" dirty="0"/>
          </a:p>
        </p:txBody>
      </p:sp>
      <p:sp>
        <p:nvSpPr>
          <p:cNvPr id="32" name="Text 30"/>
          <p:cNvSpPr txBox="1"/>
          <p:nvPr/>
        </p:nvSpPr>
        <p:spPr>
          <a:xfrm>
            <a:off x="640080"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Prime Big Deal Days: budgets 1.5×, bids hold, not read</a:t>
            </a:r>
            <a:endParaRPr lang="en-US" sz="1000" dirty="0"/>
          </a:p>
        </p:txBody>
      </p:sp>
      <p:sp>
        <p:nvSpPr>
          <p:cNvPr id="33" name="Shape 31"/>
          <p:cNvSpPr/>
          <p:nvPr/>
        </p:nvSpPr>
        <p:spPr>
          <a:xfrm>
            <a:off x="2862072" y="5029200"/>
            <a:ext cx="146304" cy="146304"/>
          </a:xfrm>
          <a:prstGeom prst="ellipse">
            <a:avLst/>
          </a:prstGeom>
          <a:solidFill>
            <a:srgbClr val="176B41"/>
          </a:solidFill>
          <a:ln/>
        </p:spPr>
      </p:sp>
      <p:sp>
        <p:nvSpPr>
          <p:cNvPr id="34" name="Shape 32"/>
          <p:cNvSpPr/>
          <p:nvPr/>
        </p:nvSpPr>
        <p:spPr>
          <a:xfrm>
            <a:off x="3044952" y="5102352"/>
            <a:ext cx="2002536" cy="0"/>
          </a:xfrm>
          <a:prstGeom prst="line">
            <a:avLst/>
          </a:prstGeom>
          <a:noFill/>
          <a:ln w="12700">
            <a:solidFill>
              <a:srgbClr val="BFCAD3"/>
            </a:solidFill>
            <a:prstDash val="solid"/>
          </a:ln>
        </p:spPr>
      </p:sp>
      <p:sp>
        <p:nvSpPr>
          <p:cNvPr id="35" name="Text 33"/>
          <p:cNvSpPr txBox="1"/>
          <p:nvPr/>
        </p:nvSpPr>
        <p:spPr>
          <a:xfrm>
            <a:off x="2862072"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10 · 11 Oct</a:t>
            </a:r>
            <a:endParaRPr lang="en-US" sz="1200" dirty="0"/>
          </a:p>
        </p:txBody>
      </p:sp>
      <p:sp>
        <p:nvSpPr>
          <p:cNvPr id="36" name="Text 34"/>
          <p:cNvSpPr txBox="1"/>
          <p:nvPr/>
        </p:nvSpPr>
        <p:spPr>
          <a:xfrm>
            <a:off x="2862072"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Day-7 reads: B6, then B4</a:t>
            </a:r>
            <a:endParaRPr lang="en-US" sz="1000" dirty="0"/>
          </a:p>
        </p:txBody>
      </p:sp>
      <p:sp>
        <p:nvSpPr>
          <p:cNvPr id="37" name="Shape 35"/>
          <p:cNvSpPr/>
          <p:nvPr/>
        </p:nvSpPr>
        <p:spPr>
          <a:xfrm>
            <a:off x="5084064" y="5029200"/>
            <a:ext cx="146304" cy="146304"/>
          </a:xfrm>
          <a:prstGeom prst="ellipse">
            <a:avLst/>
          </a:prstGeom>
          <a:solidFill>
            <a:srgbClr val="176B41"/>
          </a:solidFill>
          <a:ln/>
        </p:spPr>
      </p:sp>
      <p:sp>
        <p:nvSpPr>
          <p:cNvPr id="38" name="Shape 36"/>
          <p:cNvSpPr/>
          <p:nvPr/>
        </p:nvSpPr>
        <p:spPr>
          <a:xfrm>
            <a:off x="5266944" y="5102352"/>
            <a:ext cx="2002536" cy="0"/>
          </a:xfrm>
          <a:prstGeom prst="line">
            <a:avLst/>
          </a:prstGeom>
          <a:noFill/>
          <a:ln w="12700">
            <a:solidFill>
              <a:srgbClr val="BFCAD3"/>
            </a:solidFill>
            <a:prstDash val="solid"/>
          </a:ln>
        </p:spPr>
      </p:sp>
      <p:sp>
        <p:nvSpPr>
          <p:cNvPr id="39" name="Text 37"/>
          <p:cNvSpPr txBox="1"/>
          <p:nvPr/>
        </p:nvSpPr>
        <p:spPr>
          <a:xfrm>
            <a:off x="5084064"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14 Oct</a:t>
            </a:r>
            <a:endParaRPr lang="en-US" sz="1200" dirty="0"/>
          </a:p>
        </p:txBody>
      </p:sp>
      <p:sp>
        <p:nvSpPr>
          <p:cNvPr id="40" name="Text 38"/>
          <p:cNvSpPr txBox="1"/>
          <p:nvPr/>
        </p:nvSpPr>
        <p:spPr>
          <a:xfrm>
            <a:off x="5084064"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First 60-click trial reads</a:t>
            </a:r>
            <a:endParaRPr lang="en-US" sz="1000" dirty="0"/>
          </a:p>
        </p:txBody>
      </p:sp>
      <p:sp>
        <p:nvSpPr>
          <p:cNvPr id="41" name="Shape 39"/>
          <p:cNvSpPr/>
          <p:nvPr/>
        </p:nvSpPr>
        <p:spPr>
          <a:xfrm>
            <a:off x="7306056" y="5029200"/>
            <a:ext cx="146304" cy="146304"/>
          </a:xfrm>
          <a:prstGeom prst="ellipse">
            <a:avLst/>
          </a:prstGeom>
          <a:solidFill>
            <a:srgbClr val="176B41"/>
          </a:solidFill>
          <a:ln/>
        </p:spPr>
      </p:sp>
      <p:sp>
        <p:nvSpPr>
          <p:cNvPr id="42" name="Shape 40"/>
          <p:cNvSpPr/>
          <p:nvPr/>
        </p:nvSpPr>
        <p:spPr>
          <a:xfrm>
            <a:off x="7488936" y="5102352"/>
            <a:ext cx="2002536" cy="0"/>
          </a:xfrm>
          <a:prstGeom prst="line">
            <a:avLst/>
          </a:prstGeom>
          <a:noFill/>
          <a:ln w="12700">
            <a:solidFill>
              <a:srgbClr val="BFCAD3"/>
            </a:solidFill>
            <a:prstDash val="solid"/>
          </a:ln>
        </p:spPr>
      </p:sp>
      <p:sp>
        <p:nvSpPr>
          <p:cNvPr id="43" name="Text 41"/>
          <p:cNvSpPr txBox="1"/>
          <p:nvPr/>
        </p:nvSpPr>
        <p:spPr>
          <a:xfrm>
            <a:off x="7306056"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18 Oct</a:t>
            </a:r>
            <a:endParaRPr lang="en-US" sz="1200" dirty="0"/>
          </a:p>
        </p:txBody>
      </p:sp>
      <p:sp>
        <p:nvSpPr>
          <p:cNvPr id="44" name="Text 42"/>
          <p:cNvSpPr txBox="1"/>
          <p:nvPr/>
        </p:nvSpPr>
        <p:spPr>
          <a:xfrm>
            <a:off x="7306056"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B6 Batch 2 starts if Batch 1 holds</a:t>
            </a:r>
            <a:endParaRPr lang="en-US" sz="1000" dirty="0"/>
          </a:p>
        </p:txBody>
      </p:sp>
      <p:sp>
        <p:nvSpPr>
          <p:cNvPr id="45" name="Shape 43"/>
          <p:cNvSpPr/>
          <p:nvPr/>
        </p:nvSpPr>
        <p:spPr>
          <a:xfrm>
            <a:off x="9528048" y="5029200"/>
            <a:ext cx="146304" cy="146304"/>
          </a:xfrm>
          <a:prstGeom prst="ellipse">
            <a:avLst/>
          </a:prstGeom>
          <a:solidFill>
            <a:srgbClr val="176B41"/>
          </a:solidFill>
          <a:ln/>
        </p:spPr>
      </p:sp>
      <p:sp>
        <p:nvSpPr>
          <p:cNvPr id="46" name="Text 44"/>
          <p:cNvSpPr txBox="1"/>
          <p:nvPr/>
        </p:nvSpPr>
        <p:spPr>
          <a:xfrm>
            <a:off x="9528048"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19 Nov</a:t>
            </a:r>
            <a:endParaRPr lang="en-US" sz="1200" dirty="0"/>
          </a:p>
        </p:txBody>
      </p:sp>
      <p:sp>
        <p:nvSpPr>
          <p:cNvPr id="47" name="Text 45"/>
          <p:cNvSpPr txBox="1"/>
          <p:nvPr/>
        </p:nvSpPr>
        <p:spPr>
          <a:xfrm>
            <a:off x="9528048"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Black Friday week: budgets 2×</a:t>
            </a:r>
            <a:endParaRPr lang="en-US" sz="1000" dirty="0"/>
          </a:p>
        </p:txBody>
      </p:sp>
      <p:sp>
        <p:nvSpPr>
          <p:cNvPr id="48" name="Text 46"/>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Rank with exact keywords only; reads count clean days, so deal days never flatter a keyword. Plans: Bamboo_Ranking_Plan_B4.docx and _B6.docx, with the Docs and explainer pages.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Blockers and help needed</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03</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651760"/>
                <a:gridCol w="2743200"/>
                <a:gridCol w="1417320"/>
                <a:gridCol w="3081528"/>
                <a:gridCol w="114300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BLOCKER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IT IS COSTING</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WHO MUST ACT</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RECOMMENDATION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DECISION BY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Prime Big Deal Days is four days out with no PPC plan outside Bamboo</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No deal-day budget or bid stance; the S4 deal shows 10 issues. Bamboo plans set theirs: budgets 1.5×, bids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Shayan T,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 the deal-day budget today and clear the S4 deal issues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Amazon set its own budget rules on about 20% of campaigns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Bids rise 50% over the event on campaigns we did not pick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All line owners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Sweep every Dynamic Up-and-Down campaign and strip the rules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push needs sign-offs before its first reads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B4 runs at 22–25% of sales 30 Oct–19 Nov if heads stay on; reads run against goals the system does not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Joseph, Operations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spend above 20%, heads between deals, cooling timing. Joseph: goals in Target Setting. Ops: Queen and Full White dates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ownership is unresolved between Rana and Taquie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The member plan names Rana; Joseph asked for Taquie on 28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Settle it Monday and reissue the member plan against it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Engine sign-offs and Q1 to Q8 are still open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Section 7 rules and the new thresholds cannot be applied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Joseph, Erik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Walk the register in one sitting and sign off each item</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Shape 4"/>
          <p:cNvSpPr/>
          <p:nvPr/>
        </p:nvSpPr>
        <p:spPr>
          <a:xfrm>
            <a:off x="640080" y="4681728"/>
            <a:ext cx="11036808" cy="1078992"/>
          </a:xfrm>
          <a:prstGeom prst="roundRect">
            <a:avLst>
              <a:gd name="adj" fmla="val 5085"/>
            </a:avLst>
          </a:prstGeom>
          <a:solidFill>
            <a:srgbClr val="FBF3E4"/>
          </a:solidFill>
          <a:ln w="9525">
            <a:solidFill>
              <a:srgbClr val="D2B885"/>
            </a:solidFill>
            <a:prstDash val="solid"/>
          </a:ln>
        </p:spPr>
      </p:sp>
      <p:sp>
        <p:nvSpPr>
          <p:cNvPr id="8" name="Text 5"/>
          <p:cNvSpPr txBox="1"/>
          <p:nvPr/>
        </p:nvSpPr>
        <p:spPr>
          <a:xfrm>
            <a:off x="868680" y="4754880"/>
            <a:ext cx="7315200" cy="237744"/>
          </a:xfrm>
          <a:prstGeom prst="rect">
            <a:avLst/>
          </a:prstGeom>
          <a:noFill/>
          <a:ln/>
        </p:spPr>
        <p:txBody>
          <a:bodyPr wrap="square" lIns="0" tIns="0" rIns="0" bIns="0" rtlCol="0" anchor="ctr"/>
          <a:lstStyle/>
          <a:p>
            <a:pPr indent="0" marL="0">
              <a:buNone/>
            </a:pPr>
            <a:r>
              <a:rPr lang="en-US" sz="1050" b="1" spc="200" kern="0" dirty="0">
                <a:solidFill>
                  <a:srgbClr val="6E4A0F"/>
                </a:solidFill>
                <a:latin typeface="Calibri" pitchFamily="34" charset="0"/>
                <a:ea typeface="Calibri" pitchFamily="34" charset="-122"/>
                <a:cs typeface="Calibri" pitchFamily="34" charset="-120"/>
              </a:rPr>
              <a:t>THE 15 OPEN ITEMS CARRIED INTO NEXT WEEK</a:t>
            </a:r>
            <a:endParaRPr lang="en-US" sz="1050" dirty="0"/>
          </a:p>
        </p:txBody>
      </p:sp>
      <p:sp>
        <p:nvSpPr>
          <p:cNvPr id="9" name="Text 6"/>
          <p:cNvSpPr txBox="1"/>
          <p:nvPr/>
        </p:nvSpPr>
        <p:spPr>
          <a:xfrm>
            <a:off x="86868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Campaign-type list + screenshot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Ad-type framework document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Stabilisation proposal</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Creative for 14 held campaigns</a:t>
            </a:r>
            <a:endParaRPr lang="en-US" sz="900" dirty="0"/>
          </a:p>
        </p:txBody>
      </p:sp>
      <p:sp>
        <p:nvSpPr>
          <p:cNvPr id="10" name="Text 7"/>
          <p:cNvSpPr txBox="1"/>
          <p:nvPr/>
        </p:nvSpPr>
        <p:spPr>
          <a:xfrm>
            <a:off x="356616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Conquest PAT test staging</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20 negative-keyword changes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BAMBOO-KING-WHITE dark campaign</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Q1 to Q8 engine decisions</a:t>
            </a:r>
            <a:endParaRPr lang="en-US" sz="900" dirty="0"/>
          </a:p>
        </p:txBody>
      </p:sp>
      <p:sp>
        <p:nvSpPr>
          <p:cNvPr id="11" name="Text 8"/>
          <p:cNvSpPr txBox="1"/>
          <p:nvPr/>
        </p:nvSpPr>
        <p:spPr>
          <a:xfrm>
            <a:off x="626364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Section 7 rules sign-off</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Prime Day deal-day budget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S4 deal issues (10)</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Amazon budget-rule sweep</a:t>
            </a:r>
            <a:endParaRPr lang="en-US" sz="900" dirty="0"/>
          </a:p>
        </p:txBody>
      </p:sp>
      <p:sp>
        <p:nvSpPr>
          <p:cNvPr id="12" name="Text 9"/>
          <p:cNvSpPr txBox="1"/>
          <p:nvPr/>
        </p:nvSpPr>
        <p:spPr>
          <a:xfrm>
            <a:off x="896112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Canada Bamboo audits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push sign-offs (Erik)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rank goals in Target Setting</a:t>
            </a:r>
            <a:endParaRPr lang="en-US" sz="900" dirty="0"/>
          </a:p>
        </p:txBody>
      </p:sp>
      <p:sp>
        <p:nvSpPr>
          <p:cNvPr id="13" name="Text 10"/>
          <p:cNvSpPr txBox="1"/>
          <p:nvPr/>
        </p:nvSpPr>
        <p:spPr>
          <a:xfrm>
            <a:off x="640080" y="585216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First cross-functional blocker this week: the held SB, SBV and SD campaigns need creative from Design before they can go live. Shipment Tracker rows USA237, 238, 241 and 251 sit with IP — Forecasting.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OCTOBER 5 TO 9</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Next week</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04</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Oct 5–9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600200"/>
                <a:gridCol w="777240"/>
                <a:gridCol w="129844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WE WILL DO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BY 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PRIORITY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CARRYOVER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Prime Big Deal Days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the Oct 6–7 event: deal-day budgets live, Amazon's own budget rules stripped, S4 deal issues cleared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Bamboo ranking push</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Joseph</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Get the sign-offs, write the rank goals to Target Setting and go live; day-7 reads 10 Oct (B6) and 11 Oct (B4), first 60-click trial reads 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 · reads 10–14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CooLinens Pillowcase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First live week: daily spend, search-term and conversion checks, PAT additions from Shayan R, launch read at the Friday close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Daily · read Fri, Oct 9</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Audit cycle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three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the next cycle on all nine, Bamboo Monday and the rest Tuesday. This cycle closes today with the last three feedbacks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 cycle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Engine register</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Zarlish</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Move the register to changed-findings-only and get Section 7, Q1 and Q3 signed off</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Other campaign types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Send the campaign-type list, the ad-type plan for Bamboo and the frameworks for the other products (agreed on the 30 Sep call), brief creative for the held SB, SBV and SD campaigns, then launch them through the API</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 · launch TBC Mon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Sep 30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Stabilisation proposal</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Deliver catalog prioritisation, team structure, the finalised cadence and the development list, with priorities and due dates as Erik asked on 30 Sep</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Onboarding</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Ivan's first full week with EOD outputs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P1</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Sep 29</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P0 fails the cycle if it slips.   ·   Dates marked TBC are set at Monday's alignment, not assumed here.   ·   Bamboo plan start dates of 1–2 Oct move to the sign-off date; reads move with them.</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Cadence</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05</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371600"/>
                <a:gridCol w="1097280"/>
                <a:gridCol w="120700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RHYTHM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RUNS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LOGGED IN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Every owner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check on the top 20% of each owner's campaigns, manual changes logged with expected results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Line owners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rank and stock check on every pushed keyword; reads on clean days only, deal days not read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Short check-in across the three members on what changed and what is blocked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Huddle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Audits through the app, full review by all three, Bamboo feedback shared and executed the same 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Managers channel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Tuesday–Wednesday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Consolidated feedback on the remaining products, executed by Joseph on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Tue–Wed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 + register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Tuning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Tuning run on Monday's changes, reviewed by all three, executed by Joseph. Bamboo margin reset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Close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Read of where each product stands, manual adjustments, this deck, oversight feedback to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This deck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Run in full for the first time this week.</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Owner directions</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06</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463040"/>
                <a:gridCol w="1097280"/>
                <a:gridCol w="111556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DIRECTION FOR THIS CYCLE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CADENCE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REPORTS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ESCALATES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Taquie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Dept lead · Cooling · 2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Own the cycle and Joseph coordination, the campaign-type list, the ad-type framework, the proposal, Prime Day and the B4/B6 ranking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Mon + 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 &amp;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Rana</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 3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Bamboo daily work and the Canada deals, app-side feedback Friday. Bamboo ownership is under review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Satin · 4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Satin daily work, the consolidated engine register and the Friday read. Register goes changed-only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Audit engine · outside PPC</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Run the nine audits, execute agreed changes through the app, sign off Section 7, Q1 and Q3, and write the Bamboo rank goals to Target Setting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Ivan</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Onboarding · from 2 Oct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Foundation on catalog, products and process. EOD output daily: done, next, blockers, questions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EOD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Whole department</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Standard for every audit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 review every audit in full. Nothing executes that a reviewer has not signed off</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Line counts are the daily-manual-work owners in the PPC Weekly Plan v5 of 28 Sep.   ·   Bamboo ownership is open with Joseph and Erik.</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Ecotero Brands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 Weekly Review, Sep 28 to Oct 2</dc:title>
  <dc:subject>PptxGenJS Presentation</dc:subject>
  <dc:creator>Zarlish</dc:creator>
  <cp:lastModifiedBy>Zarlish</cp:lastModifiedBy>
  <cp:revision>1</cp:revision>
  <dcterms:created xsi:type="dcterms:W3CDTF">2026-10-02T13:35:40Z</dcterms:created>
  <dcterms:modified xsi:type="dcterms:W3CDTF">2026-10-02T13:35:40Z</dcterms:modified>
</cp:coreProperties>
</file>